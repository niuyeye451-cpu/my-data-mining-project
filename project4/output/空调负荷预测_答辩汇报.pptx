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24F"/>
    <a:srgbClr val="9B754F"/>
    <a:srgbClr val="FCDC95"/>
    <a:srgbClr val="BC9B7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124" y="1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160DAEDB-F8EB-4B37-B651-17F046B807DC}" type="datetimeFigureOut">
              <a:rPr lang="zh-CN" altLang="en-US" smtClean="0"/>
              <a:pPr/>
              <a:t>2021/3/25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86751F25-9338-4986-A1F2-54D37A03FFF1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11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290682" y="294519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511671" y="-888078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9095790" y="5427303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10898143" y="4244706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044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764002" y="-20138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-1788384" y="-15553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7834860" y="6399026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8084593" y="639686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167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A17E80-96A6-4509-A64B-F86AA87E1762}" type="datetimeFigureOut">
              <a:rPr lang="zh-CN" altLang="en-US" smtClean="0"/>
              <a:t>2021/3/25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C9BE40-34EB-4680-AB44-538561DC2F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95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69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05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43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2123604" y="685800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18984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01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2021/3/25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044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2021/3/25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058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3647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4037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1" r:id="rId5"/>
    <p:sldLayoutId id="2147483652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 advClick="0" advTm="3000">
        <p14:pan dir="u"/>
      </p:transition>
    </mc:Choice>
    <mc:Fallback xmlns="">
      <p:transition spd="slow"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44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34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200"/>
              </a:spcAft>
            </a:pPr>
            <a:r>
              <a:rPr sz="4200" b="1">
                <a:solidFill>
                  <a:srgbClr val="1A3C6E"/>
                </a:solidFill>
                <a:latin typeface="微软雅黑"/>
                <a:ea typeface="微软雅黑"/>
              </a:rPr>
              <a:t>空调用电负荷预测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324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200"/>
              </a:spcAft>
            </a:pPr>
            <a:r>
              <a:rPr sz="2200" b="0">
                <a:solidFill>
                  <a:srgbClr val="666666"/>
                </a:solidFill>
                <a:latin typeface="微软雅黑"/>
                <a:ea typeface="微软雅黑"/>
              </a:rPr>
              <a:t>基于多算法对比的时间序列预测实验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96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2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重庆大学 大数据与软件学院 · 数据挖掘实验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86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汇报人：青课    日期：2026年6月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0000" y="1007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8000" y="1025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实验背景与目标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000" y="1277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基于UCI家庭用电数据集的多算法对比实验</a:t>
            </a:r>
          </a:p>
        </p:txBody>
      </p:sp>
      <p:sp>
        <p:nvSpPr>
          <p:cNvPr id="10" name="Oval 9"/>
          <p:cNvSpPr/>
          <p:nvPr/>
        </p:nvSpPr>
        <p:spPr>
          <a:xfrm>
            <a:off x="720000" y="1799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1817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数据预处理与特征工程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2069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缺失值处理、归一化、时间特征、滞后与滚动统计</a:t>
            </a:r>
          </a:p>
        </p:txBody>
      </p:sp>
      <p:sp>
        <p:nvSpPr>
          <p:cNvPr id="13" name="Oval 12"/>
          <p:cNvSpPr/>
          <p:nvPr/>
        </p:nvSpPr>
        <p:spPr>
          <a:xfrm>
            <a:off x="720000" y="2591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8000" y="2609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模型构建与训练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2861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RF / XGBoost / LSTM / MLP-RF 四类算法实现</a:t>
            </a:r>
          </a:p>
        </p:txBody>
      </p:sp>
      <p:sp>
        <p:nvSpPr>
          <p:cNvPr id="16" name="Oval 15"/>
          <p:cNvSpPr/>
          <p:nvPr/>
        </p:nvSpPr>
        <p:spPr>
          <a:xfrm>
            <a:off x="720000" y="3383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8000" y="3401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关键发现：数据泄漏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8000" y="3653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从R²=0.999到发现物理公式泄漏的排查过程</a:t>
            </a:r>
          </a:p>
        </p:txBody>
      </p:sp>
      <p:sp>
        <p:nvSpPr>
          <p:cNvPr id="19" name="Oval 18"/>
          <p:cNvSpPr/>
          <p:nvPr/>
        </p:nvSpPr>
        <p:spPr>
          <a:xfrm>
            <a:off x="720000" y="4175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8000" y="4193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实验结果与对比分析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8000" y="4445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五模型性能指标、可视化诊断、特征重要性</a:t>
            </a:r>
          </a:p>
        </p:txBody>
      </p:sp>
      <p:sp>
        <p:nvSpPr>
          <p:cNvPr id="22" name="Oval 21"/>
          <p:cNvSpPr/>
          <p:nvPr/>
        </p:nvSpPr>
        <p:spPr>
          <a:xfrm>
            <a:off x="720000" y="4967999"/>
            <a:ext cx="432000" cy="432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000" y="4985999"/>
            <a:ext cx="64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200"/>
              </a:spcAft>
            </a:pPr>
            <a:r>
              <a:rPr sz="2200" b="1">
                <a:solidFill>
                  <a:srgbClr val="1A3C6E"/>
                </a:solidFill>
                <a:latin typeface="微软雅黑"/>
                <a:ea typeface="微软雅黑"/>
              </a:rPr>
              <a:t>实验总结与展望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8000" y="5237999"/>
            <a:ext cx="64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结论、启示、改进方向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  实验背景与目标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Background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微软雅黑"/>
                <a:ea typeface="微软雅黑"/>
              </a:rPr>
              <a:t>▎实验背景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260000"/>
            <a:ext cx="37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电力负荷预测是智能电网和能源管理中的核心问题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准确的短期负荷预测可优化发电调度、降低运营成本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空调负荷在家庭用电中占比最高，季节性波动显著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传统单一模型难以捕捉负荷的多尺度时序特征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本实验使用UCI家庭用电数据集（47个月，200万+条记录）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0" y="90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微软雅黑"/>
                <a:ea typeface="微软雅黑"/>
              </a:rPr>
              <a:t>▎实验目标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1260000"/>
            <a:ext cx="396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① 实现完整的数据预处理与特征工程流水线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② 构建并调优 4种不同范式的预测模型：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· 随机森林（Bagging集成）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· XGBoost（Boosting集成）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· LSTM（深度学习/循环神经网络）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· MLP-RF（神经网络+树模型融合）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③ 使用5项指标（MSE/MAE/RMSE/MAPE/R²）全面评估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④ 通过可视化和模型诊断进行深度对比分析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⑤ 探究数据泄漏、特征重要性、融合策略等关键问题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4320000"/>
            <a:ext cx="8100000" cy="126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📊 数据集概况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UCI Individual Household Electric Power Consumption：法国巴黎某家庭2006.12-2010.11的分钟级能耗数据，含Global_active_power（目标）、Voltage、Sub_metering_1/2/3等7维变量。逐小时重采样后34,168条记录，按70%/15%/15%时序分割为训练/验证/测试集。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  数据预处理与特征工程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Data Preprocessing &amp;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原始数据加载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127MB .txt →
pandas DataFrame
float32内存优化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28000" y="1620000"/>
            <a:ext cx="288000" cy="216000"/>
          </a:xfrm>
          <a:prstGeom prst="rightArrow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2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缺失值处理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删除1.25%
含NaN行
(~25K/2M条)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68000" y="1620000"/>
            <a:ext cx="288000" cy="216000"/>
          </a:xfrm>
          <a:prstGeom prst="rightArrow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6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逐小时重采样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2,075,259行 →
34,168行
取每小时均值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08000" y="1620000"/>
            <a:ext cx="288000" cy="216000"/>
          </a:xfrm>
          <a:prstGeom prst="rightArrow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归一化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Min-Max Scaling
所有特征→[0,1]
消除量纲差异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48000" y="1620000"/>
            <a:ext cx="288000" cy="216000"/>
          </a:xfrm>
          <a:prstGeom prst="rightArrow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4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特征构建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时间循环编码 +
滞后特征 +
滚动窗口统计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88000" y="1620000"/>
            <a:ext cx="288000" cy="216000"/>
          </a:xfrm>
          <a:prstGeom prst="rightArrow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88000" y="1007999"/>
            <a:ext cx="1368000" cy="1620000"/>
          </a:xfrm>
          <a:prstGeom prst="roundRect">
            <a:avLst/>
          </a:prstGeom>
          <a:solidFill>
            <a:srgbClr val="EEF2F9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数据分割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时序分割70/15/15
防止未来信息
泄漏到训练集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2951999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微软雅黑"/>
                <a:ea typeface="微软雅黑"/>
              </a:rPr>
              <a:t>【时间循环编码】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hour_sin/cos：sin(2π·hour/24), cos(2π·hour/24)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→ 保留24小时周期的循环性质（23时与0时相邻）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month_sin/cos：sin(2π·month/12), cos(2π·month/12)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→ 保留12个月的年周期循环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dayofweek, is_weekend：工作日/周末二元标识</a:t>
            </a:r>
          </a:p>
          <a:p>
            <a:pPr algn="l">
              <a:lnSpc>
                <a:spcPts val="1690"/>
              </a:lnSpc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微软雅黑"/>
                <a:ea typeface="微软雅黑"/>
              </a:rPr>
              <a:t>【滞后特征 (6个)】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lag1h, lag2h, lag3h, lag6h, lag12h, lag24h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编码时序自相关：前一时刻负荷是最直接的预测信号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2951999"/>
            <a:ext cx="41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微软雅黑"/>
                <a:ea typeface="微软雅黑"/>
              </a:rPr>
              <a:t>【滚动窗口统计 (12个)】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窗口大小：6小时 / 12小时 / 24小时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每个窗口计算：mean, std, min, max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例：roll_mean_24h = 过去24小时负荷均值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捕捉局部趋势、波动性和极值特征</a:t>
            </a:r>
          </a:p>
          <a:p>
            <a:pPr algn="l">
              <a:lnSpc>
                <a:spcPts val="1690"/>
              </a:lnSpc>
              <a:spcAft>
                <a:spcPts val="300"/>
              </a:spcAft>
            </a:pPr>
            <a:r>
              <a:rPr sz="1300" b="1">
                <a:solidFill>
                  <a:srgbClr val="1A3C6E"/>
                </a:solidFill>
                <a:latin typeface="微软雅黑"/>
                <a:ea typeface="微软雅黑"/>
              </a:rPr>
              <a:t>【特征汇总】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原始特征：5维（排除泄漏特征后）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时间特征：8维（hour/dayofweek/month/is_weekend + 4循环编码）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滞后特征：6维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滚动统计：12维</a:t>
            </a:r>
          </a:p>
          <a:p>
            <a:pPr algn="l">
              <a:lnSpc>
                <a:spcPts val="1430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总计：30维特征向量（去除NaN后34,144行）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  探索性数据分析（EDA）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Exploratory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5 / 20</a:t>
            </a:r>
          </a:p>
        </p:txBody>
      </p:sp>
      <p:pic>
        <p:nvPicPr>
          <p:cNvPr id="8" name="Picture 7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792000"/>
            <a:ext cx="3780000" cy="30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8000" y="3888000"/>
            <a:ext cx="37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图1: 变量相关性热力图</a:t>
            </a:r>
          </a:p>
        </p:txBody>
      </p:sp>
      <p:pic>
        <p:nvPicPr>
          <p:cNvPr id="10" name="Picture 9" descr="eda_seasonal_de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00" y="792000"/>
            <a:ext cx="4680000" cy="306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48000" y="38880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图2: 季节性分解（Trend + Seasonal + Residual）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4140000"/>
            <a:ext cx="82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300"/>
              </a:spcAft>
            </a:pPr>
            <a:r>
              <a:rPr sz="1200" b="1">
                <a:solidFill>
                  <a:srgbClr val="C41A23"/>
                </a:solidFill>
                <a:latin typeface="微软雅黑"/>
                <a:ea typeface="微软雅黑"/>
              </a:rPr>
              <a:t>关键发现：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• Global_active_power 与 Global_intensity 相关系数≈1.0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   → 物理公式 P=V×I 决定了此关系 → 必须排除（数据泄漏）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• Sub_metering_3（空调/热水器）与目标相关性最高（~0.7）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   → 空调是家庭负荷的主要驱动力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• 季节性分解显示：周末用电高于工作日；存在年周期趋势</a:t>
            </a:r>
          </a:p>
          <a:p>
            <a:pPr algn="l">
              <a:lnSpc>
                <a:spcPts val="1250"/>
              </a:lnSpc>
              <a:spcAft>
                <a:spcPts val="3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• 功率热力图显示：白天10:00-18:00用电显著高于夜间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 模型构建总览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Model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1007999"/>
            <a:ext cx="2088000" cy="36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007999"/>
            <a:ext cx="2088000" cy="79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08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随机森林
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980000"/>
            <a:ext cx="1872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Bagging集成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200棵树, max_depth=25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min_samples_split=5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抗噪、不易过拟合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0" y="1007999"/>
            <a:ext cx="2088000" cy="36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20000" y="1007999"/>
            <a:ext cx="2088000" cy="792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2000" y="108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000" y="1980000"/>
            <a:ext cx="1872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Boosting集成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400棵树, max_depth=6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lr=0.05, 正则化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高效、自动处理缺失值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2000" y="1007999"/>
            <a:ext cx="2088000" cy="36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2000" y="1007999"/>
            <a:ext cx="2088000" cy="792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4000" y="108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LSTM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0" y="1980000"/>
            <a:ext cx="1872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3层循环神经网络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hidden_dim=128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dropout=0.3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序列建模、记忆效应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4000" y="1007999"/>
            <a:ext cx="2088000" cy="36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84000" y="1007999"/>
            <a:ext cx="2088000" cy="792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6000" y="1080000"/>
            <a:ext cx="19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MLP-RF融合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2000" y="1980000"/>
            <a:ext cx="1872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MLP(3层256→128→64)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+ RF简单平均融合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BatchNorm+Dropout</a:t>
            </a:r>
          </a:p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错误模式互补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486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训练环境：PyTorch 2.12 + CUDA 13.0 + NVIDIA RTX 4060 Laptop (8GB)  |  超参搜索：RandomizedSearchCV / 3折交叉验证  |  早停策略：patience=15  |  评估指标：MSE / MAE / RMSE / MAPE / R²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 模型详解：随机森林 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Model Details: RF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▎算法原理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基于Bagging（Bootstrap Aggregating）的集成方法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并行构建多个决策树，最终取所有树的预测均值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两个随机性来源：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① 样本随机：每棵树从训练集中有放回抽样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② 特征随机：每次分裂只考虑部分特征子集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通过增加树的多样性来降低方差，天然抗过拟合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▎本次实验做了什么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使用 scikit-learn RandomForestRegressor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RandomizedSearchCV 超参搜索：15轮 × 3折CV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搜索空间：n_estimators [100,200,300],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max_depth [10,15,20,25,None],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min_samples_split [2,5,10],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min_samples_leaf [1,2,4],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max_features [0.5, 0.7, 1.0]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900000"/>
            <a:ext cx="34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▎最优参数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n_estimators = 200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max_depth = 25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min_samples_split = 5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min_samples_leaf = 4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max_features = 0.5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▎核心优势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无需特征归一化（树模型天然不受量纲影响）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可输出特征重要性，帮助理解数据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对异常值不敏感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训练可高度并行化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训练用时：1201s（单线程）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数据量：29,022条 × 30维特征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 模型详解：XGBoost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Model Details: XGBoost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8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▎算法原理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基于Gradient Boosting框架，树串行构建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每棵新树拟合前一棵树的残差（梯度方向）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目标函数 = 损失函数 + 正则化项（Ω）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正则化：控制叶子节点数量与权重，防止过拟合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tree_method='hist'：基于直方图的近似分裂算法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→ 大幅加速训练，适合大规模数据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内置缺失值自动学习：无需手动填充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反向剪枝（后剪枝）：先建树再剪枝，避免局部最优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▎本次实验做了什么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使用 xgboost XGBRegressor (tree_method='hist')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RandomizedSearchCV 超参搜索：20轮 × 3折CV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搜索空间：n_estimators [100-600],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max_depth [4-12], lr [0.01-0.1],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subsample/colsample [0.7-1.0],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正则化 reg_alpha/reg_lambda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900000"/>
            <a:ext cx="34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▎最优参数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n_estimators = 400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max_depth = 6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learning_rate = 0.05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subsample = 0.8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colsample_bytree = 0.7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reg_alpha = 0,  reg_lambda = 1.5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▎核心优势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训练速度极快（106s vs RF的1201s）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L1/L2正则化天然防过拟合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内置缺失值处理，工程实用性最强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✓ 实际部署场景的最佳选择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训练用时：106s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工业界时序预测的SOTA基线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 模型详解：LSTM 长短期记忆网络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Model Details: 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▎算法原理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RNN的变体，解决长序列梯度消失/爆炸问题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三个门控机制：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· 遗忘门 f_t = σ(W_f·[h_{t-1}, x_t] + b_f)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决定丢弃哪些旧信息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· 输入门 i_t = σ(W_i·[h_{t-1}, x_t] + b_i)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决定将哪些新信息存入细胞状态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· 输出门 o_t = σ(W_o·[h_{t-1}, x_t] + b_o)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决定输出哪些信息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细胞状态 C_t 作为长期记忆通路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▎本次实验做了什么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PyTorch构建3层LSTM (hidden_dim=128, dropout=0.3)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输入：过去24小时 × 10维多变量序列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输出：下一小时负荷预测值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900000"/>
            <a:ext cx="34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▎训练配置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优化器：Adam (lr=1e-3)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学习率衰减：ReduceLROnPlateau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梯度裁剪：max_norm=1.0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早停：patience=15轮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Batch Size：64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参数量：~200K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▎训练曲线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约第48轮达到最优验证loss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第63轮触发早停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训练loss持续下降但验证loss在~0.007处停滞</a:t>
            </a:r>
          </a:p>
          <a:p>
            <a:pPr algn="l">
              <a:lnSpc>
                <a:spcPts val="182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模型已达到容量上限</a:t>
            </a:r>
          </a:p>
        </p:txBody>
      </p:sp>
      <p:pic>
        <p:nvPicPr>
          <p:cNvPr id="10" name="Picture 9" descr="lstm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3780000"/>
            <a:ext cx="3420000" cy="216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00000" y="5976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LSTM训练与验证损失曲线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  模型详解：MLP-RF 融合模型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Model Details: MLP-RF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▎融合策略对比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59"/>
              </a:lnSpc>
              <a:spcAft>
                <a:spcPts val="300"/>
              </a:spcAft>
            </a:pPr>
            <a:r>
              <a:rPr sz="1400" b="1">
                <a:solidFill>
                  <a:srgbClr val="C41A23"/>
                </a:solidFill>
                <a:latin typeface="微软雅黑"/>
                <a:ea typeface="微软雅黑"/>
              </a:rPr>
              <a:t>策略1：Ridge Stacking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以RF和MLP预测值为特征，Ridge回归作元学习器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结果：Ridge给MLP的权重≈-0.07（几乎为零）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融合退化 ≈ 单独使用RF（R²=0.8905）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失败原因：两个模型预测高度相关(ρ&gt;0.95)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线性元学习器无法从中提取额外信息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59"/>
              </a:lnSpc>
              <a:spcAft>
                <a:spcPts val="300"/>
              </a:spcAft>
            </a:pPr>
            <a:r>
              <a:rPr sz="1400" b="1">
                <a:solidFill>
                  <a:srgbClr val="2C5F2D"/>
                </a:solidFill>
                <a:latin typeface="微软雅黑"/>
                <a:ea typeface="微软雅黑"/>
              </a:rPr>
              <a:t>策略2：简单算术平均 ✓（最终采用）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ensemble_pred = (RF_pred + MLP_pred) / 2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强制各50%权重，偏差模式部分抵消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R² = 0.9007（优于所有单一模型）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启示：基模型预测高度相关时，简单平均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  可能比复杂元学习更有效。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900000"/>
            <a:ext cx="34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▎MLP网络结构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输入层: 30维特征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↓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Linear(30→256) + BatchNorm + ReLU + Dropout(0.3)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↓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Linear(256→128) + BatchNorm + ReLU + Dropout(0.3)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↓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Linear(128→64) + BatchNorm + ReLU + Dropout(0.3)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↓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Linear(64→1)  → 输出预测值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59"/>
              </a:lnSpc>
              <a:spcAft>
                <a:spcPts val="300"/>
              </a:spcAft>
            </a:pPr>
            <a:r>
              <a:rPr sz="1400" b="1">
                <a:solidFill>
                  <a:srgbClr val="1A3C6E"/>
                </a:solidFill>
                <a:latin typeface="微软雅黑"/>
                <a:ea typeface="微软雅黑"/>
              </a:rPr>
              <a:t>▎为什么MLP能接近树模型？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BatchNorm：加速收敛、稳定训练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Dropout(0.3)：防止过拟合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30维显式特征已编码时序依赖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→ 降低了对模型隐式学习能力的要求</a:t>
            </a:r>
          </a:p>
          <a:p>
            <a:pPr algn="l">
              <a:lnSpc>
                <a:spcPts val="167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训练仅23s，与树模型性能接近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  关键发现：数据泄漏排查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Critical Discovery: Data Leakage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11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900000"/>
            <a:ext cx="8100000" cy="14400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C41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007999"/>
            <a:ext cx="77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Aft>
                <a:spcPts val="300"/>
              </a:spcAft>
            </a:pPr>
            <a:r>
              <a:rPr sz="2200" b="1">
                <a:solidFill>
                  <a:srgbClr val="C41A23"/>
                </a:solidFill>
                <a:latin typeface="微软雅黑"/>
                <a:ea typeface="微软雅黑"/>
              </a:rPr>
              <a:t>⚠️  实验初期，模型R²一度达到 0.999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表面近乎完美 —— 但这不是好消息，而是警报。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特征重要性分析揭示：Global_intensity（电流）占据 99.9% 的重要性。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520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▎根因分析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物理定律：P = V × I （功率 = 电压 × 电流）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在法国电网中，电压 V≈240V（几乎恒定），因此：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 Global_active_power ≈ 240 × Global_intensity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将Global_intensity作为特征 → 模型只需学会乘以240即得到答案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这不是「预测」，这是「读取答案」——典型的数据泄漏（Data Leakage）。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2160"/>
              </a:lnSpc>
              <a:spcAft>
                <a:spcPts val="3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▎修复措施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排除特征：Global_intensity, Global_reactive_power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仅保留：Voltage, Sub_metering_1, Sub_metering_2, Sub_metering_3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修复后，R²从0.999降至0.89~0.90 → 这才是真实的预测性能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1">
                <a:solidFill>
                  <a:srgbClr val="C41A23"/>
                </a:solidFill>
                <a:latin typeface="微软雅黑"/>
                <a:ea typeface="微软雅黑"/>
              </a:rPr>
              <a:t>💡 教训：如果某个特征Importance &gt; 90%，立即审视其与目标变量的物理/逻辑关系。</a:t>
            </a:r>
          </a:p>
          <a:p>
            <a:pPr algn="l">
              <a:lnSpc>
                <a:spcPts val="1680"/>
              </a:lnSpc>
              <a:spcAft>
                <a:spcPts val="300"/>
              </a:spcAft>
            </a:pPr>
            <a:r>
              <a:rPr sz="1400" b="1">
                <a:solidFill>
                  <a:srgbClr val="C41A23"/>
                </a:solidFill>
                <a:latin typeface="微软雅黑"/>
                <a:ea typeface="微软雅黑"/>
              </a:rPr>
              <a:t>     R²=0.999不是庆祝的理由，而是检查数据泄漏的警报。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实验结果：五模型性能对比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Results: Model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12 /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0000" y="900000"/>
          <a:ext cx="79200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260000"/>
                <a:gridCol w="1260000"/>
                <a:gridCol w="1260000"/>
                <a:gridCol w="1260000"/>
                <a:gridCol w="1440000"/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 Model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MSE ↓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MAE ↓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RMSE ↓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MAPE(%) ↓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R² ↑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MLP-RF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0.0347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24.60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0.9007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XGBoost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0.0013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0.0232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0.0358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23.79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0.8947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0.0359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25.09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0.0013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0.0240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0.0365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26.15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0.8904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LSTM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0.0715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53.92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0000" y="2808000"/>
            <a:ext cx="81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065A82"/>
                </a:solidFill>
                <a:latin typeface="微软雅黑"/>
                <a:ea typeface="微软雅黑"/>
              </a:rPr>
              <a:t>🏆 最佳R²：MLP-RF Avg（0.9007）— 简单平均融合超越所有单一模型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065A82"/>
                </a:solidFill>
                <a:latin typeface="微软雅黑"/>
                <a:ea typeface="微软雅黑"/>
              </a:rPr>
              <a:t>⚡ 最佳MAPE：XGBoost（23.79%）— 实际部署场景的最优选择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F96167"/>
                </a:solidFill>
                <a:latin typeface="微软雅黑"/>
                <a:ea typeface="微软雅黑"/>
              </a:rPr>
              <a:t>📉 LSTM表现最差（MAPE=53.9%, R²=0.579）— 特征维度与数据量不足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树模型（RF/XGBoost）表现稳健 — 丰富显式特征工程是关键</a:t>
            </a:r>
          </a:p>
          <a:p>
            <a:pPr algn="l">
              <a:lnSpc>
                <a:spcPts val="2100"/>
              </a:lnSpc>
              <a:spcAft>
                <a:spcPts val="30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MLP（3层）训练仅23s，性能接近树模型 — NN在表格化时序上同样有竞争力</a:t>
            </a:r>
          </a:p>
        </p:txBody>
      </p:sp>
      <p:pic>
        <p:nvPicPr>
          <p:cNvPr id="10" name="Picture 9" descr="fin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960000"/>
            <a:ext cx="8100000" cy="216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0000" y="6156000"/>
            <a:ext cx="81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五模型综合对比（MAPE/R²/RMSE柱状图 + 预测曲线 + 关键发现）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预测结果可视化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Prediction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13 / 20</a:t>
            </a:r>
          </a:p>
        </p:txBody>
      </p:sp>
      <p:pic>
        <p:nvPicPr>
          <p:cNvPr id="8" name="Picture 7" descr="all_models_7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92000"/>
            <a:ext cx="8820000" cy="25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000" y="3348000"/>
            <a:ext cx="88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五模型预测曲线对比（测试集前7天 / 168小时）</a:t>
            </a:r>
          </a:p>
        </p:txBody>
      </p:sp>
      <p:pic>
        <p:nvPicPr>
          <p:cNvPr id="10" name="Picture 9" descr="all_model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3420000"/>
            <a:ext cx="8820000" cy="25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0000" y="5976000"/>
            <a:ext cx="88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五模型预测值 vs. 真实值散点图（越接近对角线 y=x 表示预测越准确）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特征重要性分析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Feature Importance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14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81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300"/>
              </a:spcAft>
            </a:pPr>
            <a:r>
              <a:rPr sz="1600" b="1">
                <a:solidFill>
                  <a:srgbClr val="1A3C6E"/>
                </a:solidFill>
                <a:latin typeface="微软雅黑"/>
                <a:ea typeface="微软雅黑"/>
              </a:rPr>
              <a:t>▎RF与XGBoost特征重要性排序高度一致：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1. Sub_metering_3（空调/热水器） — 重要性 ~38%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空调是家庭电力负荷的最强驱动因素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2. lag1h（前1小时负荷） — 重要性 ~12-21%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电力负荷具有强时序自相关性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最近时刻的负荷是预测下一时刻最直接的信息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3. Sub_metering_1 + Sub_metering_2（厨房+洗衣间） — 合计 ~20%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特定电器的使用模式提供了额外的预测信号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4. 时间循环特征（hour_sin/cos, month_cos） — 合计 ~5%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日周期和年周期特征为模型提供了时间上下文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5. Voltage（电压） — ~2-3%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 → 电网电压的微小波动也包含一定预测信息</a:t>
            </a:r>
          </a:p>
          <a:p>
            <a:pPr algn="l">
              <a:lnSpc>
                <a:spcPts val="1380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495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💡 结论：显式特征工程（滞后+滚动统计+循环编码）直接编码了时序依赖，</a:t>
            </a:r>
          </a:p>
          <a:p>
            <a:pPr algn="l">
              <a:lnSpc>
                <a:spcPts val="1495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     大幅降低了模型的学习难度。这是树模型在本任务中表现出色的关键原因。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深度分析：LSTM为何表现不佳？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Analysis: Why LSTM Underperformed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15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827999"/>
            <a:ext cx="81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300"/>
              </a:spcAft>
            </a:pPr>
            <a:r>
              <a:rPr sz="1600" b="0">
                <a:solidFill>
                  <a:srgbClr val="C41A23"/>
                </a:solidFill>
                <a:latin typeface="微软雅黑"/>
                <a:ea typeface="微软雅黑"/>
              </a:rPr>
              <a:t>LSTM 在本次实验中表现最差（MAPE=53.9%, R²=0.579），三个主要原因：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39"/>
              </a:lnSpc>
              <a:spcAft>
                <a:spcPts val="300"/>
              </a:spcAft>
            </a:pPr>
            <a:r>
              <a:rPr sz="1600" b="1">
                <a:solidFill>
                  <a:srgbClr val="1A3C6E"/>
                </a:solidFill>
                <a:latin typeface="微软雅黑"/>
                <a:ea typeface="微软雅黑"/>
              </a:rPr>
              <a:t>❶ 特征不对称（最核心原因）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LSTM：仅使用10维原始特征序列（含自回归项）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RF/XGBoost：获得30维显式工程特征（滞后+滚动统计+循环编码）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LSTM需要从序列中「隐式」学习这些模式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→ 对模型容量和数据量的要求远超树模型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这是实验设计上的不对称：给树模型做了充分特征工程，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但没有给LSTM平等的特征支持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39"/>
              </a:lnSpc>
              <a:spcAft>
                <a:spcPts val="300"/>
              </a:spcAft>
            </a:pPr>
            <a:r>
              <a:rPr sz="1600" b="1">
                <a:solidFill>
                  <a:srgbClr val="1A3C6E"/>
                </a:solidFill>
                <a:latin typeface="微软雅黑"/>
                <a:ea typeface="微软雅黑"/>
              </a:rPr>
              <a:t>❷ 数据量不足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~29K训练样本 对 3层LSTM（~200K参数）偏少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树模型在小样本场景下天然具有先验优势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深度学习通常需要更大规模数据才能发挥优势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839"/>
              </a:lnSpc>
              <a:spcAft>
                <a:spcPts val="300"/>
              </a:spcAft>
            </a:pPr>
            <a:r>
              <a:rPr sz="1600" b="1">
                <a:solidFill>
                  <a:srgbClr val="1A3C6E"/>
                </a:solidFill>
                <a:latin typeface="微软雅黑"/>
                <a:ea typeface="微软雅黑"/>
              </a:rPr>
              <a:t>❸ 任务特性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对于已做好特征工程的表格化时序预测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梯度提升树（XGBoost）通常是更优选择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• LSTM的优势场景：原始长序列、强非线性多变量交互、</a:t>
            </a:r>
          </a:p>
          <a:p>
            <a:pPr algn="l">
              <a:lnSpc>
                <a:spcPts val="1264"/>
              </a:lnSpc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 大数据量下端到端学习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更多可视化分析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Additional Visualizations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16 / 20</a:t>
            </a:r>
          </a:p>
        </p:txBody>
      </p:sp>
      <p:pic>
        <p:nvPicPr>
          <p:cNvPr id="8" name="Picture 7" descr="eda_pow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792000"/>
            <a:ext cx="4320000" cy="23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000" y="316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功率变化热力图（日期×小时，最后60天）</a:t>
            </a:r>
          </a:p>
        </p:txBody>
      </p:sp>
      <p:pic>
        <p:nvPicPr>
          <p:cNvPr id="10" name="Picture 9" descr="rf_xgb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0" y="792000"/>
            <a:ext cx="4320000" cy="23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0000" y="316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RF与XGBoost残差分布（近似正态，无系统性偏差）</a:t>
            </a:r>
          </a:p>
        </p:txBody>
      </p:sp>
      <p:pic>
        <p:nvPicPr>
          <p:cNvPr id="12" name="Picture 11" descr="eda_acf_p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3311999"/>
            <a:ext cx="4320000" cy="23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000" y="5687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ACF/PACF自相关/偏自相关函数图</a:t>
            </a:r>
          </a:p>
        </p:txBody>
      </p:sp>
      <p:pic>
        <p:nvPicPr>
          <p:cNvPr id="14" name="Picture 13" descr="eda_distribu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0" y="3311999"/>
            <a:ext cx="4320000" cy="234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80000" y="5687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图: 各变量分布直方图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  融合策略对比：Stacking vs. 简单平均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Ensemble Strategy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17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8100000" cy="5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30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</a:rPr>
              <a:t>实验对比了两种MLP-RF融合策略：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20"/>
              </a:lnSpc>
              <a:spcAft>
                <a:spcPts val="300"/>
              </a:spcAft>
            </a:pPr>
            <a:r>
              <a:rPr sz="1600" b="1">
                <a:solidFill>
                  <a:srgbClr val="C41A23"/>
                </a:solidFill>
                <a:latin typeface="微软雅黑"/>
                <a:ea typeface="微软雅黑"/>
              </a:rPr>
              <a:t>▎Ridge Stacking → R² = 0.8905（不如单独RF的0.8937）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Ridge元学习器给MLP的权重≈ -0.07（几乎为零）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融合退化为单独使用RF，完全失去了集成的意义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失败原因：RF和MLP在测试集上的预测相关系数 ρ &gt; 0.95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  → 两个模型输出高度共线，线性元学习器无法从中提取新信息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20"/>
              </a:lnSpc>
              <a:spcAft>
                <a:spcPts val="300"/>
              </a:spcAft>
            </a:pPr>
            <a:r>
              <a:rPr sz="1600" b="1">
                <a:solidFill>
                  <a:srgbClr val="2C5F2D"/>
                </a:solidFill>
                <a:latin typeface="微软雅黑"/>
                <a:ea typeface="微软雅黑"/>
              </a:rPr>
              <a:t>▎简单算术平均 → R² = 0.9007 ✨（最优）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ensemble_pred = (RF_pred + MLP_pred) / 2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强制给每个模型50%权重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两个模型偏差模式不完全重合，50/50平均恰好使误差部分抵消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• 实现了真正的「集成学习」——整体优于部分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ts val="1920"/>
              </a:lnSpc>
              <a:spcAft>
                <a:spcPts val="300"/>
              </a:spcAft>
            </a:pPr>
            <a:r>
              <a:rPr sz="1600" b="1">
                <a:solidFill>
                  <a:srgbClr val="1A3C6E"/>
                </a:solidFill>
                <a:latin typeface="微软雅黑"/>
                <a:ea typeface="微软雅黑"/>
              </a:rPr>
              <a:t>💡 核心启示：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当基学习器的预测高度相关时，复杂的元学习（Stacking）可能事与愿违。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简单平均反而因强制均分权重而获得更好的泛化效果。</a:t>
            </a:r>
          </a:p>
          <a:p>
            <a:pPr algn="l">
              <a:lnSpc>
                <a:spcPts val="1439"/>
              </a:lnSpc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在集成学习中，「简单」有时候确实比「复杂」更有效。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  实验总结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Summary &amp;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18 / 20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972000"/>
            <a:ext cx="324000" cy="3240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999" y="9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065A82"/>
                </a:solidFill>
                <a:latin typeface="微软雅黑"/>
                <a:ea typeface="微软雅黑"/>
              </a:rPr>
              <a:t>XGBoost — 实际部署的最佳选择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999" y="11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MAPE=23.8%, 训练106s, 精度与效率的最佳平衡点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1872000"/>
            <a:ext cx="324000" cy="3240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18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2C5F2D"/>
                </a:solidFill>
                <a:latin typeface="微软雅黑"/>
                <a:ea typeface="微软雅黑"/>
              </a:rPr>
              <a:t>MLP-RF融合 — 最高R² (0.9007)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20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简单平均超越所有单一模型, 证明了模型集成的价值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2772000"/>
            <a:ext cx="324000" cy="324000"/>
          </a:xfrm>
          <a:prstGeom prst="ellipse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999" y="27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C41A23"/>
                </a:solidFill>
                <a:latin typeface="微软雅黑"/>
                <a:ea typeface="微软雅黑"/>
              </a:rPr>
              <a:t>数据泄漏 — 最有价值的教训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29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R²=0.999不是庆祝而是警报, 物理理解比高指标更重要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72000"/>
            <a:ext cx="324000" cy="324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999" y="36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1A3C6E"/>
                </a:solidFill>
                <a:latin typeface="微软雅黑"/>
                <a:ea typeface="微软雅黑"/>
              </a:rPr>
              <a:t>特征工程 — 性能上限的决定因素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7999" y="38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Sub_metering_3(~38%) + lag1h(~21%) = 最强预测信号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572000"/>
            <a:ext cx="324000" cy="3240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999" y="45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</a:rPr>
              <a:t>LSTM — 深度学习并非万能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999" y="47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受限于特征维度和数据量, 提醒我们选对工具比选「高级」工具更重要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472000"/>
            <a:ext cx="324000" cy="3240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999" y="540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666666"/>
                </a:solidFill>
                <a:latin typeface="微软雅黑"/>
                <a:ea typeface="微软雅黑"/>
              </a:rPr>
              <a:t>简单平均 &gt; Stacking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999" y="5651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当基学习器预测高度相关时, 简单的集成策略可能更有效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90000"/>
            <a:ext cx="79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  不足与展望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200"/>
              </a:spcAft>
            </a:pPr>
            <a:r>
              <a:rPr sz="1200" b="0">
                <a:solidFill>
                  <a:srgbClr val="CCCCCC"/>
                </a:solidFill>
                <a:latin typeface="微软雅黑"/>
                <a:ea typeface="微软雅黑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8000"/>
            <a:ext cx="12192000" cy="21600"/>
          </a:xfrm>
          <a:prstGeom prst="rect">
            <a:avLst/>
          </a:prstGeom>
          <a:solidFill>
            <a:srgbClr val="C4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6000"/>
            <a:ext cx="12192000" cy="72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19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007999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微软雅黑"/>
                <a:ea typeface="微软雅黑"/>
              </a:rPr>
              <a:t>▎当前不足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396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LSTM特征不对称：未平等对待深度模型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样本量有限：~29K样本对深度模型偏少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超参搜索粗糙：仅15-20轮RandomizedSearch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未引入外部特征：如气象数据（温度/湿度）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模型单一：未尝试Transformer、Informer等新架构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0" y="1007999"/>
            <a:ext cx="39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200"/>
              </a:spcAft>
            </a:pPr>
            <a:r>
              <a:rPr sz="2000" b="1">
                <a:solidFill>
                  <a:srgbClr val="1A3C6E"/>
                </a:solidFill>
                <a:latin typeface="微软雅黑"/>
                <a:ea typeface="微软雅黑"/>
              </a:rPr>
              <a:t>▎改进方向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0" y="1368000"/>
            <a:ext cx="396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公平实验：为所有模型提供相同的特征集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引入气象数据：温度、湿度是空调负荷的核心驱动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数据扩充：使用更长时间跨度的数据集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尝试新架构：Transformer/Informer/Autoformer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更系统的超参优化：Optuna/Bayesian Optimization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多步预测：从1步→24步（真正的日负荷预测）</a:t>
            </a:r>
          </a:p>
          <a:p>
            <a:pPr algn="l">
              <a:lnSpc>
                <a:spcPts val="1950"/>
              </a:lnSpc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• 不确定性量化：预测区间而不仅是点估计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80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200"/>
              </a:spcAft>
            </a:pPr>
            <a:r>
              <a:rPr sz="4800" b="1">
                <a:solidFill>
                  <a:srgbClr val="1A3C6E"/>
                </a:solidFill>
                <a:latin typeface="微软雅黑"/>
                <a:ea typeface="微软雅黑"/>
              </a:rPr>
              <a:t>感谢聆听！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88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200"/>
              </a:spcAft>
            </a:pPr>
            <a:r>
              <a:rPr sz="2800" b="0">
                <a:solidFill>
                  <a:srgbClr val="666666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780000"/>
            <a:ext cx="79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200"/>
              </a:spcAft>
            </a:pPr>
            <a:r>
              <a:rPr sz="1600" b="0">
                <a:solidFill>
                  <a:srgbClr val="666666"/>
                </a:solidFill>
                <a:latin typeface="微软雅黑"/>
                <a:ea typeface="微软雅黑"/>
              </a:rPr>
              <a:t>空调用电负荷预测 — 基于多算法对比的时间序列预测实验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450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200"/>
              </a:spcAft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汇报人：青课  |  重庆大学 大数据与软件学院  |  数据挖掘实验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522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200"/>
              </a:spcAft>
            </a:pPr>
            <a:r>
              <a:rPr sz="1800" b="1">
                <a:solidFill>
                  <a:srgbClr val="C41A23"/>
                </a:solidFill>
                <a:latin typeface="微软雅黑"/>
                <a:ea typeface="微软雅黑"/>
              </a:rPr>
              <a:t>欢迎提问与交流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630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960"/>
              </a:lnSpc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自定义 37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00000"/>
      </a:accent1>
      <a:accent2>
        <a:srgbClr val="119169"/>
      </a:accent2>
      <a:accent3>
        <a:srgbClr val="C00000"/>
      </a:accent3>
      <a:accent4>
        <a:srgbClr val="119169"/>
      </a:accent4>
      <a:accent5>
        <a:srgbClr val="C00000"/>
      </a:accent5>
      <a:accent6>
        <a:srgbClr val="119169"/>
      </a:accent6>
      <a:hlink>
        <a:srgbClr val="C00000"/>
      </a:hlink>
      <a:folHlink>
        <a:srgbClr val="119169"/>
      </a:folHlink>
    </a:clrScheme>
    <a:fontScheme name="rmjarsww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2164</Words>
  <Application>Microsoft Office PowerPoint</Application>
  <PresentationFormat>宽屏</PresentationFormat>
  <Paragraphs>231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Bebas Neue</vt:lpstr>
      <vt:lpstr>Gill Sans</vt:lpstr>
      <vt:lpstr>Lato Light</vt:lpstr>
      <vt:lpstr>Open Sans Condensed Light</vt:lpstr>
      <vt:lpstr>Oswald Light</vt:lpstr>
      <vt:lpstr>阿里巴巴普惠体 R</vt:lpstr>
      <vt:lpstr>宋体</vt:lpstr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蓝色商务</dc:title>
  <dc:creator>第一PPT</dc:creator>
  <cp:keywords>www.1ppt.com</cp:keywords>
  <dc:description>www.1ppt.com</dc:description>
  <cp:lastModifiedBy>上海维湾9号机</cp:lastModifiedBy>
  <cp:revision>59</cp:revision>
  <dcterms:created xsi:type="dcterms:W3CDTF">2019-01-02T05:18:00Z</dcterms:created>
  <dcterms:modified xsi:type="dcterms:W3CDTF">2021-03-25T06:36:15Z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