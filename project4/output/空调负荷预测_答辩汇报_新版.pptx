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-1080000"/>
            <a:ext cx="5760000" cy="5760000"/>
          </a:xfrm>
          <a:prstGeom prst="ellipse">
            <a:avLst/>
          </a:prstGeom>
          <a:solidFill>
            <a:srgbClr val="243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00000" y="2520000"/>
            <a:ext cx="4320000" cy="4320000"/>
          </a:xfrm>
          <a:prstGeom prst="ellipse">
            <a:avLst/>
          </a:prstGeom>
          <a:solidFill>
            <a:srgbClr val="243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0000" y="5040000"/>
            <a:ext cx="2160000" cy="252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080000"/>
            <a:ext cx="104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000"/>
              </a:lnSpc>
            </a:pPr>
            <a:r>
              <a:rPr sz="5000" b="1">
                <a:solidFill>
                  <a:srgbClr val="FFFFFF"/>
                </a:solidFill>
                <a:ea typeface="微软雅黑"/>
                <a:latin typeface="微软雅黑"/>
              </a:rPr>
              <a:t>空调用电负荷预测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340000"/>
            <a:ext cx="10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</a:pPr>
            <a:r>
              <a:rPr sz="2600" b="0">
                <a:solidFill>
                  <a:srgbClr val="B0BDD3"/>
                </a:solidFill>
                <a:ea typeface="微软雅黑"/>
                <a:latin typeface="微软雅黑"/>
              </a:rPr>
              <a:t>基于多算法对比的时间序列预测实验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420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0">
                <a:solidFill>
                  <a:srgbClr val="AAAAAA"/>
                </a:solidFill>
                <a:ea typeface="微软雅黑"/>
                <a:latin typeface="微软雅黑"/>
              </a:rPr>
              <a:t>重庆大学  大数据与软件学院  ·  数据挖掘实验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576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</a:pPr>
            <a:r>
              <a:rPr sz="1600" b="0">
                <a:solidFill>
                  <a:srgbClr val="AAAAAA"/>
                </a:solidFill>
                <a:ea typeface="微软雅黑"/>
                <a:latin typeface="微软雅黑"/>
              </a:rPr>
              <a:t>汇报人：黄翰林    2026年6月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6192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0">
                <a:solidFill>
                  <a:srgbClr val="AAAAAA"/>
                </a:solidFill>
                <a:ea typeface="微软雅黑"/>
                <a:latin typeface="微软雅黑"/>
              </a:rPr>
              <a:t>UCI Individual Household Electric Power Consumption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0" y="640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</a:pPr>
            <a:r>
              <a:rPr sz="1400" b="0">
                <a:solidFill>
                  <a:srgbClr val="AAAAAA"/>
                </a:solidFill>
                <a:ea typeface="微软雅黑"/>
                <a:latin typeface="微软雅黑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2119" cy="288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sz="3200" b="1">
                <a:solidFill>
                  <a:srgbClr val="FFFFFF"/>
                </a:solidFill>
                <a:ea typeface="微软雅黑"/>
                <a:latin typeface="微软雅黑"/>
              </a:rPr>
              <a:t>目 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12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B0BDD3"/>
                </a:solidFill>
                <a:ea typeface="微软雅黑"/>
                <a:latin typeface="微软雅黑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</a:pPr>
            <a:r>
              <a:rPr sz="1400" b="0">
                <a:solidFill>
                  <a:srgbClr val="AAAAAA"/>
                </a:solidFill>
                <a:ea typeface="微软雅黑"/>
                <a:latin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4000"/>
            <a:ext cx="12192119" cy="5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0000" y="1206000"/>
            <a:ext cx="503999" cy="503999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260000"/>
            <a:ext cx="503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</a:pPr>
            <a:r>
              <a:rPr sz="2200" b="1">
                <a:solidFill>
                  <a:srgbClr val="FFFFFF"/>
                </a:solidFill>
                <a:ea typeface="微软雅黑"/>
                <a:latin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0000" y="1206000"/>
            <a:ext cx="90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ea typeface="微软雅黑"/>
                <a:latin typeface="微软雅黑"/>
              </a:rPr>
              <a:t>实验背景与目标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1620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数据集概况、问题定义与研究目标</a:t>
            </a:r>
          </a:p>
        </p:txBody>
      </p:sp>
      <p:sp>
        <p:nvSpPr>
          <p:cNvPr id="12" name="Oval 11"/>
          <p:cNvSpPr/>
          <p:nvPr/>
        </p:nvSpPr>
        <p:spPr>
          <a:xfrm>
            <a:off x="900000" y="2106000"/>
            <a:ext cx="503999" cy="503999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2160000"/>
            <a:ext cx="503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</a:pPr>
            <a:r>
              <a:rPr sz="2200" b="1">
                <a:solidFill>
                  <a:srgbClr val="FFFFFF"/>
                </a:solidFill>
                <a:ea typeface="微软雅黑"/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2106000"/>
            <a:ext cx="90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ea typeface="微软雅黑"/>
                <a:latin typeface="微软雅黑"/>
              </a:rPr>
              <a:t>数据预处理与特征工程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0000" y="2520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缺失值处理、归一化、时间特征、滞后与滚动统计</a:t>
            </a:r>
          </a:p>
        </p:txBody>
      </p:sp>
      <p:sp>
        <p:nvSpPr>
          <p:cNvPr id="16" name="Oval 15"/>
          <p:cNvSpPr/>
          <p:nvPr/>
        </p:nvSpPr>
        <p:spPr>
          <a:xfrm>
            <a:off x="900000" y="3006000"/>
            <a:ext cx="503999" cy="503999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3060000"/>
            <a:ext cx="503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</a:pPr>
            <a:r>
              <a:rPr sz="2200" b="1">
                <a:solidFill>
                  <a:srgbClr val="FFFFFF"/>
                </a:solidFill>
                <a:ea typeface="微软雅黑"/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0000" y="3006000"/>
            <a:ext cx="90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ea typeface="微软雅黑"/>
                <a:latin typeface="微软雅黑"/>
              </a:rPr>
              <a:t>模型构建与训练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3420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Random Forest / XGBoost / LSTM / MLP-RF 四类算法详解</a:t>
            </a:r>
          </a:p>
        </p:txBody>
      </p:sp>
      <p:sp>
        <p:nvSpPr>
          <p:cNvPr id="20" name="Oval 19"/>
          <p:cNvSpPr/>
          <p:nvPr/>
        </p:nvSpPr>
        <p:spPr>
          <a:xfrm>
            <a:off x="900000" y="3906000"/>
            <a:ext cx="503999" cy="503999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000" y="3960000"/>
            <a:ext cx="503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</a:pPr>
            <a:r>
              <a:rPr sz="2200" b="1">
                <a:solidFill>
                  <a:srgbClr val="FFFFFF"/>
                </a:solidFill>
                <a:ea typeface="微软雅黑"/>
                <a:latin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0000" y="3906000"/>
            <a:ext cx="90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ea typeface="微软雅黑"/>
                <a:latin typeface="微软雅黑"/>
              </a:rPr>
              <a:t>关键发现：数据泄漏排查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0000" y="4320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从 R²=0.999 到物理公式泄漏的完整排查过程</a:t>
            </a:r>
          </a:p>
        </p:txBody>
      </p:sp>
      <p:sp>
        <p:nvSpPr>
          <p:cNvPr id="24" name="Oval 23"/>
          <p:cNvSpPr/>
          <p:nvPr/>
        </p:nvSpPr>
        <p:spPr>
          <a:xfrm>
            <a:off x="900000" y="4806000"/>
            <a:ext cx="503999" cy="503999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000" y="4860000"/>
            <a:ext cx="503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</a:pPr>
            <a:r>
              <a:rPr sz="2200" b="1">
                <a:solidFill>
                  <a:srgbClr val="FFFFFF"/>
                </a:solidFill>
                <a:ea typeface="微软雅黑"/>
                <a:latin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0000" y="4806000"/>
            <a:ext cx="90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ea typeface="微软雅黑"/>
                <a:latin typeface="微软雅黑"/>
              </a:rPr>
              <a:t>实验结果与可视化分析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0000" y="5220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性能对比、预测曲线、特征重要性、融合策略</a:t>
            </a:r>
          </a:p>
        </p:txBody>
      </p:sp>
      <p:sp>
        <p:nvSpPr>
          <p:cNvPr id="28" name="Oval 27"/>
          <p:cNvSpPr/>
          <p:nvPr/>
        </p:nvSpPr>
        <p:spPr>
          <a:xfrm>
            <a:off x="900000" y="5706000"/>
            <a:ext cx="503999" cy="503999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000" y="5760000"/>
            <a:ext cx="503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</a:pPr>
            <a:r>
              <a:rPr sz="2200" b="1">
                <a:solidFill>
                  <a:srgbClr val="FFFFFF"/>
                </a:solidFill>
                <a:ea typeface="微软雅黑"/>
                <a:latin typeface="微软雅黑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20000" y="5706000"/>
            <a:ext cx="90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ea typeface="微软雅黑"/>
                <a:latin typeface="微软雅黑"/>
              </a:rPr>
              <a:t>总结与展望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0000" y="6120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核心结论、不足分析与改进方向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2119" cy="288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sz="3200" b="1">
                <a:solidFill>
                  <a:srgbClr val="FFFFFF"/>
                </a:solidFill>
                <a:ea typeface="微软雅黑"/>
                <a:latin typeface="微软雅黑"/>
              </a:rPr>
              <a:t>01  实验背景与目标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12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B0BDD3"/>
                </a:solidFill>
                <a:ea typeface="微软雅黑"/>
                <a:latin typeface="微软雅黑"/>
              </a:rPr>
              <a:t>Background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</a:pPr>
            <a:r>
              <a:rPr sz="1400" b="0">
                <a:solidFill>
                  <a:srgbClr val="AAAAAA"/>
                </a:solidFill>
                <a:ea typeface="微软雅黑"/>
                <a:latin typeface="微软雅黑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4000"/>
            <a:ext cx="12192119" cy="5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224000"/>
            <a:ext cx="5400000" cy="2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1224000"/>
            <a:ext cx="5400000" cy="3780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278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📋 实验背景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710000"/>
            <a:ext cx="5040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• 电力负荷预测是智能电网与能源管理的核心问题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• 准确的短期负荷预测可优化发电调度、降低运营成本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• 空调负荷在家庭用电中占比最高（约40%），季节性波动显著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• 传统单一模型难以同时捕捉负荷的多尺度时序特征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• 使用 UCI 家庭用电数据集（47个月，200万+条原始记录）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224000"/>
            <a:ext cx="5400000" cy="2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0000" y="1224000"/>
            <a:ext cx="5400000" cy="37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0" y="1278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🎯 实验目标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0" y="1710000"/>
            <a:ext cx="5040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① 实现完整的数据预处理与特征工程流水线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② 构建并调优 4 种不同范式的预测模型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③ 使用 5 项指标（MSE/MAE/RMSE/MAPE/R²）全面评估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④ 通过可视化与模型诊断进行深度对比分析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⑤ 探究数据泄漏、特征重要性、融合策略等关键问题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780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ea typeface="微软雅黑"/>
                <a:latin typeface="微软雅黑"/>
              </a:rPr>
              <a:t>▎数据集概况</a:t>
            </a:r>
          </a:p>
          <a:p>
            <a:pPr algn="l">
              <a:lnSpc>
                <a:spcPts val="175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75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UCI Individual Household Electric Power Consumption — 法国巴黎某家庭 2006.12 ~ 2010.11 的分钟级能耗数据</a:t>
            </a:r>
          </a:p>
          <a:p>
            <a:pPr algn="l">
              <a:lnSpc>
                <a:spcPts val="175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75"/>
              </a:lnSpc>
            </a:pPr>
            <a:r>
              <a:rPr sz="1500" b="1">
                <a:solidFill>
                  <a:srgbClr val="1B2A4A"/>
                </a:solidFill>
                <a:ea typeface="微软雅黑"/>
                <a:latin typeface="微软雅黑"/>
              </a:rPr>
              <a:t>• 7个变量：</a:t>
            </a:r>
          </a:p>
          <a:p>
            <a:pPr algn="l">
              <a:lnSpc>
                <a:spcPts val="175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Global_active_power（目标变量·总有功功率）、Global_reactive_power、Voltage、Global_intensity、Sub_metering_1/2/3</a:t>
            </a:r>
          </a:p>
          <a:p>
            <a:pPr algn="l">
              <a:lnSpc>
                <a:spcPts val="1875"/>
              </a:lnSpc>
            </a:pPr>
            <a:r>
              <a:rPr sz="1500" b="1">
                <a:solidFill>
                  <a:srgbClr val="1B2A4A"/>
                </a:solidFill>
                <a:ea typeface="微软雅黑"/>
                <a:latin typeface="微软雅黑"/>
              </a:rPr>
              <a:t>• 数据规模：</a:t>
            </a:r>
          </a:p>
          <a:p>
            <a:pPr algn="l">
              <a:lnSpc>
                <a:spcPts val="175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原始 2,075,259 行 → 逐小时重采样 34,168 行 → 去除NaN后 34,144 行（~3.9年逐时数据）</a:t>
            </a:r>
          </a:p>
          <a:p>
            <a:pPr algn="l">
              <a:lnSpc>
                <a:spcPts val="1875"/>
              </a:lnSpc>
            </a:pPr>
            <a:r>
              <a:rPr sz="1500" b="1">
                <a:solidFill>
                  <a:srgbClr val="1B2A4A"/>
                </a:solidFill>
                <a:ea typeface="微软雅黑"/>
                <a:latin typeface="微软雅黑"/>
              </a:rPr>
              <a:t>• 数据划分：</a:t>
            </a:r>
          </a:p>
          <a:p>
            <a:pPr algn="l">
              <a:lnSpc>
                <a:spcPts val="175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训练 70% (2006.12-2009.09) | 验证 15% | 测试 15% (2010.04-2010.11) — 严格时序分割，防止未来信息泄漏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2119" cy="288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sz="3200" b="1">
                <a:solidFill>
                  <a:srgbClr val="FFFFFF"/>
                </a:solidFill>
                <a:ea typeface="微软雅黑"/>
                <a:latin typeface="微软雅黑"/>
              </a:rPr>
              <a:t>02  数据预处理流水线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12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B0BDD3"/>
                </a:solidFill>
                <a:ea typeface="微软雅黑"/>
                <a:latin typeface="微软雅黑"/>
              </a:rPr>
              <a:t>Data Preprocessing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</a:pPr>
            <a:r>
              <a:rPr sz="1400" b="0">
                <a:solidFill>
                  <a:srgbClr val="AAAAAA"/>
                </a:solidFill>
                <a:ea typeface="微软雅黑"/>
                <a:latin typeface="微软雅黑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4000"/>
            <a:ext cx="12192119" cy="5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8000" y="1116000"/>
            <a:ext cx="396000" cy="396000"/>
          </a:xfrm>
          <a:prstGeom prst="ellipse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" y="1152000"/>
            <a:ext cx="3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ea typeface="微软雅黑"/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00" y="1620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</a:pPr>
            <a:r>
              <a:rPr sz="1600" b="1">
                <a:solidFill>
                  <a:srgbClr val="1B2A4A"/>
                </a:solidFill>
                <a:ea typeface="微软雅黑"/>
                <a:latin typeface="微软雅黑"/>
              </a:rPr>
              <a:t>原始数据加载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" y="1980000"/>
            <a:ext cx="1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</a:pPr>
            <a:r>
              <a:rPr sz="1200" b="0">
                <a:solidFill>
                  <a:srgbClr val="555555"/>
                </a:solidFill>
                <a:ea typeface="微软雅黑"/>
                <a:latin typeface="微软雅黑"/>
              </a:rPr>
              <a:t>127MB .txt</a:t>
            </a:r>
          </a:p>
          <a:p>
            <a:pPr algn="ctr">
              <a:lnSpc>
                <a:spcPts val="1560"/>
              </a:lnSpc>
            </a:pPr>
            <a:r>
              <a:rPr sz="1200" b="0">
                <a:solidFill>
                  <a:srgbClr val="555555"/>
                </a:solidFill>
                <a:ea typeface="微软雅黑"/>
                <a:latin typeface="微软雅黑"/>
              </a:rPr>
              <a:t>float32内存优化</a:t>
            </a:r>
          </a:p>
          <a:p>
            <a:pPr algn="ctr">
              <a:lnSpc>
                <a:spcPts val="1560"/>
              </a:lnSpc>
            </a:pPr>
            <a:r>
              <a:rPr sz="1200" b="0">
                <a:solidFill>
                  <a:srgbClr val="555555"/>
                </a:solidFill>
                <a:ea typeface="微软雅黑"/>
                <a:latin typeface="微软雅黑"/>
              </a:rPr>
              <a:t>仅加载所需列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088000" y="1188000"/>
            <a:ext cx="180000" cy="180000"/>
          </a:xfrm>
          <a:prstGeom prst="rightArrow">
            <a:avLst/>
          </a:prstGeom>
          <a:solidFill>
            <a:srgbClr val="E0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08000" y="1116000"/>
            <a:ext cx="396000" cy="396000"/>
          </a:xfrm>
          <a:prstGeom prst="ellipse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8000" y="1152000"/>
            <a:ext cx="3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ea typeface="微软雅黑"/>
                <a:latin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4000" y="1620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</a:pPr>
            <a:r>
              <a:rPr sz="1600" b="1">
                <a:solidFill>
                  <a:srgbClr val="1B2A4A"/>
                </a:solidFill>
                <a:ea typeface="微软雅黑"/>
                <a:latin typeface="微软雅黑"/>
              </a:rPr>
              <a:t>缺失值处理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000" y="1980000"/>
            <a:ext cx="1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</a:pPr>
            <a:r>
              <a:rPr sz="1200" b="0">
                <a:solidFill>
                  <a:srgbClr val="555555"/>
                </a:solidFill>
                <a:ea typeface="微软雅黑"/>
                <a:latin typeface="微软雅黑"/>
              </a:rPr>
              <a:t>1.25%行含NaN</a:t>
            </a:r>
          </a:p>
          <a:p>
            <a:pPr algn="ctr">
              <a:lnSpc>
                <a:spcPts val="1560"/>
              </a:lnSpc>
            </a:pPr>
            <a:r>
              <a:rPr sz="1200" b="0">
                <a:solidFill>
                  <a:srgbClr val="555555"/>
                </a:solidFill>
                <a:ea typeface="微软雅黑"/>
                <a:latin typeface="微软雅黑"/>
              </a:rPr>
              <a:t>直接删除</a:t>
            </a:r>
          </a:p>
          <a:p>
            <a:pPr algn="ctr">
              <a:lnSpc>
                <a:spcPts val="1560"/>
              </a:lnSpc>
            </a:pPr>
            <a:r>
              <a:rPr sz="1200" b="0">
                <a:solidFill>
                  <a:srgbClr val="555555"/>
                </a:solidFill>
                <a:ea typeface="微软雅黑"/>
                <a:latin typeface="微软雅黑"/>
              </a:rPr>
              <a:t>避免引入偏差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68000" y="1188000"/>
            <a:ext cx="180000" cy="180000"/>
          </a:xfrm>
          <a:prstGeom prst="rightArrow">
            <a:avLst/>
          </a:prstGeom>
          <a:solidFill>
            <a:srgbClr val="E0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88000" y="1116000"/>
            <a:ext cx="396000" cy="396000"/>
          </a:xfrm>
          <a:prstGeom prst="ellipse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8000" y="1152000"/>
            <a:ext cx="3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ea typeface="微软雅黑"/>
                <a:latin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4000" y="1620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</a:pPr>
            <a:r>
              <a:rPr sz="1600" b="1">
                <a:solidFill>
                  <a:srgbClr val="1B2A4A"/>
                </a:solidFill>
                <a:ea typeface="微软雅黑"/>
                <a:latin typeface="微软雅黑"/>
              </a:rPr>
              <a:t>逐小时重采样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4000" y="1980000"/>
            <a:ext cx="1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</a:pPr>
            <a:r>
              <a:rPr sz="1200" b="0">
                <a:solidFill>
                  <a:srgbClr val="555555"/>
                </a:solidFill>
                <a:ea typeface="微软雅黑"/>
                <a:latin typeface="微软雅黑"/>
              </a:rPr>
              <a:t>2,075,259→34,168行</a:t>
            </a:r>
          </a:p>
          <a:p>
            <a:pPr algn="ctr">
              <a:lnSpc>
                <a:spcPts val="1560"/>
              </a:lnSpc>
            </a:pPr>
            <a:r>
              <a:rPr sz="1200" b="0">
                <a:solidFill>
                  <a:srgbClr val="555555"/>
                </a:solidFill>
                <a:ea typeface="微软雅黑"/>
                <a:latin typeface="微软雅黑"/>
              </a:rPr>
              <a:t>取每小时均值</a:t>
            </a:r>
          </a:p>
          <a:p>
            <a:pPr algn="ctr">
              <a:lnSpc>
                <a:spcPts val="1560"/>
              </a:lnSpc>
            </a:pPr>
            <a:r>
              <a:rPr sz="1200" b="0">
                <a:solidFill>
                  <a:srgbClr val="555555"/>
                </a:solidFill>
                <a:ea typeface="微软雅黑"/>
                <a:latin typeface="微软雅黑"/>
              </a:rPr>
              <a:t>大幅压缩数据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48000" y="1188000"/>
            <a:ext cx="180000" cy="180000"/>
          </a:xfrm>
          <a:prstGeom prst="rightArrow">
            <a:avLst/>
          </a:prstGeom>
          <a:solidFill>
            <a:srgbClr val="E0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68000" y="1116000"/>
            <a:ext cx="396000" cy="396000"/>
          </a:xfrm>
          <a:prstGeom prst="ellipse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8000" y="1152000"/>
            <a:ext cx="3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ea typeface="微软雅黑"/>
                <a:latin typeface="微软雅黑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4000" y="1620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</a:pPr>
            <a:r>
              <a:rPr sz="1600" b="1">
                <a:solidFill>
                  <a:srgbClr val="1B2A4A"/>
                </a:solidFill>
                <a:ea typeface="微软雅黑"/>
                <a:latin typeface="微软雅黑"/>
              </a:rPr>
              <a:t>归一化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4000" y="1980000"/>
            <a:ext cx="1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</a:pPr>
            <a:r>
              <a:rPr sz="1200" b="0">
                <a:solidFill>
                  <a:srgbClr val="555555"/>
                </a:solidFill>
                <a:ea typeface="微软雅黑"/>
                <a:latin typeface="微软雅黑"/>
              </a:rPr>
              <a:t>Min-Max→[0,1]</a:t>
            </a:r>
          </a:p>
          <a:p>
            <a:pPr algn="ctr">
              <a:lnSpc>
                <a:spcPts val="1560"/>
              </a:lnSpc>
            </a:pPr>
            <a:r>
              <a:rPr sz="1200" b="0">
                <a:solidFill>
                  <a:srgbClr val="555555"/>
                </a:solidFill>
                <a:ea typeface="微软雅黑"/>
                <a:latin typeface="微软雅黑"/>
              </a:rPr>
              <a:t>消除量纲差异</a:t>
            </a:r>
          </a:p>
          <a:p>
            <a:pPr algn="ctr">
              <a:lnSpc>
                <a:spcPts val="1560"/>
              </a:lnSpc>
            </a:pPr>
            <a:r>
              <a:rPr sz="1200" b="0">
                <a:solidFill>
                  <a:srgbClr val="555555"/>
                </a:solidFill>
                <a:ea typeface="微软雅黑"/>
                <a:latin typeface="微软雅黑"/>
              </a:rPr>
              <a:t>加速梯度下降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028000" y="1188000"/>
            <a:ext cx="180000" cy="180000"/>
          </a:xfrm>
          <a:prstGeom prst="rightArrow">
            <a:avLst/>
          </a:prstGeom>
          <a:solidFill>
            <a:srgbClr val="E0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48000" y="1116000"/>
            <a:ext cx="396000" cy="396000"/>
          </a:xfrm>
          <a:prstGeom prst="ellipse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48000" y="1152000"/>
            <a:ext cx="3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ea typeface="微软雅黑"/>
                <a:latin typeface="微软雅黑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4000" y="1620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</a:pPr>
            <a:r>
              <a:rPr sz="1600" b="1">
                <a:solidFill>
                  <a:srgbClr val="1B2A4A"/>
                </a:solidFill>
                <a:ea typeface="微软雅黑"/>
                <a:latin typeface="微软雅黑"/>
              </a:rPr>
              <a:t>特征构建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4000" y="1980000"/>
            <a:ext cx="1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</a:pPr>
            <a:r>
              <a:rPr sz="1200" b="0">
                <a:solidFill>
                  <a:srgbClr val="555555"/>
                </a:solidFill>
                <a:ea typeface="微软雅黑"/>
                <a:latin typeface="微软雅黑"/>
              </a:rPr>
              <a:t>时间循环编码</a:t>
            </a:r>
          </a:p>
          <a:p>
            <a:pPr algn="ctr">
              <a:lnSpc>
                <a:spcPts val="1560"/>
              </a:lnSpc>
            </a:pPr>
            <a:r>
              <a:rPr sz="1200" b="0">
                <a:solidFill>
                  <a:srgbClr val="555555"/>
                </a:solidFill>
                <a:ea typeface="微软雅黑"/>
                <a:latin typeface="微软雅黑"/>
              </a:rPr>
              <a:t>6个滞后特征</a:t>
            </a:r>
          </a:p>
          <a:p>
            <a:pPr algn="ctr">
              <a:lnSpc>
                <a:spcPts val="1560"/>
              </a:lnSpc>
            </a:pPr>
            <a:r>
              <a:rPr sz="1200" b="0">
                <a:solidFill>
                  <a:srgbClr val="555555"/>
                </a:solidFill>
                <a:ea typeface="微软雅黑"/>
                <a:latin typeface="微软雅黑"/>
              </a:rPr>
              <a:t>12个滚动统计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008000" y="1188000"/>
            <a:ext cx="180000" cy="180000"/>
          </a:xfrm>
          <a:prstGeom prst="rightArrow">
            <a:avLst/>
          </a:prstGeom>
          <a:solidFill>
            <a:srgbClr val="E0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28000" y="1116000"/>
            <a:ext cx="396000" cy="396000"/>
          </a:xfrm>
          <a:prstGeom prst="ellipse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28000" y="1152000"/>
            <a:ext cx="3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ea typeface="微软雅黑"/>
                <a:latin typeface="微软雅黑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24000" y="1620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</a:pPr>
            <a:r>
              <a:rPr sz="1600" b="1">
                <a:solidFill>
                  <a:srgbClr val="1B2A4A"/>
                </a:solidFill>
                <a:ea typeface="微软雅黑"/>
                <a:latin typeface="微软雅黑"/>
              </a:rPr>
              <a:t>时序分割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4000" y="1980000"/>
            <a:ext cx="1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</a:pPr>
            <a:r>
              <a:rPr sz="1200" b="0">
                <a:solidFill>
                  <a:srgbClr val="555555"/>
                </a:solidFill>
                <a:ea typeface="微软雅黑"/>
                <a:latin typeface="微软雅黑"/>
              </a:rPr>
              <a:t>70/15/15</a:t>
            </a:r>
          </a:p>
          <a:p>
            <a:pPr algn="ctr">
              <a:lnSpc>
                <a:spcPts val="1560"/>
              </a:lnSpc>
            </a:pPr>
            <a:r>
              <a:rPr sz="1200" b="0">
                <a:solidFill>
                  <a:srgbClr val="555555"/>
                </a:solidFill>
                <a:ea typeface="微软雅黑"/>
                <a:latin typeface="微软雅黑"/>
              </a:rPr>
              <a:t>严格时序切分</a:t>
            </a:r>
          </a:p>
          <a:p>
            <a:pPr algn="ctr">
              <a:lnSpc>
                <a:spcPts val="1560"/>
              </a:lnSpc>
            </a:pPr>
            <a:r>
              <a:rPr sz="1200" b="0">
                <a:solidFill>
                  <a:srgbClr val="555555"/>
                </a:solidFill>
                <a:ea typeface="微软雅黑"/>
                <a:latin typeface="微软雅黑"/>
              </a:rPr>
              <a:t>防未来信息泄漏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0000" y="3240000"/>
            <a:ext cx="5400000" cy="28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0000" y="3240000"/>
            <a:ext cx="5400000" cy="3780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0000" y="3294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⏱ 时间特征与循环编码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3726000"/>
            <a:ext cx="5040000" cy="22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【原始时间特征】hour、dayofweek、month、is_weekend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【sin/cos 循环编码 — 保留周期性】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  hour_sin = sin(2π·hour/24)，hour_cos = cos(2π·hour/24)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  → 23时与0时在圆上相邻，而非数值跳变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  month_sin = sin(2π·month/12)，month_cos = cos(2π·month/12)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  → 12月与1月在圆上相邻，保留年周期循环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0000" y="3240000"/>
            <a:ext cx="5400000" cy="28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0000" y="3240000"/>
            <a:ext cx="5400000" cy="37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80000" y="3294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📐 滞后特征与滚动统计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80000" y="3726000"/>
            <a:ext cx="5040000" cy="22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【滞后特征 — 6个，编码时序自相关】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  lag1h/2h/3h/6h/12h/24h → 前一小时负荷是最直接的预测信息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【滚动窗口统计 — 12个】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  窗口 6h/12h/24h × 统计量 mean/std/min/max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  roll_mean_24h = 过去一天的平均负荷水平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  roll_std_6h = 近6小时的波动程度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【最终：30维特征向量 × 34,144条样本】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2119" cy="288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sz="3200" b="1">
                <a:solidFill>
                  <a:srgbClr val="FFFFFF"/>
                </a:solidFill>
                <a:ea typeface="微软雅黑"/>
                <a:latin typeface="微软雅黑"/>
              </a:rPr>
              <a:t>02  探索性数据分析（EDA）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12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B0BDD3"/>
                </a:solidFill>
                <a:ea typeface="微软雅黑"/>
                <a:latin typeface="微软雅黑"/>
              </a:rPr>
              <a:t>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</a:pPr>
            <a:r>
              <a:rPr sz="1400" b="0">
                <a:solidFill>
                  <a:srgbClr val="AAAAAA"/>
                </a:solidFill>
                <a:ea typeface="微软雅黑"/>
                <a:latin typeface="微软雅黑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4000"/>
            <a:ext cx="12192119" cy="5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da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152000"/>
            <a:ext cx="5580000" cy="252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0000" y="1152000"/>
            <a:ext cx="6120000" cy="2520000"/>
          </a:xfrm>
          <a:prstGeom prst="rect">
            <a:avLst/>
          </a:prstGeom>
          <a:solidFill>
            <a:srgbClr val="F7F8FC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4000" y="1260000"/>
            <a:ext cx="5832000" cy="23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1">
                <a:solidFill>
                  <a:srgbClr val="2D5F8A"/>
                </a:solidFill>
                <a:ea typeface="微软雅黑"/>
                <a:latin typeface="微软雅黑"/>
              </a:rPr>
              <a:t>▼ 变量相关性热力图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展示7个原始变量间的Pearson相关系数。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Global_active_power 与 Global_intensity 的相关系数≈1.0 —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由物理公式P=V×I决定，验证了排除该特征的合理性。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Sub_metering_3（空调）与目标相关性最高(~0.7)，是核心预测变量。</a:t>
            </a:r>
          </a:p>
        </p:txBody>
      </p:sp>
      <p:pic>
        <p:nvPicPr>
          <p:cNvPr id="11" name="Picture 10" descr="eda_seasonal_decomp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3888000"/>
            <a:ext cx="5580000" cy="244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0000" y="3888000"/>
            <a:ext cx="6120000" cy="2448000"/>
          </a:xfrm>
          <a:prstGeom prst="rect">
            <a:avLst/>
          </a:prstGeom>
          <a:solidFill>
            <a:srgbClr val="F7F8FC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4000" y="3996000"/>
            <a:ext cx="58320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1">
                <a:solidFill>
                  <a:srgbClr val="2D5F8A"/>
                </a:solidFill>
                <a:ea typeface="微软雅黑"/>
                <a:latin typeface="微软雅黑"/>
              </a:rPr>
              <a:t>▼ 季节性分解（周期7天）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将逐日均值序列分解为趋势(Trend)、季节性(Seasonal)和残差(Residual)。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长期趋势在2008-2009年上升后回落；周季节性模式明显（周末用电&gt;工作日）；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残差基本呈白噪声特征，说明周期7天的分解有效提取了主要规律。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2119" cy="288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sz="3200" b="1">
                <a:solidFill>
                  <a:srgbClr val="FFFFFF"/>
                </a:solidFill>
                <a:ea typeface="微软雅黑"/>
                <a:latin typeface="微软雅黑"/>
              </a:rPr>
              <a:t>03  模型架构总览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12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B0BDD3"/>
                </a:solidFill>
                <a:ea typeface="微软雅黑"/>
                <a:latin typeface="微软雅黑"/>
              </a:rPr>
              <a:t>Model 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</a:pPr>
            <a:r>
              <a:rPr sz="1400" b="0">
                <a:solidFill>
                  <a:srgbClr val="AAAAAA"/>
                </a:solidFill>
                <a:ea typeface="微软雅黑"/>
                <a:latin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4000"/>
            <a:ext cx="12192119" cy="5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000" y="1152000"/>
            <a:ext cx="2808000" cy="1007999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1260000"/>
            <a:ext cx="2592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ea typeface="微软雅黑"/>
                <a:latin typeface="微软雅黑"/>
              </a:rPr>
              <a:t>🌲 随机森林
Random Forest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160000"/>
            <a:ext cx="2808000" cy="2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268000"/>
            <a:ext cx="2448000" cy="24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Bagging 集成</a:t>
            </a:r>
          </a:p>
          <a:p>
            <a:pPr algn="l">
              <a:lnSpc>
                <a:spcPts val="22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200棵树 · max_depth=25</a:t>
            </a:r>
          </a:p>
          <a:p>
            <a:pPr algn="l">
              <a:lnSpc>
                <a:spcPts val="22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抗噪 · 不易过拟合</a:t>
            </a:r>
          </a:p>
          <a:p>
            <a:pPr algn="l">
              <a:lnSpc>
                <a:spcPts val="22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训练: 1201s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1999" y="1152000"/>
            <a:ext cx="2808000" cy="100799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9999" y="1260000"/>
            <a:ext cx="2592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ea typeface="微软雅黑"/>
                <a:latin typeface="微软雅黑"/>
              </a:rPr>
              <a:t>⚡ XGBoost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1999" y="2160000"/>
            <a:ext cx="2808000" cy="2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1999" y="2268000"/>
            <a:ext cx="2448000" cy="24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Boosting 集成</a:t>
            </a:r>
          </a:p>
          <a:p>
            <a:pPr algn="l">
              <a:lnSpc>
                <a:spcPts val="22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400棵树 · max_depth=6</a:t>
            </a:r>
          </a:p>
          <a:p>
            <a:pPr algn="l">
              <a:lnSpc>
                <a:spcPts val="22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正则化 · 自动处理缺失</a:t>
            </a:r>
          </a:p>
          <a:p>
            <a:pPr algn="l">
              <a:lnSpc>
                <a:spcPts val="22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训练: 106s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998" y="1152000"/>
            <a:ext cx="2808000" cy="1007999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1998" y="1260000"/>
            <a:ext cx="2592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ea typeface="微软雅黑"/>
                <a:latin typeface="微软雅黑"/>
              </a:rPr>
              <a:t>🧠 LSTM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998" y="2160000"/>
            <a:ext cx="2808000" cy="2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3998" y="2268000"/>
            <a:ext cx="2448000" cy="24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3层循环神经网络</a:t>
            </a:r>
          </a:p>
          <a:p>
            <a:pPr algn="l">
              <a:lnSpc>
                <a:spcPts val="22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hidden_dim=128</a:t>
            </a:r>
          </a:p>
          <a:p>
            <a:pPr algn="l">
              <a:lnSpc>
                <a:spcPts val="22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dropout=0.3 · 梯度裁剪</a:t>
            </a:r>
          </a:p>
          <a:p>
            <a:pPr algn="l">
              <a:lnSpc>
                <a:spcPts val="22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早停: patience=15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15997" y="1152000"/>
            <a:ext cx="2808000" cy="1007999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3997" y="1260000"/>
            <a:ext cx="2592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ea typeface="微软雅黑"/>
                <a:latin typeface="微软雅黑"/>
              </a:rPr>
              <a:t>🔗 MLP-RF 融合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15997" y="2160000"/>
            <a:ext cx="2808000" cy="2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95997" y="2268000"/>
            <a:ext cx="2448000" cy="24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MLP(256→128→64)</a:t>
            </a:r>
          </a:p>
          <a:p>
            <a:pPr algn="l">
              <a:lnSpc>
                <a:spcPts val="22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+ RF 简单平均</a:t>
            </a:r>
          </a:p>
          <a:p>
            <a:pPr algn="l">
              <a:lnSpc>
                <a:spcPts val="22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BatchNorm + Dropout</a:t>
            </a:r>
          </a:p>
          <a:p>
            <a:pPr algn="l">
              <a:lnSpc>
                <a:spcPts val="22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训练: 23s (MLP部分)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" y="522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</a:pPr>
            <a:r>
              <a:rPr sz="1200" b="0">
                <a:solidFill>
                  <a:srgbClr val="AAAAAA"/>
                </a:solidFill>
                <a:ea typeface="微软雅黑"/>
                <a:latin typeface="微软雅黑"/>
              </a:rPr>
              <a:t>训练环境：PyTorch 2.12 + CUDA 13.0  |  NVIDIA RTX 4060 Laptop (8GB)  |  超参搜索：RandomizedSearchCV / 3折交叉验证  |  评估指标：MSE / MAE / RMSE / MAPE / R²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2119" cy="288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sz="3200" b="1">
                <a:solidFill>
                  <a:srgbClr val="FFFFFF"/>
                </a:solidFill>
                <a:ea typeface="微软雅黑"/>
                <a:latin typeface="微软雅黑"/>
              </a:rPr>
              <a:t>03  模型详解：随机森林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12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B0BDD3"/>
                </a:solidFill>
                <a:ea typeface="微软雅黑"/>
                <a:latin typeface="微软雅黑"/>
              </a:rPr>
              <a:t>Random Forest — Bagging 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</a:pPr>
            <a:r>
              <a:rPr sz="1400" b="0">
                <a:solidFill>
                  <a:srgbClr val="AAAAAA"/>
                </a:solidFill>
                <a:ea typeface="微软雅黑"/>
                <a:latin typeface="微软雅黑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4000"/>
            <a:ext cx="12192119" cy="5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224000"/>
            <a:ext cx="5400000" cy="4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1224000"/>
            <a:ext cx="5400000" cy="3780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278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算法原理与实现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710000"/>
            <a:ext cx="5040000" cy="42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【Bagging 集成学习】并行构建多个决策树，取预测均值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两个随机性：① 样本Bootstrap采样 ② 分裂时随机特征子集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通过增加多样性来降低方差，天然抗过拟合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【本次实验做了什么】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· 使用 sklearn RandomForestRegressor 构建模型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· RandomizedSearchCV：15轮 × 3折交叉验证，搜索5个关键超参数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· 在训练+验证集上用最优参数重新训练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【核心优势】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✓ 无需特征归一化（树模型不受量纲影响）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✓ 可输出特征重要性，辅助理解数据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✓ 对异常值不敏感，天然抗过拟合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224000"/>
            <a:ext cx="5400000" cy="4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0000" y="1224000"/>
            <a:ext cx="5400000" cy="37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0" y="1278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最优超参数 &amp; 关键指标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0" y="1710000"/>
            <a:ext cx="5040000" cy="42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1">
                <a:solidFill>
                  <a:srgbClr val="E86A17"/>
                </a:solidFill>
                <a:ea typeface="微软雅黑"/>
                <a:latin typeface="微软雅黑"/>
              </a:rPr>
              <a:t>【最优超参数】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n_estimators=200  max_depth=25  min_samples_split=5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min_samples_leaf=4  max_features=0.5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950"/>
              </a:lnSpc>
            </a:pPr>
            <a:r>
              <a:rPr sz="1500" b="1">
                <a:solidFill>
                  <a:srgbClr val="E86A17"/>
                </a:solidFill>
                <a:ea typeface="微软雅黑"/>
                <a:latin typeface="微软雅黑"/>
              </a:rPr>
              <a:t>【测试集性能】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MSE=0.0013  MAE=0.0238  RMSE=0.0359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MAPE=25.09%  R²=0.8937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1">
                <a:solidFill>
                  <a:srgbClr val="1B2A4A"/>
                </a:solidFill>
                <a:ea typeface="微软雅黑"/>
                <a:latin typeface="微软雅黑"/>
              </a:rPr>
              <a:t>【训练效率】训练1201s（单线程），预测&lt;1s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2119" cy="288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sz="3200" b="1">
                <a:solidFill>
                  <a:srgbClr val="FFFFFF"/>
                </a:solidFill>
                <a:ea typeface="微软雅黑"/>
                <a:latin typeface="微软雅黑"/>
              </a:rPr>
              <a:t>03  模型详解：XGBoost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12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B0BDD3"/>
                </a:solidFill>
                <a:ea typeface="微软雅黑"/>
                <a:latin typeface="微软雅黑"/>
              </a:rPr>
              <a:t>XGBoost — Gradient Boosting 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</a:pPr>
            <a:r>
              <a:rPr sz="1400" b="0">
                <a:solidFill>
                  <a:srgbClr val="AAAAAA"/>
                </a:solidFill>
                <a:ea typeface="微软雅黑"/>
                <a:latin typeface="微软雅黑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4000"/>
            <a:ext cx="12192119" cy="5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224000"/>
            <a:ext cx="5400000" cy="4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1224000"/>
            <a:ext cx="5400000" cy="37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278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算法原理与实现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710000"/>
            <a:ext cx="5040000" cy="42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【Gradient Boosting】树串行构建，每棵新树拟合前一棵树的残差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目标函数 = 损失函数 + 正则项Ω（控制模型复杂度）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tree_method='hist'：基于直方图的近似分裂 → 大幅加速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内置缺失值自动学习 + 反向剪枝（避免局部最优）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【本次实验做了什么】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· XGBRegressor(tree_method='hist') 加速训练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· RandomizedSearchCV：20轮 × 3折 CV，搜索7个超参数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· L1(reg_alpha)+L2(reg_lambda)正则联合控制过拟合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· subsample+colsample双重采样增加随机性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224000"/>
            <a:ext cx="5400000" cy="4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0000" y="1224000"/>
            <a:ext cx="5400000" cy="37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0" y="1278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最优超参数 &amp; 关键指标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0" y="1710000"/>
            <a:ext cx="5040000" cy="42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1">
                <a:solidFill>
                  <a:srgbClr val="E86A17"/>
                </a:solidFill>
                <a:ea typeface="微软雅黑"/>
                <a:latin typeface="微软雅黑"/>
              </a:rPr>
              <a:t>【最优超参数】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n_estimators=400  max_depth=6  lr=0.05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subsample=0.8  colsample_bytree=0.7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reg_alpha=0  reg_lambda=1.5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950"/>
              </a:lnSpc>
            </a:pPr>
            <a:r>
              <a:rPr sz="1500" b="1">
                <a:solidFill>
                  <a:srgbClr val="E86A17"/>
                </a:solidFill>
                <a:ea typeface="微软雅黑"/>
                <a:latin typeface="微软雅黑"/>
              </a:rPr>
              <a:t>【测试集性能】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MSE=0.0013  MAE=0.0232  RMSE=0.0358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MAPE=23.79% ← 所有模型中最低！  R²=0.8947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950"/>
              </a:lnSpc>
            </a:pPr>
            <a:r>
              <a:rPr sz="1500" b="1">
                <a:solidFill>
                  <a:srgbClr val="C0392B"/>
                </a:solidFill>
                <a:ea typeface="微软雅黑"/>
                <a:latin typeface="微软雅黑"/>
              </a:rPr>
              <a:t>⚡ 训练仅106s（RF的1/11），兼顾精度与效率，实际部署首选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2119" cy="288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sz="3200" b="1">
                <a:solidFill>
                  <a:srgbClr val="FFFFFF"/>
                </a:solidFill>
                <a:ea typeface="微软雅黑"/>
                <a:latin typeface="微软雅黑"/>
              </a:rPr>
              <a:t>03  模型详解：LSTM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12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B0BDD3"/>
                </a:solidFill>
                <a:ea typeface="微软雅黑"/>
                <a:latin typeface="微软雅黑"/>
              </a:rPr>
              <a:t>Long Short-Term Memory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</a:pPr>
            <a:r>
              <a:rPr sz="1400" b="0">
                <a:solidFill>
                  <a:srgbClr val="AAAAAA"/>
                </a:solidFill>
                <a:ea typeface="微软雅黑"/>
                <a:latin typeface="微软雅黑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4000"/>
            <a:ext cx="12192119" cy="5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224000"/>
            <a:ext cx="5400000" cy="2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1224000"/>
            <a:ext cx="5400000" cy="37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278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网络结构与训练配置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710000"/>
            <a:ext cx="5040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【3层 LSTM (PyTorch)】hidden_dim=128, num_layers=3, dropout=0.3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输入：(batch, 24h, 10维) → 过去24小时的10维多变量序列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回归头：Linear(128→64)+ReLU+Dropout+Linear(64→1)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参数量 ~200K，输出下一小时负荷预测值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【训练策略】Adam(lr=1e-3) + ReduceLROnPlateau学习率衰减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梯度裁剪max_norm=1.0 + 早停patience=15 + Batch Size=64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3888000"/>
            <a:ext cx="5400000" cy="22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0000" y="3888000"/>
            <a:ext cx="5400000" cy="37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3942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训练过程与性能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4374000"/>
            <a:ext cx="5040000" cy="16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第48轮达最优验证MSE≈0.0067，第63轮触发早停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训练loss持续下降但验证loss停滞 → 模型已达容量上限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验证MSE远高于RF/XGBoost的~0.0013，预示最终性能差距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测试集：MSE=0.0051  MAE=0.0489  RMSE=0.0715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          MAPE=53.92%  R²=0.5793</a:t>
            </a:r>
          </a:p>
        </p:txBody>
      </p:sp>
      <p:pic>
        <p:nvPicPr>
          <p:cNvPr id="16" name="Picture 15" descr="lstm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0" y="1224000"/>
            <a:ext cx="5760000" cy="2340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120000" y="1224000"/>
            <a:ext cx="5760000" cy="2340000"/>
          </a:xfrm>
          <a:prstGeom prst="rect">
            <a:avLst/>
          </a:prstGeom>
          <a:solidFill>
            <a:srgbClr val="F7F8FC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4000" y="1332000"/>
            <a:ext cx="5472000" cy="21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1">
                <a:solidFill>
                  <a:srgbClr val="2D5F8A"/>
                </a:solidFill>
                <a:ea typeface="微软雅黑"/>
                <a:latin typeface="微软雅黑"/>
              </a:rPr>
              <a:t>▼ LSTM训练曲线解读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训练损失（蓝线）持续下降，但验证损失（橙线）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在第48轮后不再改善并在~0.007处停滞。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这说明模型已学到数据中能学到的所有模式，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继续训练只会过拟合。早停机制在第63轮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（连续15轮无改善后）终止训练。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0000" y="3780000"/>
            <a:ext cx="5760000" cy="2340000"/>
          </a:xfrm>
          <a:prstGeom prst="rect">
            <a:avLst/>
          </a:prstGeom>
          <a:solidFill>
            <a:srgbClr val="F7F8FC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000" y="3888000"/>
            <a:ext cx="54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1">
                <a:solidFill>
                  <a:srgbClr val="C0392B"/>
                </a:solidFill>
                <a:ea typeface="微软雅黑"/>
                <a:latin typeface="微软雅黑"/>
              </a:rPr>
              <a:t>▎为什么LSTM效果不理想？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LSTM使用10维原始序列，而RF/XGBoost获得30维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显式特征。LSTM需要从序列中隐式学习滞后和滚动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模式，对模型容量和数据量要求更高。在~29K样本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的规模下，树模型的结构先验优势更加明显。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2119" cy="288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sz="3200" b="1">
                <a:solidFill>
                  <a:srgbClr val="FFFFFF"/>
                </a:solidFill>
                <a:ea typeface="微软雅黑"/>
                <a:latin typeface="微软雅黑"/>
              </a:rPr>
              <a:t>03  模型详解：MLP-RF融合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12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B0BDD3"/>
                </a:solidFill>
                <a:ea typeface="微软雅黑"/>
                <a:latin typeface="微软雅黑"/>
              </a:rPr>
              <a:t>MLP-RF Ensemble — 神经网络 + 树模型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</a:pPr>
            <a:r>
              <a:rPr sz="1400" b="0">
                <a:solidFill>
                  <a:srgbClr val="AAAAAA"/>
                </a:solidFill>
                <a:ea typeface="微软雅黑"/>
                <a:latin typeface="微软雅黑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4000"/>
            <a:ext cx="12192119" cy="5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224000"/>
            <a:ext cx="5400000" cy="32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1224000"/>
            <a:ext cx="5400000" cy="37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278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MLP 网络结构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710000"/>
            <a:ext cx="5040000" cy="2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【3层全连接网络（PyTorch）】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Linear(30→256)+BatchNorm+ReLU+Dropout(0.3)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Linear(256→128)+BatchNorm+ReLU+Dropout(0.3)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Linear(128→64)+BatchNorm+ReLU+Dropout(0.3)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Linear(64→1) → 输出预测值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【设计考量】BatchNorm加速收敛、Dropout(0.3)防过拟合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30维显式特征降低了模型隐式学习的要求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训练仅23s，性能接近树模型：R²=0.8904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4752000"/>
            <a:ext cx="540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0000" y="4752000"/>
            <a:ext cx="5400000" cy="37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4806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关键启示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5238000"/>
            <a:ext cx="5040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特征工程做得足够好时，简单MLP也能接近复杂树模型的性能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BatchNorm+Dropout是在表格数据上训练NN的关键组合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1224000"/>
            <a:ext cx="5400000" cy="48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000" y="1224000"/>
            <a:ext cx="5400000" cy="37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0000" y="1278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两种融合策略对比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000" y="1710000"/>
            <a:ext cx="5040000" cy="42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1">
                <a:solidFill>
                  <a:srgbClr val="C0392B"/>
                </a:solidFill>
                <a:ea typeface="微软雅黑"/>
                <a:latin typeface="微软雅黑"/>
              </a:rPr>
              <a:t>【策略A：Ridge Stacking → R²=0.8905 ✗】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以RF和MLP预测值为特征，Ridge回归作元学习器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Ridge给MLP的权重≈-0.07 → 融合退化为只用RF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失败原因：RF与MLP预测相关系数ρ&gt;0.95，高度共线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Stacking假设基模型提供互补视角，过于相似时无信息可整合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2080"/>
              </a:lnSpc>
            </a:pPr>
            <a:r>
              <a:rPr sz="1600" b="1">
                <a:solidFill>
                  <a:srgbClr val="27AE60"/>
                </a:solidFill>
                <a:ea typeface="微软雅黑"/>
                <a:latin typeface="微软雅黑"/>
              </a:rPr>
              <a:t>【策略B：简单算术平均 → R²=0.9007 ✓】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ensemble = (RF_pred + MLP_pred) / 2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强制各50%权重 → 不同偏差模式部分抵消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R²从0.8937/0.8904提升至0.9007，整体优于部分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2080"/>
              </a:lnSpc>
            </a:pPr>
            <a:r>
              <a:rPr sz="1600" b="1">
                <a:solidFill>
                  <a:srgbClr val="E86A17"/>
                </a:solidFill>
                <a:ea typeface="微软雅黑"/>
                <a:latin typeface="微软雅黑"/>
              </a:rPr>
              <a:t>💡 基模型预测高度相关时，简单平均可能比复杂元学习更有效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2119" cy="288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sz="3200" b="1">
                <a:solidFill>
                  <a:srgbClr val="FFFFFF"/>
                </a:solidFill>
                <a:ea typeface="微软雅黑"/>
                <a:latin typeface="微软雅黑"/>
              </a:rPr>
              <a:t>04  关键发现：数据泄漏排查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12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B0BDD3"/>
                </a:solidFill>
                <a:ea typeface="微软雅黑"/>
                <a:latin typeface="微软雅黑"/>
              </a:rPr>
              <a:t>Critical Discovery — Data Leakage Detection &amp;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</a:pPr>
            <a:r>
              <a:rPr sz="1400" b="0">
                <a:solidFill>
                  <a:srgbClr val="AAAAAA"/>
                </a:solidFill>
                <a:ea typeface="微软雅黑"/>
                <a:latin typeface="微软雅黑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4000"/>
            <a:ext cx="12192119" cy="5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224000"/>
            <a:ext cx="11160000" cy="1007999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296000"/>
            <a:ext cx="1044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50"/>
              </a:lnSpc>
            </a:pPr>
            <a:r>
              <a:rPr sz="2200" b="1">
                <a:solidFill>
                  <a:srgbClr val="C0392B"/>
                </a:solidFill>
                <a:ea typeface="微软雅黑"/>
                <a:latin typeface="微软雅黑"/>
              </a:rPr>
              <a:t>⚠️  实验初期，模型 R² 一度达到 0.999 — 表面近乎完美</a:t>
            </a:r>
          </a:p>
          <a:p>
            <a:pPr algn="l">
              <a:lnSpc>
                <a:spcPts val="2000"/>
              </a:lnSpc>
            </a:pPr>
            <a:r>
              <a:rPr sz="1600" b="0">
                <a:solidFill>
                  <a:srgbClr val="1B2A4A"/>
                </a:solidFill>
                <a:ea typeface="微软雅黑"/>
                <a:latin typeface="微软雅黑"/>
              </a:rPr>
              <a:t>   特征重要性分析揭示：Global_intensity（电流）占据 99.9% 的重要性 — 这是数据泄漏的警报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2520000"/>
            <a:ext cx="5400000" cy="3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0000" y="2520000"/>
            <a:ext cx="5400000" cy="37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2574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根因分析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006000"/>
            <a:ext cx="5040000" cy="29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1">
                <a:solidFill>
                  <a:srgbClr val="1B2A4A"/>
                </a:solidFill>
                <a:ea typeface="微软雅黑"/>
                <a:latin typeface="微软雅黑"/>
              </a:rPr>
              <a:t>物理定律：P = V × I（功率 = 电压 × 电流）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法国电网中电压 V ≈ 240V（几乎恒定），因此：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Global_active_power ≈ 240 × Global_intensity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将电流作为特征 → 模型只需学会「乘以240」即得答案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这不是「预测」，而是「读取答案」— 典型的数据泄漏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950"/>
              </a:lnSpc>
            </a:pPr>
            <a:r>
              <a:rPr sz="1500" b="1">
                <a:solidFill>
                  <a:srgbClr val="C0392B"/>
                </a:solidFill>
                <a:ea typeface="微软雅黑"/>
                <a:latin typeface="微软雅黑"/>
              </a:rPr>
              <a:t>这不是模型的错，是我们的疏忽：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给了模型一个和答案线性相关的输入，然后夸它准。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2520000"/>
            <a:ext cx="5400000" cy="3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0000" y="2520000"/>
            <a:ext cx="5400000" cy="3780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0000" y="2574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修复措施 &amp; 核心教训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0" y="3006000"/>
            <a:ext cx="5040000" cy="29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1">
                <a:solidFill>
                  <a:srgbClr val="27AE60"/>
                </a:solidFill>
                <a:ea typeface="微软雅黑"/>
                <a:latin typeface="微软雅黑"/>
              </a:rPr>
              <a:t>【修复措施】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排除 Global_intensity、Global_reactive_power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修复后 R² 从 0.999 → 0.89~0.90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2210"/>
              </a:lnSpc>
            </a:pPr>
            <a:r>
              <a:rPr sz="1700" b="1">
                <a:solidFill>
                  <a:srgbClr val="E86A17"/>
                </a:solidFill>
                <a:ea typeface="微软雅黑"/>
                <a:latin typeface="微软雅黑"/>
              </a:rPr>
              <a:t>【核心教训】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① R²=0.999 不是好消息，是数据泄漏的警报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② 任一特征重要性&gt;90%时，立刻审视其与目标的关系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③ 理解数据背后的物理含义，比盲目追求高指标更重要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④ ML第一法则：不要让模型看到答案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2119" cy="288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sz="3200" b="1">
                <a:solidFill>
                  <a:srgbClr val="FFFFFF"/>
                </a:solidFill>
                <a:ea typeface="微软雅黑"/>
                <a:latin typeface="微软雅黑"/>
              </a:rPr>
              <a:t>05  实验结果：五模型性能对比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12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B0BDD3"/>
                </a:solidFill>
                <a:ea typeface="微软雅黑"/>
                <a:latin typeface="微软雅黑"/>
              </a:rPr>
              <a:t>Results — Model Performance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</a:pPr>
            <a:r>
              <a:rPr sz="1400" b="0">
                <a:solidFill>
                  <a:srgbClr val="AAAAAA"/>
                </a:solidFill>
                <a:ea typeface="微软雅黑"/>
                <a:latin typeface="微软雅黑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4000"/>
            <a:ext cx="12192119" cy="5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0000" y="1260000"/>
          <a:ext cx="10440000" cy="20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620000"/>
                <a:gridCol w="1620000"/>
                <a:gridCol w="1620000"/>
                <a:gridCol w="1800000"/>
                <a:gridCol w="1800000"/>
              </a:tblGrid>
              <a:tr h="342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ea typeface="微软雅黑"/>
                          <a:latin typeface="微软雅黑"/>
                        </a:rPr>
                        <a:t>模型 Model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ea typeface="微软雅黑"/>
                          <a:latin typeface="微软雅黑"/>
                        </a:rPr>
                        <a:t>MSE ↓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ea typeface="微软雅黑"/>
                          <a:latin typeface="微软雅黑"/>
                        </a:rPr>
                        <a:t>MAE ↓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ea typeface="微软雅黑"/>
                          <a:latin typeface="微软雅黑"/>
                        </a:rPr>
                        <a:t>RMSE ↓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ea typeface="微软雅黑"/>
                          <a:latin typeface="微软雅黑"/>
                        </a:rPr>
                        <a:t>MAPE(%) ↓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ea typeface="微软雅黑"/>
                          <a:latin typeface="微软雅黑"/>
                        </a:rPr>
                        <a:t>R² ↑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MLP-RF Avg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0.0012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0.0228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0.0347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24.60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0.9007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XGBoost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0.0013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0.0232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0.0358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23.79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0.8947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0.0013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0.0238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0.0359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25.09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0.8937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MLP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0.0013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0.0240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0.0365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26.15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0.8904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0.0051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0.0489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0.0715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53.92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2A4A"/>
                          </a:solidFill>
                          <a:ea typeface="微软雅黑"/>
                          <a:latin typeface="微软雅黑"/>
                        </a:rPr>
                        <a:t>0.5793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0000" y="3420000"/>
            <a:ext cx="2592000" cy="11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3528000"/>
            <a:ext cx="25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>
                <a:solidFill>
                  <a:srgbClr val="27AE60"/>
                </a:solidFill>
                <a:ea typeface="微软雅黑"/>
                <a:latin typeface="微软雅黑"/>
              </a:rPr>
              <a:t>0.9007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4032000"/>
            <a:ext cx="25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最佳R²
MLP-RF Avg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0000" y="3420000"/>
            <a:ext cx="2592000" cy="11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0000" y="3528000"/>
            <a:ext cx="25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>
                <a:solidFill>
                  <a:srgbClr val="2D5F8A"/>
                </a:solidFill>
                <a:ea typeface="微软雅黑"/>
                <a:latin typeface="微软雅黑"/>
              </a:rPr>
              <a:t>23.79%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0000" y="4032000"/>
            <a:ext cx="25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最佳MAPE
XGBoost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3420000"/>
            <a:ext cx="2592000" cy="11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000" y="3528000"/>
            <a:ext cx="25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>
                <a:solidFill>
                  <a:srgbClr val="27AE60"/>
                </a:solidFill>
                <a:ea typeface="微软雅黑"/>
                <a:latin typeface="微软雅黑"/>
              </a:rPr>
              <a:t>0.0012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0" y="4032000"/>
            <a:ext cx="25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最低MSE
MLP-RF Avg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0000" y="3420000"/>
            <a:ext cx="2592000" cy="11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000" y="3528000"/>
            <a:ext cx="25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>
                <a:solidFill>
                  <a:srgbClr val="E86A17"/>
                </a:solidFill>
                <a:ea typeface="微软雅黑"/>
                <a:latin typeface="微软雅黑"/>
              </a:rPr>
              <a:t>106s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000" y="4032000"/>
            <a:ext cx="25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最快训练
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4860000"/>
            <a:ext cx="111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1B2A4A"/>
                </a:solidFill>
                <a:ea typeface="微软雅黑"/>
                <a:latin typeface="微软雅黑"/>
              </a:rPr>
              <a:t>🏆 MLP-RF融合 R²=0.9007 — 简单平均超越所有单一模型，证明集成学习的价值</a:t>
            </a:r>
          </a:p>
          <a:p>
            <a:pPr algn="l">
              <a:lnSpc>
                <a:spcPts val="2080"/>
              </a:lnSpc>
            </a:pPr>
            <a:r>
              <a:rPr sz="1600" b="0">
                <a:solidFill>
                  <a:srgbClr val="1B2A4A"/>
                </a:solidFill>
                <a:ea typeface="微软雅黑"/>
                <a:latin typeface="微软雅黑"/>
              </a:rPr>
              <a:t>⚡ XGBoost MAPE=23.79% — 兼顾精度与效率(106s)，实际部署场景的最优选择</a:t>
            </a:r>
          </a:p>
          <a:p>
            <a:pPr algn="l">
              <a:lnSpc>
                <a:spcPts val="2080"/>
              </a:lnSpc>
            </a:pPr>
            <a:r>
              <a:rPr sz="1600" b="0">
                <a:solidFill>
                  <a:srgbClr val="C0392B"/>
                </a:solidFill>
                <a:ea typeface="微软雅黑"/>
                <a:latin typeface="微软雅黑"/>
              </a:rPr>
              <a:t>📉 LSTM MAPE=53.9%, R²=0.579 — 特征不对称+数据量不足，详后续分析</a:t>
            </a:r>
          </a:p>
          <a:p>
            <a:pPr algn="l">
              <a:lnSpc>
                <a:spcPts val="2080"/>
              </a:lnSpc>
            </a:pPr>
            <a:r>
              <a:rPr sz="1600" b="0">
                <a:solidFill>
                  <a:srgbClr val="555555"/>
                </a:solidFill>
                <a:ea typeface="微软雅黑"/>
                <a:latin typeface="微软雅黑"/>
              </a:rPr>
              <a:t>📊 树模型在前三占两席 — 丰富的显式特征工程是树模型领先的关键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2119" cy="288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sz="3200" b="1">
                <a:solidFill>
                  <a:srgbClr val="FFFFFF"/>
                </a:solidFill>
                <a:ea typeface="微软雅黑"/>
                <a:latin typeface="微软雅黑"/>
              </a:rPr>
              <a:t>05  预测结果可视化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12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B0BDD3"/>
                </a:solidFill>
                <a:ea typeface="微软雅黑"/>
                <a:latin typeface="微软雅黑"/>
              </a:rPr>
              <a:t>Results — Prediction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</a:pPr>
            <a:r>
              <a:rPr sz="1400" b="0">
                <a:solidFill>
                  <a:srgbClr val="AAAAAA"/>
                </a:solidFill>
                <a:ea typeface="微软雅黑"/>
                <a:latin typeface="微软雅黑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4000"/>
            <a:ext cx="12192119" cy="5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ll_models_7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1080000"/>
            <a:ext cx="6120000" cy="252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8000" y="1080000"/>
            <a:ext cx="5580000" cy="2520000"/>
          </a:xfrm>
          <a:prstGeom prst="rect">
            <a:avLst/>
          </a:prstGeom>
          <a:solidFill>
            <a:srgbClr val="F7F8FC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2000" y="1188000"/>
            <a:ext cx="5292000" cy="23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1">
                <a:solidFill>
                  <a:srgbClr val="2D5F8A"/>
                </a:solidFill>
                <a:ea typeface="微软雅黑"/>
                <a:latin typeface="微软雅黑"/>
              </a:rPr>
              <a:t>▼ 测试集前7天（168小时）预测曲线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灰色线为真实观测值，彩色线为各模型预测。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MLP-RF Avg(红线)和XGBoost(蓝线)最贴合真实曲线；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LSTM偏差明显偏大，尤其在早晚负荷高峰响应迟缓。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前4个模型均能较好地跟踪负荷的日周期波动。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一周内可观察到周末(后段)用电模式与工作日的差异。</a:t>
            </a:r>
          </a:p>
        </p:txBody>
      </p:sp>
      <p:pic>
        <p:nvPicPr>
          <p:cNvPr id="11" name="Picture 10" descr="all_models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" y="3816000"/>
            <a:ext cx="6120000" cy="25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08000" y="3816000"/>
            <a:ext cx="5580000" cy="2520000"/>
          </a:xfrm>
          <a:prstGeom prst="rect">
            <a:avLst/>
          </a:prstGeom>
          <a:solidFill>
            <a:srgbClr val="F7F8FC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2000" y="3924000"/>
            <a:ext cx="5292000" cy="23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1">
                <a:solidFill>
                  <a:srgbClr val="2D5F8A"/>
                </a:solidFill>
                <a:ea typeface="微软雅黑"/>
                <a:latin typeface="微软雅黑"/>
              </a:rPr>
              <a:t>▼ 预测值 vs 真实值散点图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每个点代表一个测试样本。横轴为真实值，纵轴为预测值。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越接近对角线y=x表示预测越准确。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树模型(RF/XGBoost)和MLP的点紧密围绕对角线；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LSTM在低值区和高值区均存在较大偏差；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MLP-RF融合的散点最为集中，与R²最高一致。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2119" cy="288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sz="3200" b="1">
                <a:solidFill>
                  <a:srgbClr val="FFFFFF"/>
                </a:solidFill>
                <a:ea typeface="微软雅黑"/>
                <a:latin typeface="微软雅黑"/>
              </a:rPr>
              <a:t>05  特征重要性分析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12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B0BDD3"/>
                </a:solidFill>
                <a:ea typeface="微软雅黑"/>
                <a:latin typeface="微软雅黑"/>
              </a:rPr>
              <a:t>Results — Feature Importance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</a:pPr>
            <a:r>
              <a:rPr sz="1400" b="0">
                <a:solidFill>
                  <a:srgbClr val="AAAAAA"/>
                </a:solidFill>
                <a:ea typeface="微软雅黑"/>
                <a:latin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4000"/>
            <a:ext cx="12192119" cy="5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224000"/>
            <a:ext cx="111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</a:pPr>
            <a:r>
              <a:rPr sz="1600" b="0">
                <a:solidFill>
                  <a:srgbClr val="555555"/>
                </a:solidFill>
                <a:ea typeface="微软雅黑"/>
                <a:latin typeface="微软雅黑"/>
              </a:rPr>
              <a:t>RF 与 XGBoost 的特征重要性排序高度一致：</a:t>
            </a:r>
          </a:p>
          <a:p>
            <a:pPr algn="l">
              <a:lnSpc>
                <a:spcPts val="154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2000" b="1">
                <a:solidFill>
                  <a:srgbClr val="C0392B"/>
                </a:solidFill>
                <a:ea typeface="微软雅黑"/>
                <a:latin typeface="微软雅黑"/>
              </a:rPr>
              <a:t>① Sub_metering_3（空调/热水器能耗）→ 重要性 ~38%  🔥</a:t>
            </a:r>
          </a:p>
          <a:p>
            <a:pPr algn="l">
              <a:lnSpc>
                <a:spcPts val="154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  空调是家庭电力负荷的最强驱动因素 — 分项计量数据是预测的核心信号</a:t>
            </a:r>
          </a:p>
          <a:p>
            <a:pPr algn="l">
              <a:lnSpc>
                <a:spcPts val="154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2000" b="1">
                <a:solidFill>
                  <a:srgbClr val="2D5F8A"/>
                </a:solidFill>
                <a:ea typeface="微软雅黑"/>
                <a:latin typeface="微软雅黑"/>
              </a:rPr>
              <a:t>② lag1h（前一小时负荷）→ 重要性 ~12-21%</a:t>
            </a:r>
          </a:p>
          <a:p>
            <a:pPr algn="l">
              <a:lnSpc>
                <a:spcPts val="154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  电力负荷具有强时序自相关性 — 最近时刻的负荷是最直接的预测信息</a:t>
            </a:r>
          </a:p>
          <a:p>
            <a:pPr algn="l">
              <a:lnSpc>
                <a:spcPts val="154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2000" b="1">
                <a:solidFill>
                  <a:srgbClr val="2D5F8A"/>
                </a:solidFill>
                <a:ea typeface="微软雅黑"/>
                <a:latin typeface="微软雅黑"/>
              </a:rPr>
              <a:t>③ Sub_metering_1 + Sub_metering_2（厨房+洗衣间）→ 合计约 20%</a:t>
            </a:r>
          </a:p>
          <a:p>
            <a:pPr algn="l">
              <a:lnSpc>
                <a:spcPts val="154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  特定电器使用模式（做饭时间、洗衣时间）提供了额外预测信号</a:t>
            </a:r>
          </a:p>
          <a:p>
            <a:pPr algn="l">
              <a:lnSpc>
                <a:spcPts val="154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980"/>
              </a:lnSpc>
            </a:pPr>
            <a:r>
              <a:rPr sz="1800" b="1">
                <a:solidFill>
                  <a:srgbClr val="555555"/>
                </a:solidFill>
                <a:ea typeface="微软雅黑"/>
                <a:latin typeface="微软雅黑"/>
              </a:rPr>
              <a:t>④ 时间循环特征（hour_sin/cos, month_cos）→ 合计约 5%</a:t>
            </a:r>
          </a:p>
          <a:p>
            <a:pPr algn="l">
              <a:lnSpc>
                <a:spcPts val="154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  日周期和年周期特征为模型提供时间上下文信息</a:t>
            </a:r>
          </a:p>
          <a:p>
            <a:pPr algn="l">
              <a:lnSpc>
                <a:spcPts val="154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980"/>
              </a:lnSpc>
            </a:pPr>
            <a:r>
              <a:rPr sz="1800" b="1">
                <a:solidFill>
                  <a:srgbClr val="555555"/>
                </a:solidFill>
                <a:ea typeface="微软雅黑"/>
                <a:latin typeface="微软雅黑"/>
              </a:rPr>
              <a:t>⑤ Voltage（电压）→ 2-3%</a:t>
            </a:r>
          </a:p>
          <a:p>
            <a:pPr algn="l">
              <a:lnSpc>
                <a:spcPts val="154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  电网电压的微小波动也包含一定的预测信息</a:t>
            </a:r>
          </a:p>
          <a:p>
            <a:pPr algn="l">
              <a:lnSpc>
                <a:spcPts val="154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980"/>
              </a:lnSpc>
            </a:pPr>
            <a:r>
              <a:rPr sz="1800" b="1">
                <a:solidFill>
                  <a:srgbClr val="E86A17"/>
                </a:solidFill>
                <a:ea typeface="微软雅黑"/>
                <a:latin typeface="微软雅黑"/>
              </a:rPr>
              <a:t>💡 结论：显式特征工程（滞后+滚动+循环编码）直接编码了时序依赖，是树模型领先的关键。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2119" cy="288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sz="3200" b="1">
                <a:solidFill>
                  <a:srgbClr val="FFFFFF"/>
                </a:solidFill>
                <a:ea typeface="微软雅黑"/>
                <a:latin typeface="微软雅黑"/>
              </a:rPr>
              <a:t>05  深度分析：LSTM为何表现不佳？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12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B0BDD3"/>
                </a:solidFill>
                <a:ea typeface="微软雅黑"/>
                <a:latin typeface="微软雅黑"/>
              </a:rPr>
              <a:t>Analysis — Why LSTM Underperformed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</a:pPr>
            <a:r>
              <a:rPr sz="1400" b="0">
                <a:solidFill>
                  <a:srgbClr val="AAAAAA"/>
                </a:solidFill>
                <a:ea typeface="微软雅黑"/>
                <a:latin typeface="微软雅黑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4000"/>
            <a:ext cx="12192119" cy="5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260000"/>
            <a:ext cx="11160000" cy="15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1260000"/>
            <a:ext cx="11160000" cy="37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314000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❶ 特征不对称（最核心原因）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746000"/>
            <a:ext cx="1080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• LSTM：仅使用10维原始特征序列（含自回归项）</a:t>
            </a:r>
          </a:p>
          <a:p>
            <a:pPr algn="l">
              <a:lnSpc>
                <a:spcPts val="19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• RF/XGBoost：获得30维显式工程特征（6滞后+12滚动+8时间−2泄漏）</a:t>
            </a:r>
          </a:p>
          <a:p>
            <a:pPr algn="l">
              <a:lnSpc>
                <a:spcPts val="19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• LSTM需要从序列中「隐式学习」这些模式 → 对模型容量和数据量要求远超树模型</a:t>
            </a:r>
          </a:p>
          <a:p>
            <a:pPr algn="l">
              <a:lnSpc>
                <a:spcPts val="19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• 这是我们实验设计的短板：为树模型做了充分特征工程，却未给LSTM同等待遇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2988000"/>
            <a:ext cx="11160000" cy="15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0000" y="2988000"/>
            <a:ext cx="11160000" cy="3780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3042000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❷ 数据量不足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474000"/>
            <a:ext cx="1080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• ~29K训练样本 对 3层 LSTM（~200K参数）偏少</a:t>
            </a:r>
          </a:p>
          <a:p>
            <a:pPr algn="l">
              <a:lnSpc>
                <a:spcPts val="19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• 基于树的集成方法在小样本场景下天然具有结构上的先验优势</a:t>
            </a:r>
          </a:p>
          <a:p>
            <a:pPr algn="l">
              <a:lnSpc>
                <a:spcPts val="19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• 深度学习通常需要更大规模数据才能发挥表示学习能力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4716000"/>
            <a:ext cx="11160000" cy="15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0000" y="4716000"/>
            <a:ext cx="11160000" cy="37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" y="4770000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❸ 任务特性决定了模型选择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5202000"/>
            <a:ext cx="1080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• 对于已完成充分特征工程的表格化时序预测，梯度提升树（XGBoost）是更优选择</a:t>
            </a:r>
          </a:p>
          <a:p>
            <a:pPr algn="l">
              <a:lnSpc>
                <a:spcPts val="195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• LSTM的优势场景：原始长序列、强非线性多变量交互、大规模数据端到端学习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2119" cy="288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sz="3200" b="1">
                <a:solidFill>
                  <a:srgbClr val="FFFFFF"/>
                </a:solidFill>
                <a:ea typeface="微软雅黑"/>
                <a:latin typeface="微软雅黑"/>
              </a:rPr>
              <a:t>05  更多可视化分析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12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B0BDD3"/>
                </a:solidFill>
                <a:ea typeface="微软雅黑"/>
                <a:latin typeface="微软雅黑"/>
              </a:rPr>
              <a:t>Additional Visualizations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</a:pPr>
            <a:r>
              <a:rPr sz="1400" b="0">
                <a:solidFill>
                  <a:srgbClr val="AAAAAA"/>
                </a:solidFill>
                <a:ea typeface="微软雅黑"/>
                <a:latin typeface="微软雅黑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4000"/>
            <a:ext cx="12192119" cy="5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da_pow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1080000"/>
            <a:ext cx="5580000" cy="234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0000" y="1080000"/>
            <a:ext cx="6120000" cy="2340000"/>
          </a:xfrm>
          <a:prstGeom prst="rect">
            <a:avLst/>
          </a:prstGeom>
          <a:solidFill>
            <a:srgbClr val="F7F8FC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4000" y="1188000"/>
            <a:ext cx="5832000" cy="21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1">
                <a:solidFill>
                  <a:srgbClr val="2D5F8A"/>
                </a:solidFill>
                <a:ea typeface="微软雅黑"/>
                <a:latin typeface="微软雅黑"/>
              </a:rPr>
              <a:t>▼ 功率变化热力图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以日期为行、小时为列，颜色深浅表示功率大小。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白天10:00-18:00功率显著高于夜间；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午间和傍晚出现两个用电高峰（做饭与回家后）。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周末用电模式与工作日明显不同。</a:t>
            </a:r>
          </a:p>
        </p:txBody>
      </p:sp>
      <p:pic>
        <p:nvPicPr>
          <p:cNvPr id="11" name="Picture 10" descr="rf_xgb_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" y="3671999"/>
            <a:ext cx="5580000" cy="234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0000" y="3671999"/>
            <a:ext cx="6120000" cy="2340000"/>
          </a:xfrm>
          <a:prstGeom prst="rect">
            <a:avLst/>
          </a:prstGeom>
          <a:solidFill>
            <a:srgbClr val="F7F8FC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4000" y="3779999"/>
            <a:ext cx="5832000" cy="21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1">
                <a:solidFill>
                  <a:srgbClr val="2D5F8A"/>
                </a:solidFill>
                <a:ea typeface="微软雅黑"/>
                <a:latin typeface="微软雅黑"/>
              </a:rPr>
              <a:t>▼ RF与XGBoost残差分布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残差=真实值−预测值，理想情况应呈正态分布、以零为中心。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两个模型的残差均近似正态、均值≈0，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说明不存在系统性偏差（不会系统性地高估或低估）。</a:t>
            </a:r>
          </a:p>
          <a:p>
            <a:pPr algn="l">
              <a:lnSpc>
                <a:spcPts val="1690"/>
              </a:lnSpc>
            </a:pPr>
            <a:r>
              <a:rPr sz="1300" b="0">
                <a:solidFill>
                  <a:srgbClr val="555555"/>
                </a:solidFill>
                <a:ea typeface="微软雅黑"/>
                <a:latin typeface="微软雅黑"/>
              </a:rPr>
              <a:t>XGBoost残差分布略窄于RF，与MAPE更低一致。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2119" cy="288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sz="3200" b="1">
                <a:solidFill>
                  <a:srgbClr val="FFFFFF"/>
                </a:solidFill>
                <a:ea typeface="微软雅黑"/>
                <a:latin typeface="微软雅黑"/>
              </a:rPr>
              <a:t>05  融合策略深度对比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12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B0BDD3"/>
                </a:solidFill>
                <a:ea typeface="微软雅黑"/>
                <a:latin typeface="微软雅黑"/>
              </a:rPr>
              <a:t>Ensemble Strategy — Stacking vs. Simple Average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</a:pPr>
            <a:r>
              <a:rPr sz="1400" b="0">
                <a:solidFill>
                  <a:srgbClr val="AAAAAA"/>
                </a:solidFill>
                <a:ea typeface="微软雅黑"/>
                <a:latin typeface="微软雅黑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4000"/>
            <a:ext cx="12192119" cy="5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260000"/>
            <a:ext cx="5400000" cy="4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1260000"/>
            <a:ext cx="5400000" cy="37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314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Ridge Stacking（元学习融合）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746000"/>
            <a:ext cx="5040000" cy="40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rgbClr val="C0392B"/>
                </a:solidFill>
                <a:ea typeface="微软雅黑"/>
                <a:latin typeface="微软雅黑"/>
              </a:rPr>
              <a:t>R² = 0.8905 — 不如单独使用 RF (0.8937)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【为什么失败？】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· Ridge元学习器给MLP的权重≈-0.07（≈零）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· 融合退化为几乎只使用RF，失去集成意义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· RF和MLP在测试集上的预测相关系数ρ&gt;0.95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· 两个模型输出高度共线 → 元学习器无信息可整合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【本质】Stacking假设基模型提供「互补视角」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基模型过于相似时，Stacking反而有害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260000"/>
            <a:ext cx="5400000" cy="4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0000" y="1260000"/>
            <a:ext cx="5400000" cy="37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0" y="1314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简单算术平均 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0" y="1746000"/>
            <a:ext cx="5040000" cy="40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rgbClr val="27AE60"/>
                </a:solidFill>
                <a:ea typeface="微软雅黑"/>
                <a:latin typeface="微软雅黑"/>
              </a:rPr>
              <a:t>R² = 0.9007 — 超越所有单一模型！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ensemble = (RF_pred + MLP_pred) / 2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【为什么更有效？】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· 强制给两个模型各50%权重，不做偏好选择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· RF和MLP偏差模式不完全重合 → 50/50平均使误差部分抵消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· 实现了真正的「集成学习」— 整体优于部分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2340"/>
              </a:lnSpc>
            </a:pPr>
            <a:r>
              <a:rPr sz="1800" b="1">
                <a:solidFill>
                  <a:srgbClr val="E86A17"/>
                </a:solidFill>
                <a:ea typeface="微软雅黑"/>
                <a:latin typeface="微软雅黑"/>
              </a:rPr>
              <a:t>💡 核心启示：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当基学习器输出高度相关时，复杂元学习可能事与愿违。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简单平均因强制均分权重而获得更好的泛化效果。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「简单」有时比「复杂」更有效。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8000" y="3060000"/>
            <a:ext cx="9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</a:pPr>
            <a:r>
              <a:rPr sz="4000" b="1">
                <a:solidFill>
                  <a:srgbClr val="AAAAAA"/>
                </a:solidFill>
                <a:ea typeface="微软雅黑"/>
                <a:latin typeface="微软雅黑"/>
              </a:rPr>
              <a:t>vs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2119" cy="288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sz="3200" b="1">
                <a:solidFill>
                  <a:srgbClr val="FFFFFF"/>
                </a:solidFill>
                <a:ea typeface="微软雅黑"/>
                <a:latin typeface="微软雅黑"/>
              </a:rPr>
              <a:t>06  实验总结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12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B0BDD3"/>
                </a:solidFill>
                <a:ea typeface="微软雅黑"/>
                <a:latin typeface="微软雅黑"/>
              </a:rPr>
              <a:t>Summary &amp; Key 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</a:pPr>
            <a:r>
              <a:rPr sz="1400" b="0">
                <a:solidFill>
                  <a:srgbClr val="AAAAAA"/>
                </a:solidFill>
                <a:ea typeface="微软雅黑"/>
                <a:latin typeface="微软雅黑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4000"/>
            <a:ext cx="12192119" cy="5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0000" y="1242000"/>
            <a:ext cx="396000" cy="396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278000"/>
            <a:ext cx="3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ea typeface="微软雅黑"/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8000" y="120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</a:pPr>
            <a:r>
              <a:rPr sz="2200" b="1">
                <a:solidFill>
                  <a:srgbClr val="27AE60"/>
                </a:solidFill>
                <a:ea typeface="微软雅黑"/>
                <a:latin typeface="微软雅黑"/>
              </a:rPr>
              <a:t>XGBoost — 实际部署首选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8000" y="1584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MAPE=23.8%, 训练仅106s, 精度与效率的最佳平衡点</a:t>
            </a:r>
          </a:p>
        </p:txBody>
      </p:sp>
      <p:sp>
        <p:nvSpPr>
          <p:cNvPr id="12" name="Oval 11"/>
          <p:cNvSpPr/>
          <p:nvPr/>
        </p:nvSpPr>
        <p:spPr>
          <a:xfrm>
            <a:off x="720000" y="2142000"/>
            <a:ext cx="396000" cy="396000"/>
          </a:xfrm>
          <a:prstGeom prst="ellipse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178000"/>
            <a:ext cx="3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ea typeface="微软雅黑"/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8000" y="210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</a:pPr>
            <a:r>
              <a:rPr sz="2200" b="1">
                <a:solidFill>
                  <a:srgbClr val="2D5F8A"/>
                </a:solidFill>
                <a:ea typeface="微软雅黑"/>
                <a:latin typeface="微软雅黑"/>
              </a:rPr>
              <a:t>MLP-RF融合 — 最高R² (0.9007)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8000" y="2484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简单平均超越所有单一模型, 证明集成学习的核心价值</a:t>
            </a:r>
          </a:p>
        </p:txBody>
      </p:sp>
      <p:sp>
        <p:nvSpPr>
          <p:cNvPr id="16" name="Oval 15"/>
          <p:cNvSpPr/>
          <p:nvPr/>
        </p:nvSpPr>
        <p:spPr>
          <a:xfrm>
            <a:off x="720000" y="3042000"/>
            <a:ext cx="396000" cy="396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3078000"/>
            <a:ext cx="3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ea typeface="微软雅黑"/>
                <a:latin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8000" y="300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</a:pPr>
            <a:r>
              <a:rPr sz="2200" b="1">
                <a:solidFill>
                  <a:srgbClr val="C0392B"/>
                </a:solidFill>
                <a:ea typeface="微软雅黑"/>
                <a:latin typeface="微软雅黑"/>
              </a:rPr>
              <a:t>数据泄漏 — 最有价值的教训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8000" y="3384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R²=0.999 不是庆祝而是警报, 物理理解 &gt; 高指标</a:t>
            </a:r>
          </a:p>
        </p:txBody>
      </p:sp>
      <p:sp>
        <p:nvSpPr>
          <p:cNvPr id="20" name="Oval 19"/>
          <p:cNvSpPr/>
          <p:nvPr/>
        </p:nvSpPr>
        <p:spPr>
          <a:xfrm>
            <a:off x="720000" y="3942000"/>
            <a:ext cx="396000" cy="396000"/>
          </a:xfrm>
          <a:prstGeom prst="ellipse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3978000"/>
            <a:ext cx="3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ea typeface="微软雅黑"/>
                <a:latin typeface="微软雅黑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8000" y="390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</a:pPr>
            <a:r>
              <a:rPr sz="2200" b="1">
                <a:solidFill>
                  <a:srgbClr val="E86A17"/>
                </a:solidFill>
                <a:ea typeface="微软雅黑"/>
                <a:latin typeface="微软雅黑"/>
              </a:rPr>
              <a:t>特征工程 — 性能上限的决定因素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68000" y="4284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Sub_metering_3(~38%) + lag1h(~21%) 是最强预测信号</a:t>
            </a:r>
          </a:p>
        </p:txBody>
      </p:sp>
      <p:sp>
        <p:nvSpPr>
          <p:cNvPr id="24" name="Oval 23"/>
          <p:cNvSpPr/>
          <p:nvPr/>
        </p:nvSpPr>
        <p:spPr>
          <a:xfrm>
            <a:off x="720000" y="4842000"/>
            <a:ext cx="396000" cy="3960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000" y="4878000"/>
            <a:ext cx="3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ea typeface="微软雅黑"/>
                <a:latin typeface="微软雅黑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68000" y="480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</a:pPr>
            <a:r>
              <a:rPr sz="2200" b="1">
                <a:solidFill>
                  <a:srgbClr val="8E44AD"/>
                </a:solidFill>
                <a:ea typeface="微软雅黑"/>
                <a:latin typeface="微软雅黑"/>
              </a:rPr>
              <a:t>LSTM — 深度学习并非万能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68000" y="5184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特征不对称+数据不足→MAPE=54%, 工具需匹配场景</a:t>
            </a:r>
          </a:p>
        </p:txBody>
      </p:sp>
      <p:sp>
        <p:nvSpPr>
          <p:cNvPr id="28" name="Oval 27"/>
          <p:cNvSpPr/>
          <p:nvPr/>
        </p:nvSpPr>
        <p:spPr>
          <a:xfrm>
            <a:off x="720000" y="5742000"/>
            <a:ext cx="396000" cy="396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000" y="5778000"/>
            <a:ext cx="3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ea typeface="微软雅黑"/>
                <a:latin typeface="微软雅黑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68000" y="570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</a:pPr>
            <a:r>
              <a:rPr sz="2200" b="1">
                <a:solidFill>
                  <a:srgbClr val="555555"/>
                </a:solidFill>
                <a:ea typeface="微软雅黑"/>
                <a:latin typeface="微软雅黑"/>
              </a:rPr>
              <a:t>简单平均 &gt; Stacking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68000" y="6084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555555"/>
                </a:solidFill>
                <a:ea typeface="微软雅黑"/>
                <a:latin typeface="微软雅黑"/>
              </a:rPr>
              <a:t>基学习器高度相关时, 简单集成策略可能更有效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7999"/>
            <a:ext cx="12192119" cy="288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sz="3200" b="1">
                <a:solidFill>
                  <a:srgbClr val="FFFFFF"/>
                </a:solidFill>
                <a:ea typeface="微软雅黑"/>
                <a:latin typeface="微软雅黑"/>
              </a:rPr>
              <a:t>06  不足与展望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12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>
                <a:solidFill>
                  <a:srgbClr val="B0BDD3"/>
                </a:solidFill>
                <a:ea typeface="微软雅黑"/>
                <a:latin typeface="微软雅黑"/>
              </a:rPr>
              <a:t>Limitations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40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</a:pPr>
            <a:r>
              <a:rPr sz="1400" b="0">
                <a:solidFill>
                  <a:srgbClr val="AAAAAA"/>
                </a:solidFill>
                <a:ea typeface="微软雅黑"/>
                <a:latin typeface="微软雅黑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4000"/>
            <a:ext cx="12192119" cy="54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224000"/>
            <a:ext cx="5400000" cy="4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1224000"/>
            <a:ext cx="5400000" cy="37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278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当前不足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710000"/>
            <a:ext cx="5040000" cy="42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• LSTM特征不对称：未平等对待深度模型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• 样本量有限：~29K条对深度模型偏少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• 超参搜索粗糙：仅15-20轮RandomizedSearch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• 未引入外部特征：气象数据（温度/湿度）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  → 温度是空调负荷最直接的驱动因素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• 未尝试Transformer、Informer等新架构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• 仅做单步预测（1h ahead），非多步预测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• 未量化预测不确定性（仅点估计）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224000"/>
            <a:ext cx="5400000" cy="4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0000" y="1224000"/>
            <a:ext cx="5400000" cy="37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0" y="1278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b="1">
                <a:solidFill>
                  <a:srgbClr val="FFFFFF"/>
                </a:solidFill>
                <a:ea typeface="微软雅黑"/>
                <a:latin typeface="微软雅黑"/>
              </a:rPr>
              <a:t>改进方向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0" y="1710000"/>
            <a:ext cx="5040000" cy="42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① 公平实验：为所有模型提供相同特征集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② 引入气象数据：温度、湿度是空调负荷核心驱动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③ 尝试新架构：Transformer/Informer/TimesFM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④ 系统超参优化：Optuna/Bayesian Optimization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⑤ 多步预测：从1步→24步，真正日负荷预测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⑥ 不确定性量化：预测区间而非仅点估计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/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555555"/>
                </a:solidFill>
                <a:ea typeface="微软雅黑"/>
                <a:latin typeface="微软雅黑"/>
              </a:rPr>
              <a:t>⑦ 更大规模数据：使用多年多用户数据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0000" y="-1080000"/>
            <a:ext cx="5760000" cy="5760000"/>
          </a:xfrm>
          <a:prstGeom prst="ellipse">
            <a:avLst/>
          </a:prstGeom>
          <a:solidFill>
            <a:srgbClr val="243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00000" y="2880000"/>
            <a:ext cx="3600000" cy="3600000"/>
          </a:xfrm>
          <a:prstGeom prst="ellipse">
            <a:avLst/>
          </a:prstGeom>
          <a:solidFill>
            <a:srgbClr val="243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0000" y="4680000"/>
            <a:ext cx="2160000" cy="252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440000"/>
            <a:ext cx="104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720"/>
              </a:lnSpc>
            </a:pPr>
            <a:r>
              <a:rPr sz="5600" b="1">
                <a:solidFill>
                  <a:srgbClr val="FFFFFF"/>
                </a:solidFill>
                <a:ea typeface="微软雅黑"/>
                <a:latin typeface="微软雅黑"/>
              </a:rPr>
              <a:t>感谢聆听！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880000"/>
            <a:ext cx="10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0">
                <a:solidFill>
                  <a:srgbClr val="B0BDD3"/>
                </a:solidFill>
                <a:ea typeface="微软雅黑"/>
                <a:latin typeface="微软雅黑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88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0">
                <a:solidFill>
                  <a:srgbClr val="AAAAAA"/>
                </a:solidFill>
                <a:ea typeface="微软雅黑"/>
                <a:latin typeface="微软雅黑"/>
              </a:rPr>
              <a:t>空调用电负荷预测 — 基于多算法对比的时间序列预测实验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5220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</a:pPr>
            <a:r>
              <a:rPr sz="1600" b="0">
                <a:solidFill>
                  <a:srgbClr val="AAAAAA"/>
                </a:solidFill>
                <a:ea typeface="微软雅黑"/>
                <a:latin typeface="微软雅黑"/>
              </a:rPr>
              <a:t>汇报人：黄翰林  |  重庆大学 大数据与软件学院  |  数据挖掘实验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5760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E86A17"/>
                </a:solidFill>
                <a:ea typeface="微软雅黑"/>
                <a:latin typeface="微软雅黑"/>
              </a:rPr>
              <a:t>欢迎提问与交流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