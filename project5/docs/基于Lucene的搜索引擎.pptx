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9" r:id="rId3"/>
    <p:sldId id="296" r:id="rId5"/>
    <p:sldId id="297" r:id="rId6"/>
    <p:sldId id="367" r:id="rId7"/>
    <p:sldId id="368" r:id="rId8"/>
    <p:sldId id="369" r:id="rId9"/>
    <p:sldId id="375" r:id="rId10"/>
    <p:sldId id="376" r:id="rId11"/>
    <p:sldId id="377" r:id="rId12"/>
    <p:sldId id="379" r:id="rId13"/>
    <p:sldId id="380" r:id="rId14"/>
    <p:sldId id="381" r:id="rId15"/>
    <p:sldId id="382" r:id="rId16"/>
    <p:sldId id="372" r:id="rId17"/>
    <p:sldId id="373" r:id="rId18"/>
    <p:sldId id="374" r:id="rId19"/>
    <p:sldId id="384" r:id="rId20"/>
    <p:sldId id="385" r:id="rId21"/>
    <p:sldId id="386" r:id="rId22"/>
    <p:sldId id="387" r:id="rId23"/>
    <p:sldId id="388" r:id="rId24"/>
    <p:sldId id="389" r:id="rId25"/>
    <p:sldId id="390" r:id="rId26"/>
    <p:sldId id="391" r:id="rId27"/>
    <p:sldId id="393" r:id="rId28"/>
    <p:sldId id="370" r:id="rId29"/>
    <p:sldId id="371" r:id="rId30"/>
    <p:sldId id="383" r:id="rId31"/>
    <p:sldId id="394" r:id="rId32"/>
    <p:sldId id="395" r:id="rId33"/>
    <p:sldId id="396" r:id="rId34"/>
    <p:sldId id="397" r:id="rId35"/>
    <p:sldId id="398" r:id="rId36"/>
    <p:sldId id="399" r:id="rId37"/>
    <p:sldId id="400" r:id="rId38"/>
    <p:sldId id="401" r:id="rId39"/>
    <p:sldId id="402" r:id="rId40"/>
    <p:sldId id="403" r:id="rId41"/>
    <p:sldId id="404" r:id="rId42"/>
    <p:sldId id="405" r:id="rId43"/>
    <p:sldId id="406" r:id="rId44"/>
    <p:sldId id="407" r:id="rId45"/>
    <p:sldId id="408" r:id="rId46"/>
    <p:sldId id="409" r:id="rId47"/>
    <p:sldId id="411" r:id="rId48"/>
    <p:sldId id="410" r:id="rId49"/>
    <p:sldId id="412" r:id="rId50"/>
    <p:sldId id="413" r:id="rId51"/>
    <p:sldId id="417" r:id="rId52"/>
    <p:sldId id="418" r:id="rId53"/>
    <p:sldId id="419" r:id="rId54"/>
    <p:sldId id="421" r:id="rId55"/>
    <p:sldId id="420"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75" d="100"/>
          <a:sy n="75" d="100"/>
        </p:scale>
        <p:origin x="1384" y="4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37AA4-D22D-400E-88F0-4C37988B8D8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87DFFA-5702-4A77-B7AE-3467A9BD391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59A00BE-61F2-4F04-80FF-5D1FD96BB20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F39C4-2D29-4A34-B56D-5247CD5CCD10}"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59A00BE-61F2-4F04-80FF-5D1FD96BB2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0A9C922-CDD9-4424-9D08-D527A8B55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31A83F-C9D1-4D71-9E4B-658B85915C8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A9C922-CDD9-4424-9D08-D527A8B5594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31A83F-C9D1-4D71-9E4B-658B85915C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7.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7.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7.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7.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7.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7.xml"/><Relationship Id="rId4" Type="http://schemas.openxmlformats.org/officeDocument/2006/relationships/image" Target="../media/image40.png"/><Relationship Id="rId3"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7.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7.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7.xml"/><Relationship Id="rId3" Type="http://schemas.openxmlformats.org/officeDocument/2006/relationships/image" Target="../media/image45.png"/><Relationship Id="rId2" Type="http://schemas.openxmlformats.org/officeDocument/2006/relationships/image" Target="../media/image4.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7.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7.xml"/><Relationship Id="rId4" Type="http://schemas.openxmlformats.org/officeDocument/2006/relationships/hyperlink" Target="https://github.com/search?q=elasticsearch&amp;type=repositories" TargetMode="External"/><Relationship Id="rId3" Type="http://schemas.openxmlformats.org/officeDocument/2006/relationships/hyperlink" Target="https://github.com/medcl/elasticsearch-analysis-ik" TargetMode="External"/><Relationship Id="rId2" Type="http://schemas.openxmlformats.org/officeDocument/2006/relationships/hyperlink" Target="https://github.com/mobz/elasticsearch-head" TargetMode="Externa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3949700"/>
            <a:ext cx="12192000" cy="787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97D"/>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2695" r="20764" b="31018"/>
          <a:stretch>
            <a:fillRect/>
          </a:stretch>
        </p:blipFill>
        <p:spPr>
          <a:xfrm>
            <a:off x="5147607" y="1295400"/>
            <a:ext cx="7044036" cy="3314700"/>
          </a:xfrm>
          <a:prstGeom prst="rect">
            <a:avLst/>
          </a:prstGeom>
        </p:spPr>
      </p:pic>
      <p:sp>
        <p:nvSpPr>
          <p:cNvPr id="6" name="矩形 5"/>
          <p:cNvSpPr/>
          <p:nvPr/>
        </p:nvSpPr>
        <p:spPr>
          <a:xfrm>
            <a:off x="1" y="1295400"/>
            <a:ext cx="12191999" cy="3314700"/>
          </a:xfrm>
          <a:prstGeom prst="rect">
            <a:avLst/>
          </a:prstGeom>
          <a:gradFill>
            <a:gsLst>
              <a:gs pos="67000">
                <a:srgbClr val="0F5097"/>
              </a:gs>
              <a:gs pos="0">
                <a:srgbClr val="0F5097"/>
              </a:gs>
              <a:gs pos="38000">
                <a:srgbClr val="0F5097"/>
              </a:gs>
              <a:gs pos="100000">
                <a:srgbClr val="0F5097">
                  <a:alpha val="6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97D"/>
              </a:solidFill>
              <a:latin typeface="Times New Roman" panose="02020603050405020304" pitchFamily="18" charset="0"/>
              <a:cs typeface="Times New Roman" panose="02020603050405020304" pitchFamily="18" charset="0"/>
            </a:endParaRPr>
          </a:p>
        </p:txBody>
      </p:sp>
      <p:sp>
        <p:nvSpPr>
          <p:cNvPr id="14" name="矩形 7"/>
          <p:cNvSpPr>
            <a:spLocks noChangeArrowheads="1"/>
          </p:cNvSpPr>
          <p:nvPr/>
        </p:nvSpPr>
        <p:spPr bwMode="auto">
          <a:xfrm>
            <a:off x="7165" y="2207883"/>
            <a:ext cx="12192000" cy="879215"/>
          </a:xfrm>
          <a:prstGeom prst="rect">
            <a:avLst/>
          </a:prstGeom>
          <a:noFill/>
          <a:ln>
            <a:noFill/>
          </a:ln>
          <a:effectLst>
            <a:outerShdw blurRad="50800" dist="38100" dir="2700000" algn="tl" rotWithShape="0">
              <a:prstClr val="black">
                <a:alpha val="2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lnSpc>
                <a:spcPct val="110000"/>
              </a:lnSpc>
              <a:spcBef>
                <a:spcPct val="0"/>
              </a:spcBef>
              <a:spcAft>
                <a:spcPct val="0"/>
              </a:spcAft>
              <a:defRPr/>
            </a:pPr>
            <a:r>
              <a:rPr lang="zh-CN" altLang="en-US" sz="50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数据挖掘</a:t>
            </a:r>
            <a:r>
              <a:rPr lang="en-US" altLang="zh-CN" sz="50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50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架构一个搜索引擎</a:t>
            </a:r>
            <a:endParaRPr lang="zh-CN" altLang="en-US" sz="42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TextBox 11"/>
          <p:cNvSpPr txBox="1"/>
          <p:nvPr/>
        </p:nvSpPr>
        <p:spPr>
          <a:xfrm>
            <a:off x="7165" y="6211300"/>
            <a:ext cx="12192000" cy="570865"/>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155700" marR="12700" indent="-1143635" algn="ctr">
              <a:lnSpc>
                <a:spcPct val="130000"/>
              </a:lnSpc>
              <a:spcAft>
                <a:spcPts val="600"/>
              </a:spcAft>
            </a:pPr>
            <a:r>
              <a:rPr lang="en-US" altLang="zh-CN" sz="2400"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2026</a:t>
            </a:r>
            <a:r>
              <a:rPr lang="zh-CN" altLang="en-US" sz="2400"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年春季</a:t>
            </a:r>
            <a:endParaRPr lang="zh-CN" altLang="en-US" sz="2400"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TextBox 11"/>
          <p:cNvSpPr txBox="1"/>
          <p:nvPr/>
        </p:nvSpPr>
        <p:spPr>
          <a:xfrm>
            <a:off x="0" y="4944514"/>
            <a:ext cx="12192000" cy="6701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155700" marR="12700" indent="-1143635" algn="ctr">
              <a:lnSpc>
                <a:spcPct val="130000"/>
              </a:lnSpc>
              <a:spcAft>
                <a:spcPts val="600"/>
              </a:spcAft>
            </a:pP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周  魏</a:t>
            </a:r>
            <a:endPar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3" name="文本框 2"/>
          <p:cNvSpPr txBox="1"/>
          <p:nvPr/>
        </p:nvSpPr>
        <p:spPr>
          <a:xfrm>
            <a:off x="7165" y="5624943"/>
            <a:ext cx="1217767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zhouwei@cqu.edu.cn</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数据挖掘</a:t>
            </a: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基于</a:t>
            </a: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26113" y="756000"/>
            <a:ext cx="10581815" cy="4571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椭圆 16"/>
          <p:cNvSpPr/>
          <p:nvPr/>
        </p:nvSpPr>
        <p:spPr>
          <a:xfrm>
            <a:off x="3076292" y="1412225"/>
            <a:ext cx="504000" cy="50400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椭圆 20"/>
          <p:cNvSpPr/>
          <p:nvPr/>
        </p:nvSpPr>
        <p:spPr>
          <a:xfrm>
            <a:off x="3147497" y="1483429"/>
            <a:ext cx="360000" cy="36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 name="直接连接符 4"/>
          <p:cNvCxnSpPr/>
          <p:nvPr/>
        </p:nvCxnSpPr>
        <p:spPr>
          <a:xfrm>
            <a:off x="3497742" y="1843429"/>
            <a:ext cx="5220984" cy="0"/>
          </a:xfrm>
          <a:prstGeom prst="line">
            <a:avLst/>
          </a:prstGeom>
          <a:ln w="1905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8697296" y="1785896"/>
            <a:ext cx="115200" cy="1152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33" name="组合 32"/>
          <p:cNvGrpSpPr/>
          <p:nvPr/>
        </p:nvGrpSpPr>
        <p:grpSpPr>
          <a:xfrm>
            <a:off x="3076292" y="2323817"/>
            <a:ext cx="5736204" cy="504000"/>
            <a:chOff x="2879266" y="1465565"/>
            <a:chExt cx="5736204" cy="504000"/>
          </a:xfrm>
        </p:grpSpPr>
        <p:sp>
          <p:nvSpPr>
            <p:cNvPr id="34" name="椭圆 33"/>
            <p:cNvSpPr/>
            <p:nvPr/>
          </p:nvSpPr>
          <p:spPr>
            <a:xfrm>
              <a:off x="2879266" y="1465565"/>
              <a:ext cx="504000" cy="50400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5" name="椭圆 34"/>
            <p:cNvSpPr/>
            <p:nvPr/>
          </p:nvSpPr>
          <p:spPr>
            <a:xfrm>
              <a:off x="2950471" y="1536769"/>
              <a:ext cx="360000" cy="36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36" name="直接连接符 35"/>
            <p:cNvCxnSpPr/>
            <p:nvPr/>
          </p:nvCxnSpPr>
          <p:spPr>
            <a:xfrm>
              <a:off x="3300716" y="1896769"/>
              <a:ext cx="5220984" cy="0"/>
            </a:xfrm>
            <a:prstGeom prst="line">
              <a:avLst/>
            </a:prstGeom>
            <a:ln w="1905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8500270" y="1839236"/>
              <a:ext cx="115200" cy="1152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grpSp>
        <p:nvGrpSpPr>
          <p:cNvPr id="38" name="组合 37"/>
          <p:cNvGrpSpPr/>
          <p:nvPr/>
        </p:nvGrpSpPr>
        <p:grpSpPr>
          <a:xfrm>
            <a:off x="3076292" y="3265196"/>
            <a:ext cx="5736204" cy="504000"/>
            <a:chOff x="2879266" y="1465565"/>
            <a:chExt cx="5736204" cy="504000"/>
          </a:xfrm>
        </p:grpSpPr>
        <p:sp>
          <p:nvSpPr>
            <p:cNvPr id="39" name="椭圆 38"/>
            <p:cNvSpPr/>
            <p:nvPr/>
          </p:nvSpPr>
          <p:spPr>
            <a:xfrm>
              <a:off x="2879266" y="1465565"/>
              <a:ext cx="504000" cy="50400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0" name="椭圆 39"/>
            <p:cNvSpPr/>
            <p:nvPr/>
          </p:nvSpPr>
          <p:spPr>
            <a:xfrm>
              <a:off x="2950471" y="1536769"/>
              <a:ext cx="360000" cy="36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41" name="直接连接符 40"/>
            <p:cNvCxnSpPr/>
            <p:nvPr/>
          </p:nvCxnSpPr>
          <p:spPr>
            <a:xfrm>
              <a:off x="3300716" y="1896769"/>
              <a:ext cx="5220984" cy="0"/>
            </a:xfrm>
            <a:prstGeom prst="line">
              <a:avLst/>
            </a:prstGeom>
            <a:ln w="1905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2" name="椭圆 41"/>
            <p:cNvSpPr/>
            <p:nvPr/>
          </p:nvSpPr>
          <p:spPr>
            <a:xfrm>
              <a:off x="8500270" y="1839236"/>
              <a:ext cx="115200" cy="1152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grpSp>
        <p:nvGrpSpPr>
          <p:cNvPr id="43" name="组合 42"/>
          <p:cNvGrpSpPr/>
          <p:nvPr/>
        </p:nvGrpSpPr>
        <p:grpSpPr>
          <a:xfrm>
            <a:off x="3076292" y="4185271"/>
            <a:ext cx="5736204" cy="504000"/>
            <a:chOff x="2879266" y="1465565"/>
            <a:chExt cx="5736204" cy="504000"/>
          </a:xfrm>
        </p:grpSpPr>
        <p:sp>
          <p:nvSpPr>
            <p:cNvPr id="44" name="椭圆 43"/>
            <p:cNvSpPr/>
            <p:nvPr/>
          </p:nvSpPr>
          <p:spPr>
            <a:xfrm>
              <a:off x="2879266" y="1465565"/>
              <a:ext cx="504000" cy="50400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5" name="椭圆 44"/>
            <p:cNvSpPr/>
            <p:nvPr/>
          </p:nvSpPr>
          <p:spPr>
            <a:xfrm>
              <a:off x="2950471" y="1536769"/>
              <a:ext cx="360000" cy="36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46" name="直接连接符 45"/>
            <p:cNvCxnSpPr/>
            <p:nvPr/>
          </p:nvCxnSpPr>
          <p:spPr>
            <a:xfrm>
              <a:off x="3300716" y="1896769"/>
              <a:ext cx="5220984" cy="0"/>
            </a:xfrm>
            <a:prstGeom prst="line">
              <a:avLst/>
            </a:prstGeom>
            <a:ln w="1905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a:off x="8500270" y="1839236"/>
              <a:ext cx="115200" cy="1152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grpSp>
        <p:nvGrpSpPr>
          <p:cNvPr id="48" name="组合 47"/>
          <p:cNvGrpSpPr/>
          <p:nvPr/>
        </p:nvGrpSpPr>
        <p:grpSpPr>
          <a:xfrm>
            <a:off x="3074688" y="5131952"/>
            <a:ext cx="5736204" cy="504000"/>
            <a:chOff x="2879266" y="1465565"/>
            <a:chExt cx="5736204" cy="504000"/>
          </a:xfrm>
        </p:grpSpPr>
        <p:sp>
          <p:nvSpPr>
            <p:cNvPr id="49" name="椭圆 48"/>
            <p:cNvSpPr/>
            <p:nvPr/>
          </p:nvSpPr>
          <p:spPr>
            <a:xfrm>
              <a:off x="2879266" y="1465565"/>
              <a:ext cx="504000" cy="50400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0" name="椭圆 49"/>
            <p:cNvSpPr/>
            <p:nvPr/>
          </p:nvSpPr>
          <p:spPr>
            <a:xfrm>
              <a:off x="2950471" y="1536769"/>
              <a:ext cx="360000" cy="36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1" name="直接连接符 50"/>
            <p:cNvCxnSpPr/>
            <p:nvPr/>
          </p:nvCxnSpPr>
          <p:spPr>
            <a:xfrm>
              <a:off x="3300716" y="1896769"/>
              <a:ext cx="5220984" cy="0"/>
            </a:xfrm>
            <a:prstGeom prst="line">
              <a:avLst/>
            </a:prstGeom>
            <a:ln w="1905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00270" y="1839236"/>
              <a:ext cx="115200" cy="1152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55" name="矩形 54"/>
          <p:cNvSpPr/>
          <p:nvPr/>
        </p:nvSpPr>
        <p:spPr>
          <a:xfrm>
            <a:off x="826113" y="6348918"/>
            <a:ext cx="11105231" cy="4571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 name="文本框 1"/>
          <p:cNvSpPr txBox="1"/>
          <p:nvPr/>
        </p:nvSpPr>
        <p:spPr>
          <a:xfrm>
            <a:off x="3578688" y="1368083"/>
            <a:ext cx="5045813" cy="461665"/>
          </a:xfrm>
          <a:prstGeom prst="rect">
            <a:avLst/>
          </a:prstGeom>
          <a:noFill/>
        </p:spPr>
        <p:txBody>
          <a:bodyPr wrap="square" rtlCol="0">
            <a:spAutoFit/>
          </a:bodyPr>
          <a:lstStyle/>
          <a:p>
            <a:pPr algn="ct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搜索引擎概述</a:t>
            </a:r>
            <a:endPar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p:cNvSpPr txBox="1"/>
          <p:nvPr/>
        </p:nvSpPr>
        <p:spPr>
          <a:xfrm>
            <a:off x="3578687" y="2289965"/>
            <a:ext cx="5045813" cy="461665"/>
          </a:xfrm>
          <a:prstGeom prst="rect">
            <a:avLst/>
          </a:prstGeom>
          <a:noFill/>
        </p:spPr>
        <p:txBody>
          <a:bodyPr wrap="square" rtlCol="0">
            <a:spAutoFit/>
          </a:bodyPr>
          <a:lstStyle/>
          <a:p>
            <a:pPr algn="ctr"/>
            <a:r>
              <a:rPr lang="en-US" altLang="zh-CN"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3" name="文本框 52"/>
          <p:cNvSpPr txBox="1"/>
          <p:nvPr/>
        </p:nvSpPr>
        <p:spPr>
          <a:xfrm>
            <a:off x="3578686" y="3223997"/>
            <a:ext cx="5045813" cy="461665"/>
          </a:xfrm>
          <a:prstGeom prst="rect">
            <a:avLst/>
          </a:prstGeom>
          <a:noFill/>
        </p:spPr>
        <p:txBody>
          <a:bodyPr wrap="square" rtlCol="0">
            <a:spAutoFit/>
          </a:bodyPr>
          <a:lstStyle/>
          <a:p>
            <a:pPr algn="ctr"/>
            <a:r>
              <a:rPr lang="en-US" altLang="zh-CN" sz="2400" b="1" dirty="0" err="1">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文本框 53"/>
          <p:cNvSpPr txBox="1"/>
          <p:nvPr/>
        </p:nvSpPr>
        <p:spPr>
          <a:xfrm>
            <a:off x="3578686" y="4141125"/>
            <a:ext cx="5045813" cy="461665"/>
          </a:xfrm>
          <a:prstGeom prst="rect">
            <a:avLst/>
          </a:prstGeom>
          <a:noFill/>
        </p:spPr>
        <p:txBody>
          <a:bodyPr wrap="square" rtlCol="0">
            <a:spAutoFit/>
          </a:bodyPr>
          <a:lstStyle/>
          <a:p>
            <a:pPr algn="ctr"/>
            <a:r>
              <a:rPr lang="en-US" altLang="zh-CN"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Elasticsearch</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7" name="文本框 56"/>
          <p:cNvSpPr txBox="1"/>
          <p:nvPr/>
        </p:nvSpPr>
        <p:spPr>
          <a:xfrm>
            <a:off x="3577084" y="5086533"/>
            <a:ext cx="5045813" cy="461665"/>
          </a:xfrm>
          <a:prstGeom prst="rect">
            <a:avLst/>
          </a:prstGeom>
          <a:noFill/>
        </p:spPr>
        <p:txBody>
          <a:bodyPr wrap="square" rtlCol="0">
            <a:spAutoFit/>
          </a:bodyPr>
          <a:lstStyle/>
          <a:p>
            <a:pPr algn="ct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构建数据库和文件的搜索引擎</a:t>
            </a:r>
            <a:endPar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8" name="图片 57"/>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搜索引擎概述</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pic>
        <p:nvPicPr>
          <p:cNvPr id="1026" name="Picture 2" descr="如何在信息过载的时代做一个高效的终身学习者- 知乎"/>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9402" y="1551899"/>
            <a:ext cx="6667500" cy="47625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5"/>
          <p:cNvSpPr txBox="1">
            <a:spLocks noChangeArrowheads="1"/>
          </p:cNvSpPr>
          <p:nvPr/>
        </p:nvSpPr>
        <p:spPr bwMode="auto">
          <a:xfrm>
            <a:off x="763009" y="802993"/>
            <a:ext cx="6094730"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3"/>
              </a:buBlip>
            </a:pPr>
            <a:r>
              <a:rPr lang="zh-CN" altLang="en-US" sz="2800" dirty="0">
                <a:solidFill>
                  <a:srgbClr val="0150A2"/>
                </a:solidFill>
                <a:ea typeface="微软雅黑" panose="020B0503020204020204" pitchFamily="34" charset="-122"/>
                <a:cs typeface="Times New Roman" panose="02020603050405020304" pitchFamily="18" charset="0"/>
                <a:sym typeface="+mn-ea"/>
              </a:rPr>
              <a:t>信息过载 </a:t>
            </a:r>
            <a:r>
              <a:rPr lang="en-US" altLang="zh-CN" sz="2800" dirty="0">
                <a:solidFill>
                  <a:srgbClr val="0150A2"/>
                </a:solidFill>
                <a:ea typeface="微软雅黑" panose="020B0503020204020204" pitchFamily="34" charset="-122"/>
                <a:cs typeface="Times New Roman" panose="02020603050405020304" pitchFamily="18" charset="0"/>
                <a:sym typeface="+mn-ea"/>
              </a:rPr>
              <a:t>– </a:t>
            </a:r>
            <a:r>
              <a:rPr lang="zh-CN" altLang="en-US" sz="2800" dirty="0">
                <a:solidFill>
                  <a:srgbClr val="0150A2"/>
                </a:solidFill>
                <a:ea typeface="微软雅黑" panose="020B0503020204020204" pitchFamily="34" charset="-122"/>
                <a:cs typeface="Times New Roman" panose="02020603050405020304" pitchFamily="18" charset="0"/>
                <a:sym typeface="+mn-ea"/>
              </a:rPr>
              <a:t>求精不求多</a:t>
            </a:r>
            <a:endParaRPr lang="zh-CN" altLang="en-US" sz="2800" dirty="0">
              <a:solidFill>
                <a:srgbClr val="0150A2"/>
              </a:solidFill>
              <a:ea typeface="微软雅黑" panose="020B0503020204020204" pitchFamily="34" charset="-122"/>
              <a:cs typeface="Times New Roman" panose="02020603050405020304" pitchFamily="18" charset="0"/>
            </a:endParaRPr>
          </a:p>
        </p:txBody>
      </p:sp>
      <p:pic>
        <p:nvPicPr>
          <p:cNvPr id="1028" name="Picture 4" descr="深度学习笔记——搭建一个基于图片识别的推荐系统| 无影风随"/>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0687" y="3265916"/>
            <a:ext cx="2107442" cy="1847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国际搜索引擎排名和推广侧重点介绍- 外贸营销小课本"/>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2129" y="1551899"/>
            <a:ext cx="2106000" cy="12421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思考问题小人素材-思考问题小人图片素材下载-觅知网"/>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1148" y="4730516"/>
            <a:ext cx="1370852" cy="17409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搜索引擎概述</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搜索引擎是缓解信息过载的方式之一</a:t>
            </a:r>
            <a:endParaRPr lang="zh-CN" altLang="en-US" sz="2800" dirty="0">
              <a:solidFill>
                <a:srgbClr val="0150A2"/>
              </a:solidFill>
              <a:ea typeface="微软雅黑" panose="020B0503020204020204" pitchFamily="34" charset="-122"/>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1092" y="1668726"/>
            <a:ext cx="9669816" cy="44345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搜索引擎概述</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搜索引擎</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4056816"/>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dirty="0">
                <a:ea typeface="微软雅黑" panose="020B0503020204020204" pitchFamily="34" charset="-122"/>
                <a:cs typeface="Times New Roman" panose="02020603050405020304" pitchFamily="18" charset="0"/>
              </a:rPr>
              <a:t>搜索引擎</a:t>
            </a:r>
            <a:r>
              <a:rPr lang="zh-CN" altLang="en-US" sz="2000" b="0" dirty="0">
                <a:ea typeface="微软雅黑" panose="020B0503020204020204" pitchFamily="34" charset="-122"/>
                <a:cs typeface="Times New Roman" panose="02020603050405020304" pitchFamily="18" charset="0"/>
              </a:rPr>
              <a:t>帮助用户通过关键词搜索并找到所需的信息，是互联网上最常用的工具之一。</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根据用户输入的关键词，在互联网上进行搜索，并返回与关键词相关的网页、文件、图片、视频、新闻等各种类型的内容。搜索引擎通过建立庞大的索引数据库，将互联网上的信息进行分类、整理和排序，以提供用户最相关和有用的搜索结果。</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dirty="0">
                <a:ea typeface="微软雅黑" panose="020B0503020204020204" pitchFamily="34" charset="-122"/>
                <a:cs typeface="Times New Roman" panose="02020603050405020304" pitchFamily="18" charset="0"/>
              </a:rPr>
              <a:t>搜索引擎的工作原理基于复杂的算法和技术。</a:t>
            </a:r>
            <a:r>
              <a:rPr lang="zh-CN" altLang="en-US" sz="2000" b="0" dirty="0">
                <a:ea typeface="微软雅黑" panose="020B0503020204020204" pitchFamily="34" charset="-122"/>
                <a:cs typeface="Times New Roman" panose="02020603050405020304" pitchFamily="18" charset="0"/>
              </a:rPr>
              <a:t>当用户在搜索引擎中输入关键词并提交搜索请求时，搜索引擎会使用爬虫程序抓取互联网上的网页内容，并将这些内容进行分析和索引。然后，搜索引擎会根据用户的查询意图和搜索算法，计算每个网页与关键词的相关性，并返回最相关的搜索结果给用户。</a:t>
            </a:r>
            <a:endParaRPr lang="zh-CN" altLang="en-US" sz="200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dirty="0">
                <a:ea typeface="微软雅黑" panose="020B0503020204020204" pitchFamily="34" charset="-122"/>
                <a:cs typeface="Times New Roman" panose="02020603050405020304" pitchFamily="18" charset="0"/>
              </a:rPr>
              <a:t>搜索引擎还提供了许多进阶功能</a:t>
            </a:r>
            <a:r>
              <a:rPr lang="zh-CN" altLang="en-US" sz="2000" b="0" dirty="0">
                <a:ea typeface="微软雅黑" panose="020B0503020204020204" pitchFamily="34" charset="-122"/>
                <a:cs typeface="Times New Roman" panose="02020603050405020304" pitchFamily="18" charset="0"/>
              </a:rPr>
              <a:t>，例如搜索建议、语义搜索、地理位置搜索、图像搜索、实时搜索等。这些功能可以帮助用户更准确地定位和获取所需的信息。</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基于</a:t>
            </a:r>
            <a:r>
              <a:rPr lang="en-US" altLang="zh-CN" sz="2800" dirty="0">
                <a:solidFill>
                  <a:srgbClr val="0150A2"/>
                </a:solidFill>
                <a:ea typeface="微软雅黑" panose="020B0503020204020204" pitchFamily="34" charset="-122"/>
                <a:cs typeface="Times New Roman" panose="02020603050405020304" pitchFamily="18" charset="0"/>
                <a:sym typeface="+mn-ea"/>
              </a:rPr>
              <a:t>Lucene</a:t>
            </a:r>
            <a:r>
              <a:rPr lang="zh-CN" altLang="en-US" sz="2800" dirty="0">
                <a:solidFill>
                  <a:srgbClr val="0150A2"/>
                </a:solidFill>
                <a:ea typeface="微软雅黑" panose="020B0503020204020204" pitchFamily="34" charset="-122"/>
                <a:cs typeface="Times New Roman" panose="02020603050405020304" pitchFamily="18" charset="0"/>
                <a:sym typeface="+mn-ea"/>
              </a:rPr>
              <a:t>的搜索引擎框架</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3656707"/>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是一个开源的全文搜索引擎库，提供了一套用于索引和搜索的核心功能。许多搜索引擎框架都是基于</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的，通过</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可以构建高效、可扩展的搜索引擎。下面是几个基于</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的搜索引擎框架的例子：</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ES</a:t>
            </a:r>
            <a:r>
              <a:rPr lang="zh-CN" altLang="en-US" sz="2000" b="0" dirty="0">
                <a:ea typeface="微软雅黑" panose="020B0503020204020204" pitchFamily="34" charset="-122"/>
                <a:cs typeface="Times New Roman" panose="02020603050405020304" pitchFamily="18" charset="0"/>
              </a:rPr>
              <a:t>是一个实时分布式搜索和分析引擎，它构建在</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之上，并提供了灵活的分布式架构、强大的查询语言和丰富的功能。</a:t>
            </a:r>
            <a:r>
              <a:rPr lang="en-US" altLang="zh-CN" sz="2000" b="0" dirty="0">
                <a:ea typeface="微软雅黑" panose="020B0503020204020204" pitchFamily="34" charset="-122"/>
                <a:cs typeface="Times New Roman" panose="02020603050405020304" pitchFamily="18" charset="0"/>
              </a:rPr>
              <a:t>ES</a:t>
            </a:r>
            <a:r>
              <a:rPr lang="zh-CN" altLang="en-US" sz="2000" b="0" dirty="0">
                <a:ea typeface="微软雅黑" panose="020B0503020204020204" pitchFamily="34" charset="-122"/>
                <a:cs typeface="Times New Roman" panose="02020603050405020304" pitchFamily="18" charset="0"/>
              </a:rPr>
              <a:t>支持大规模数据的存储、索引和搜索，并具有高可用性和可扩展性。</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dirty="0">
                <a:ea typeface="微软雅黑" panose="020B0503020204020204" pitchFamily="34" charset="-122"/>
                <a:cs typeface="Times New Roman" panose="02020603050405020304" pitchFamily="18" charset="0"/>
              </a:rPr>
              <a:t>Apache </a:t>
            </a:r>
            <a:r>
              <a:rPr lang="en-US" altLang="zh-CN" sz="200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是一个基于</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的企业级搜索平台，提供了丰富的功能和可定制性。</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支持快速的索引和搜索，并提供了强大的查询语言、复杂的过滤器、分布式搜索和负载均衡等功能。</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a:t>
            </a:r>
            <a:r>
              <a:rPr lang="zh-CN" altLang="en-US" sz="2800" dirty="0">
                <a:solidFill>
                  <a:srgbClr val="0150A2"/>
                </a:solidFill>
                <a:ea typeface="微软雅黑" panose="020B0503020204020204" pitchFamily="34" charset="-122"/>
                <a:cs typeface="Times New Roman" panose="02020603050405020304" pitchFamily="18" charset="0"/>
                <a:sym typeface="+mn-ea"/>
              </a:rPr>
              <a:t>概述</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2056269"/>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Lucene </a:t>
            </a:r>
            <a:r>
              <a:rPr lang="zh-CN" altLang="en-US" sz="2000" b="0" dirty="0">
                <a:ea typeface="微软雅黑" panose="020B0503020204020204" pitchFamily="34" charset="-122"/>
                <a:cs typeface="Times New Roman" panose="02020603050405020304" pitchFamily="18" charset="0"/>
              </a:rPr>
              <a:t>是 </a:t>
            </a:r>
            <a:r>
              <a:rPr lang="en-US" altLang="zh-CN" sz="2000" b="0" dirty="0">
                <a:ea typeface="微软雅黑" panose="020B0503020204020204" pitchFamily="34" charset="-122"/>
                <a:cs typeface="Times New Roman" panose="02020603050405020304" pitchFamily="18" charset="0"/>
              </a:rPr>
              <a:t>Apache </a:t>
            </a:r>
            <a:r>
              <a:rPr lang="zh-CN" altLang="en-US" sz="2000" b="0" dirty="0">
                <a:ea typeface="微软雅黑" panose="020B0503020204020204" pitchFamily="34" charset="-122"/>
                <a:cs typeface="Times New Roman" panose="02020603050405020304" pitchFamily="18" charset="0"/>
              </a:rPr>
              <a:t>下的一个开源的全文检索引擎工具包。</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全文检索：先分词创建索引，再执行搜索的过程。所谓分词，就是将一段文字分成一个个单词，全文检索就将一段文字分成一个个单词去查询数据。</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Lucene </a:t>
            </a:r>
            <a:r>
              <a:rPr lang="zh-CN" altLang="en-US" sz="2000" b="0" dirty="0">
                <a:ea typeface="微软雅黑" panose="020B0503020204020204" pitchFamily="34" charset="-122"/>
                <a:cs typeface="Times New Roman" panose="02020603050405020304" pitchFamily="18" charset="0"/>
              </a:rPr>
              <a:t>是一个软件程序的库和工具套件，它关注自己的文本检索和搜索功能，提供</a:t>
            </a:r>
            <a:r>
              <a:rPr lang="en-US" altLang="zh-CN" sz="2000" b="0" dirty="0">
                <a:ea typeface="微软雅黑" panose="020B0503020204020204" pitchFamily="34" charset="-122"/>
                <a:cs typeface="Times New Roman" panose="02020603050405020304" pitchFamily="18" charset="0"/>
              </a:rPr>
              <a:t>API</a:t>
            </a:r>
            <a:r>
              <a:rPr lang="zh-CN" altLang="en-US" sz="2000" b="0" dirty="0">
                <a:ea typeface="微软雅黑" panose="020B0503020204020204" pitchFamily="34" charset="-122"/>
                <a:cs typeface="Times New Roman" panose="02020603050405020304" pitchFamily="18" charset="0"/>
              </a:rPr>
              <a:t>来完成商业中所涉及到的搜索功能。</a:t>
            </a:r>
            <a:endParaRPr lang="zh-CN" altLang="en-US" sz="2000" b="0" dirty="0">
              <a:ea typeface="微软雅黑" panose="020B0503020204020204" pitchFamily="34" charset="-122"/>
              <a:cs typeface="Times New Roman" panose="02020603050405020304" pitchFamily="18" charset="0"/>
            </a:endParaRPr>
          </a:p>
        </p:txBody>
      </p:sp>
      <p:pic>
        <p:nvPicPr>
          <p:cNvPr id="16" name="图片 15"/>
          <p:cNvPicPr>
            <a:picLocks noChangeAspect="1"/>
          </p:cNvPicPr>
          <p:nvPr/>
        </p:nvPicPr>
        <p:blipFill>
          <a:blip r:embed="rId3"/>
          <a:stretch>
            <a:fillRect/>
          </a:stretch>
        </p:blipFill>
        <p:spPr>
          <a:xfrm>
            <a:off x="4295730" y="3498066"/>
            <a:ext cx="3600541" cy="2854637"/>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a:t>
            </a:r>
            <a:r>
              <a:rPr lang="zh-CN" altLang="en-US" sz="2800" dirty="0">
                <a:solidFill>
                  <a:srgbClr val="0150A2"/>
                </a:solidFill>
                <a:ea typeface="微软雅黑" panose="020B0503020204020204" pitchFamily="34" charset="-122"/>
                <a:cs typeface="Times New Roman" panose="02020603050405020304" pitchFamily="18" charset="0"/>
                <a:sym typeface="+mn-ea"/>
              </a:rPr>
              <a:t>概述</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8065329" cy="51010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1800" b="0" dirty="0">
                <a:ea typeface="微软雅黑" panose="020B0503020204020204" pitchFamily="34" charset="-122"/>
                <a:cs typeface="Times New Roman" panose="02020603050405020304" pitchFamily="18" charset="0"/>
              </a:rPr>
              <a:t>创建索引（</a:t>
            </a:r>
            <a:r>
              <a:rPr lang="en-US" altLang="zh-CN" sz="1800" b="0" dirty="0">
                <a:ea typeface="微软雅黑" panose="020B0503020204020204" pitchFamily="34" charset="-122"/>
                <a:cs typeface="Times New Roman" panose="02020603050405020304" pitchFamily="18" charset="0"/>
              </a:rPr>
              <a:t>Indexing</a:t>
            </a:r>
            <a:r>
              <a:rPr lang="zh-CN" altLang="en-US" sz="1800" b="0" dirty="0">
                <a:ea typeface="微软雅黑" panose="020B0503020204020204" pitchFamily="34" charset="-122"/>
                <a:cs typeface="Times New Roman" panose="02020603050405020304" pitchFamily="18" charset="0"/>
              </a:rPr>
              <a:t>）：首先要对需要搜索的文档进行索引处理。文档可以是文本文件、网页内容、数据库记录等各种形式的数据。</a:t>
            </a:r>
            <a:endParaRPr lang="zh-CN" altLang="en-US" sz="18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1800" b="0" dirty="0">
                <a:ea typeface="微软雅黑" panose="020B0503020204020204" pitchFamily="34" charset="-122"/>
                <a:cs typeface="Times New Roman" panose="02020603050405020304" pitchFamily="18" charset="0"/>
              </a:rPr>
              <a:t>文本分析（</a:t>
            </a:r>
            <a:r>
              <a:rPr lang="en-US" altLang="zh-CN" sz="1800" b="0" dirty="0">
                <a:ea typeface="微软雅黑" panose="020B0503020204020204" pitchFamily="34" charset="-122"/>
                <a:cs typeface="Times New Roman" panose="02020603050405020304" pitchFamily="18" charset="0"/>
              </a:rPr>
              <a:t>Text Analysis</a:t>
            </a:r>
            <a:r>
              <a:rPr lang="zh-CN" altLang="en-US" sz="1800" b="0" dirty="0">
                <a:ea typeface="微软雅黑" panose="020B0503020204020204" pitchFamily="34" charset="-122"/>
                <a:cs typeface="Times New Roman" panose="02020603050405020304" pitchFamily="18" charset="0"/>
              </a:rPr>
              <a:t>）：在创建索引之前，</a:t>
            </a:r>
            <a:r>
              <a:rPr lang="en-US" altLang="zh-CN" sz="1800" b="0" dirty="0">
                <a:ea typeface="微软雅黑" panose="020B0503020204020204" pitchFamily="34" charset="-122"/>
                <a:cs typeface="Times New Roman" panose="02020603050405020304" pitchFamily="18" charset="0"/>
              </a:rPr>
              <a:t>Lucene</a:t>
            </a:r>
            <a:r>
              <a:rPr lang="zh-CN" altLang="en-US" sz="1800" b="0" dirty="0">
                <a:ea typeface="微软雅黑" panose="020B0503020204020204" pitchFamily="34" charset="-122"/>
                <a:cs typeface="Times New Roman" panose="02020603050405020304" pitchFamily="18" charset="0"/>
              </a:rPr>
              <a:t>需要对文档中的文本内容进行分析。这个过程包括将文本切分成单词（</a:t>
            </a:r>
            <a:r>
              <a:rPr lang="en-US" altLang="zh-CN" sz="1800" b="0" dirty="0">
                <a:ea typeface="微软雅黑" panose="020B0503020204020204" pitchFamily="34" charset="-122"/>
                <a:cs typeface="Times New Roman" panose="02020603050405020304" pitchFamily="18" charset="0"/>
              </a:rPr>
              <a:t>Tokenization</a:t>
            </a:r>
            <a:r>
              <a:rPr lang="zh-CN" altLang="en-US" sz="1800" b="0" dirty="0">
                <a:ea typeface="微软雅黑" panose="020B0503020204020204" pitchFamily="34" charset="-122"/>
                <a:cs typeface="Times New Roman" panose="02020603050405020304" pitchFamily="18" charset="0"/>
              </a:rPr>
              <a:t>）、去除停用词（</a:t>
            </a:r>
            <a:r>
              <a:rPr lang="en-US" altLang="zh-CN" sz="1800" b="0" dirty="0" err="1">
                <a:ea typeface="微软雅黑" panose="020B0503020204020204" pitchFamily="34" charset="-122"/>
                <a:cs typeface="Times New Roman" panose="02020603050405020304" pitchFamily="18" charset="0"/>
              </a:rPr>
              <a:t>Stopwords</a:t>
            </a:r>
            <a:r>
              <a:rPr lang="en-US" altLang="zh-CN" sz="1800" b="0" dirty="0">
                <a:ea typeface="微软雅黑" panose="020B0503020204020204" pitchFamily="34" charset="-122"/>
                <a:cs typeface="Times New Roman" panose="02020603050405020304" pitchFamily="18" charset="0"/>
              </a:rPr>
              <a:t> Removal</a:t>
            </a:r>
            <a:r>
              <a:rPr lang="zh-CN" altLang="en-US" sz="1800" b="0" dirty="0">
                <a:ea typeface="微软雅黑" panose="020B0503020204020204" pitchFamily="34" charset="-122"/>
                <a:cs typeface="Times New Roman" panose="02020603050405020304" pitchFamily="18" charset="0"/>
              </a:rPr>
              <a:t>）、转换成小写形式（</a:t>
            </a:r>
            <a:r>
              <a:rPr lang="en-US" altLang="zh-CN" sz="1800" b="0" dirty="0">
                <a:ea typeface="微软雅黑" panose="020B0503020204020204" pitchFamily="34" charset="-122"/>
                <a:cs typeface="Times New Roman" panose="02020603050405020304" pitchFamily="18" charset="0"/>
              </a:rPr>
              <a:t>Lowercasing</a:t>
            </a:r>
            <a:r>
              <a:rPr lang="zh-CN" altLang="en-US" sz="1800" b="0" dirty="0">
                <a:ea typeface="微软雅黑" panose="020B0503020204020204" pitchFamily="34" charset="-122"/>
                <a:cs typeface="Times New Roman" panose="02020603050405020304" pitchFamily="18" charset="0"/>
              </a:rPr>
              <a:t>）、词干提取（</a:t>
            </a:r>
            <a:r>
              <a:rPr lang="en-US" altLang="zh-CN" sz="1800" b="0" dirty="0">
                <a:ea typeface="微软雅黑" panose="020B0503020204020204" pitchFamily="34" charset="-122"/>
                <a:cs typeface="Times New Roman" panose="02020603050405020304" pitchFamily="18" charset="0"/>
              </a:rPr>
              <a:t>Stemming</a:t>
            </a:r>
            <a:r>
              <a:rPr lang="zh-CN" altLang="en-US" sz="1800" b="0" dirty="0">
                <a:ea typeface="微软雅黑" panose="020B0503020204020204" pitchFamily="34" charset="-122"/>
                <a:cs typeface="Times New Roman" panose="02020603050405020304" pitchFamily="18" charset="0"/>
              </a:rPr>
              <a:t>）等处理。这些步骤都是为了构建更高效和准确的索引。</a:t>
            </a:r>
            <a:endParaRPr lang="zh-CN" altLang="en-US" sz="18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1800" b="0" dirty="0">
                <a:ea typeface="微软雅黑" panose="020B0503020204020204" pitchFamily="34" charset="-122"/>
                <a:cs typeface="Times New Roman" panose="02020603050405020304" pitchFamily="18" charset="0"/>
              </a:rPr>
              <a:t>构建倒排索引（</a:t>
            </a:r>
            <a:r>
              <a:rPr lang="en-US" altLang="zh-CN" sz="1800" b="0" dirty="0">
                <a:ea typeface="微软雅黑" panose="020B0503020204020204" pitchFamily="34" charset="-122"/>
                <a:cs typeface="Times New Roman" panose="02020603050405020304" pitchFamily="18" charset="0"/>
              </a:rPr>
              <a:t>Inverted Indexing</a:t>
            </a:r>
            <a:r>
              <a:rPr lang="zh-CN" altLang="en-US" sz="1800" b="0" dirty="0">
                <a:ea typeface="微软雅黑" panose="020B0503020204020204" pitchFamily="34" charset="-122"/>
                <a:cs typeface="Times New Roman" panose="02020603050405020304" pitchFamily="18" charset="0"/>
              </a:rPr>
              <a:t>）：倒排索引是</a:t>
            </a:r>
            <a:r>
              <a:rPr lang="en-US" altLang="zh-CN" sz="1800" b="0" dirty="0">
                <a:ea typeface="微软雅黑" panose="020B0503020204020204" pitchFamily="34" charset="-122"/>
                <a:cs typeface="Times New Roman" panose="02020603050405020304" pitchFamily="18" charset="0"/>
              </a:rPr>
              <a:t>Lucene</a:t>
            </a:r>
            <a:r>
              <a:rPr lang="zh-CN" altLang="en-US" sz="1800" b="0" dirty="0">
                <a:ea typeface="微软雅黑" panose="020B0503020204020204" pitchFamily="34" charset="-122"/>
                <a:cs typeface="Times New Roman" panose="02020603050405020304" pitchFamily="18" charset="0"/>
              </a:rPr>
              <a:t>中非常重要的数据结构，它记录了每个单词（或词项）在哪些文档中出现过。</a:t>
            </a:r>
            <a:endParaRPr lang="zh-CN" altLang="en-US" sz="18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1800" b="0" dirty="0">
                <a:ea typeface="微软雅黑" panose="020B0503020204020204" pitchFamily="34" charset="-122"/>
                <a:cs typeface="Times New Roman" panose="02020603050405020304" pitchFamily="18" charset="0"/>
              </a:rPr>
              <a:t>查询处理（</a:t>
            </a:r>
            <a:r>
              <a:rPr lang="en-US" altLang="zh-CN" sz="1800" b="0" dirty="0">
                <a:ea typeface="微软雅黑" panose="020B0503020204020204" pitchFamily="34" charset="-122"/>
                <a:cs typeface="Times New Roman" panose="02020603050405020304" pitchFamily="18" charset="0"/>
              </a:rPr>
              <a:t>Query Processing</a:t>
            </a:r>
            <a:r>
              <a:rPr lang="zh-CN" altLang="en-US" sz="1800" b="0" dirty="0">
                <a:ea typeface="微软雅黑" panose="020B0503020204020204" pitchFamily="34" charset="-122"/>
                <a:cs typeface="Times New Roman" panose="02020603050405020304" pitchFamily="18" charset="0"/>
              </a:rPr>
              <a:t>）：当用户提交查询请求时，</a:t>
            </a:r>
            <a:r>
              <a:rPr lang="en-US" altLang="zh-CN" sz="1800" b="0" dirty="0">
                <a:ea typeface="微软雅黑" panose="020B0503020204020204" pitchFamily="34" charset="-122"/>
                <a:cs typeface="Times New Roman" panose="02020603050405020304" pitchFamily="18" charset="0"/>
              </a:rPr>
              <a:t>Lucene</a:t>
            </a:r>
            <a:r>
              <a:rPr lang="zh-CN" altLang="en-US" sz="1800" b="0" dirty="0">
                <a:ea typeface="微软雅黑" panose="020B0503020204020204" pitchFamily="34" charset="-122"/>
                <a:cs typeface="Times New Roman" panose="02020603050405020304" pitchFamily="18" charset="0"/>
              </a:rPr>
              <a:t>会对查询进行解析和分析，生成相应的查询对象。</a:t>
            </a:r>
            <a:endParaRPr lang="zh-CN" altLang="en-US" sz="18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1800" b="0" dirty="0">
                <a:ea typeface="微软雅黑" panose="020B0503020204020204" pitchFamily="34" charset="-122"/>
                <a:cs typeface="Times New Roman" panose="02020603050405020304" pitchFamily="18" charset="0"/>
              </a:rPr>
              <a:t>匹配与打分（</a:t>
            </a:r>
            <a:r>
              <a:rPr lang="en-US" altLang="zh-CN" sz="1800" b="0" dirty="0">
                <a:ea typeface="微软雅黑" panose="020B0503020204020204" pitchFamily="34" charset="-122"/>
                <a:cs typeface="Times New Roman" panose="02020603050405020304" pitchFamily="18" charset="0"/>
              </a:rPr>
              <a:t>Matching and Scoring</a:t>
            </a:r>
            <a:r>
              <a:rPr lang="zh-CN" altLang="en-US" sz="1800" b="0" dirty="0">
                <a:ea typeface="微软雅黑" panose="020B0503020204020204" pitchFamily="34" charset="-122"/>
                <a:cs typeface="Times New Roman" panose="02020603050405020304" pitchFamily="18" charset="0"/>
              </a:rPr>
              <a:t>）：</a:t>
            </a:r>
            <a:r>
              <a:rPr lang="en-US" altLang="zh-CN" sz="1800" b="0" dirty="0">
                <a:ea typeface="微软雅黑" panose="020B0503020204020204" pitchFamily="34" charset="-122"/>
                <a:cs typeface="Times New Roman" panose="02020603050405020304" pitchFamily="18" charset="0"/>
              </a:rPr>
              <a:t>Lucene</a:t>
            </a:r>
            <a:r>
              <a:rPr lang="zh-CN" altLang="en-US" sz="1800" b="0" dirty="0">
                <a:ea typeface="微软雅黑" panose="020B0503020204020204" pitchFamily="34" charset="-122"/>
                <a:cs typeface="Times New Roman" panose="02020603050405020304" pitchFamily="18" charset="0"/>
              </a:rPr>
              <a:t>将查询与索引中的文档进行匹配，并计算每个文档与查询的相关性得分。</a:t>
            </a:r>
            <a:endParaRPr lang="zh-CN" altLang="en-US" sz="18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1800" b="0" dirty="0">
                <a:ea typeface="微软雅黑" panose="020B0503020204020204" pitchFamily="34" charset="-122"/>
                <a:cs typeface="Times New Roman" panose="02020603050405020304" pitchFamily="18" charset="0"/>
              </a:rPr>
              <a:t>结果排序（</a:t>
            </a:r>
            <a:r>
              <a:rPr lang="en-US" altLang="zh-CN" sz="1800" b="0" dirty="0">
                <a:ea typeface="微软雅黑" panose="020B0503020204020204" pitchFamily="34" charset="-122"/>
                <a:cs typeface="Times New Roman" panose="02020603050405020304" pitchFamily="18" charset="0"/>
              </a:rPr>
              <a:t>Result Ranking</a:t>
            </a:r>
            <a:r>
              <a:rPr lang="zh-CN" altLang="en-US" sz="1800" b="0" dirty="0">
                <a:ea typeface="微软雅黑" panose="020B0503020204020204" pitchFamily="34" charset="-122"/>
                <a:cs typeface="Times New Roman" panose="02020603050405020304" pitchFamily="18" charset="0"/>
              </a:rPr>
              <a:t>）：最后，</a:t>
            </a:r>
            <a:r>
              <a:rPr lang="en-US" altLang="zh-CN" sz="1800" b="0" dirty="0">
                <a:ea typeface="微软雅黑" panose="020B0503020204020204" pitchFamily="34" charset="-122"/>
                <a:cs typeface="Times New Roman" panose="02020603050405020304" pitchFamily="18" charset="0"/>
              </a:rPr>
              <a:t>Lucene</a:t>
            </a:r>
            <a:r>
              <a:rPr lang="zh-CN" altLang="en-US" sz="1800" b="0" dirty="0">
                <a:ea typeface="微软雅黑" panose="020B0503020204020204" pitchFamily="34" charset="-122"/>
                <a:cs typeface="Times New Roman" panose="02020603050405020304" pitchFamily="18" charset="0"/>
              </a:rPr>
              <a:t>根据文档得分对搜索结果进行排序，将得分高的文档排在前面并返回给用户。</a:t>
            </a:r>
            <a:endParaRPr lang="zh-CN" altLang="en-US" sz="1800" b="0" dirty="0">
              <a:ea typeface="微软雅黑" panose="020B0503020204020204" pitchFamily="34" charset="-122"/>
              <a:cs typeface="Times New Roman" panose="02020603050405020304" pitchFamily="18" charset="0"/>
            </a:endParaRPr>
          </a:p>
        </p:txBody>
      </p:sp>
      <p:pic>
        <p:nvPicPr>
          <p:cNvPr id="16" name="图片 15"/>
          <p:cNvPicPr/>
          <p:nvPr/>
        </p:nvPicPr>
        <p:blipFill>
          <a:blip r:embed="rId3"/>
          <a:stretch>
            <a:fillRect/>
          </a:stretch>
        </p:blipFill>
        <p:spPr>
          <a:xfrm>
            <a:off x="9260718" y="1375455"/>
            <a:ext cx="2529205" cy="499554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 </a:t>
            </a:r>
            <a:r>
              <a:rPr lang="zh-CN" altLang="en-US" sz="2800" dirty="0">
                <a:solidFill>
                  <a:srgbClr val="0150A2"/>
                </a:solidFill>
                <a:ea typeface="微软雅黑" panose="020B0503020204020204" pitchFamily="34" charset="-122"/>
                <a:cs typeface="Times New Roman" panose="02020603050405020304" pitchFamily="18" charset="0"/>
                <a:sym typeface="+mn-ea"/>
              </a:rPr>
              <a:t>工作方式</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4456926"/>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Lucene </a:t>
            </a:r>
            <a:r>
              <a:rPr lang="zh-CN" altLang="en-US" sz="2000" b="0" dirty="0">
                <a:ea typeface="微软雅黑" panose="020B0503020204020204" pitchFamily="34" charset="-122"/>
                <a:cs typeface="Times New Roman" panose="02020603050405020304" pitchFamily="18" charset="0"/>
              </a:rPr>
              <a:t>提供的服务实际包含两部分：一入一出。入是写入，即将你提供的源（本质是字符串）写入索引或者将其从索引中删除。</a:t>
            </a:r>
            <a:endParaRPr lang="en-US" altLang="zh-CN"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源字符串首先经过 </a:t>
            </a:r>
            <a:r>
              <a:rPr lang="en-US" altLang="zh-CN" sz="2000" b="0" dirty="0">
                <a:ea typeface="微软雅黑" panose="020B0503020204020204" pitchFamily="34" charset="-122"/>
                <a:cs typeface="Times New Roman" panose="02020603050405020304" pitchFamily="18" charset="0"/>
              </a:rPr>
              <a:t>analyzer</a:t>
            </a:r>
            <a:r>
              <a:rPr lang="zh-CN" altLang="en-US" sz="2000" b="0" dirty="0">
                <a:ea typeface="微软雅黑" panose="020B0503020204020204" pitchFamily="34" charset="-122"/>
                <a:cs typeface="Times New Roman" panose="02020603050405020304" pitchFamily="18" charset="0"/>
              </a:rPr>
              <a:t>（分词器） 处理，包括：分词，分成一个个单词；去除 </a:t>
            </a:r>
            <a:r>
              <a:rPr lang="en-US" altLang="zh-CN" sz="2000" b="0" dirty="0" err="1">
                <a:ea typeface="微软雅黑" panose="020B0503020204020204" pitchFamily="34" charset="-122"/>
                <a:cs typeface="Times New Roman" panose="02020603050405020304" pitchFamily="18" charset="0"/>
              </a:rPr>
              <a:t>stopword</a:t>
            </a:r>
            <a:r>
              <a:rPr lang="zh-CN" altLang="en-US" sz="2000" b="0" dirty="0">
                <a:ea typeface="微软雅黑" panose="020B0503020204020204" pitchFamily="34" charset="-122"/>
                <a:cs typeface="Times New Roman" panose="02020603050405020304" pitchFamily="18" charset="0"/>
              </a:rPr>
              <a:t>（可选）。</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将源中需要的信息加入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的各个 </a:t>
            </a:r>
            <a:r>
              <a:rPr lang="en-US" altLang="zh-CN" sz="2000" b="0" dirty="0">
                <a:ea typeface="微软雅黑" panose="020B0503020204020204" pitchFamily="34" charset="-122"/>
                <a:cs typeface="Times New Roman" panose="02020603050405020304" pitchFamily="18" charset="0"/>
              </a:rPr>
              <a:t>Field </a:t>
            </a:r>
            <a:r>
              <a:rPr lang="zh-CN" altLang="en-US" sz="2000" b="0" dirty="0">
                <a:ea typeface="微软雅黑" panose="020B0503020204020204" pitchFamily="34" charset="-122"/>
                <a:cs typeface="Times New Roman" panose="02020603050405020304" pitchFamily="18" charset="0"/>
              </a:rPr>
              <a:t>中，并把需要索引的 </a:t>
            </a:r>
            <a:r>
              <a:rPr lang="en-US" altLang="zh-CN" sz="2000" b="0" dirty="0">
                <a:ea typeface="微软雅黑" panose="020B0503020204020204" pitchFamily="34" charset="-122"/>
                <a:cs typeface="Times New Roman" panose="02020603050405020304" pitchFamily="18" charset="0"/>
              </a:rPr>
              <a:t>Field </a:t>
            </a:r>
            <a:r>
              <a:rPr lang="zh-CN" altLang="en-US" sz="2000" b="0" dirty="0">
                <a:ea typeface="微软雅黑" panose="020B0503020204020204" pitchFamily="34" charset="-122"/>
                <a:cs typeface="Times New Roman" panose="02020603050405020304" pitchFamily="18" charset="0"/>
              </a:rPr>
              <a:t>索引起来，把需要存储的 </a:t>
            </a:r>
            <a:r>
              <a:rPr lang="en-US" altLang="zh-CN" sz="2000" b="0" dirty="0">
                <a:ea typeface="微软雅黑" panose="020B0503020204020204" pitchFamily="34" charset="-122"/>
                <a:cs typeface="Times New Roman" panose="02020603050405020304" pitchFamily="18" charset="0"/>
              </a:rPr>
              <a:t>Field </a:t>
            </a:r>
            <a:r>
              <a:rPr lang="zh-CN" altLang="en-US" sz="2000" b="0" dirty="0">
                <a:ea typeface="微软雅黑" panose="020B0503020204020204" pitchFamily="34" charset="-122"/>
                <a:cs typeface="Times New Roman" panose="02020603050405020304" pitchFamily="18" charset="0"/>
              </a:rPr>
              <a:t>存储起来。</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将索引写入存储器，存储器可以是内存或磁盘。</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出是读出，即向用户提供全文搜索服务，让用户可以通过关键词定位源。</a:t>
            </a:r>
            <a:endParaRPr lang="en-US" altLang="zh-CN"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用户提供搜索关键词，经过 </a:t>
            </a:r>
            <a:r>
              <a:rPr lang="en-US" altLang="zh-CN" sz="2000" b="0" dirty="0">
                <a:ea typeface="微软雅黑" panose="020B0503020204020204" pitchFamily="34" charset="-122"/>
                <a:cs typeface="Times New Roman" panose="02020603050405020304" pitchFamily="18" charset="0"/>
              </a:rPr>
              <a:t>analyzer </a:t>
            </a:r>
            <a:r>
              <a:rPr lang="zh-CN" altLang="en-US" sz="2000" b="0" dirty="0">
                <a:ea typeface="微软雅黑" panose="020B0503020204020204" pitchFamily="34" charset="-122"/>
                <a:cs typeface="Times New Roman" panose="02020603050405020304" pitchFamily="18" charset="0"/>
              </a:rPr>
              <a:t>处理。</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对处理后的关键词搜索索引找出对应的 </a:t>
            </a:r>
            <a:r>
              <a:rPr lang="en-US" altLang="zh-CN" sz="2000" b="0" dirty="0">
                <a:ea typeface="微软雅黑" panose="020B0503020204020204" pitchFamily="34" charset="-122"/>
                <a:cs typeface="Times New Roman" panose="02020603050405020304" pitchFamily="18" charset="0"/>
              </a:rPr>
              <a:t>Document</a:t>
            </a:r>
            <a:r>
              <a:rPr lang="zh-CN" altLang="en-US" sz="2000" b="0" dirty="0">
                <a:ea typeface="微软雅黑" panose="020B0503020204020204" pitchFamily="34" charset="-122"/>
                <a:cs typeface="Times New Roman" panose="02020603050405020304" pitchFamily="18" charset="0"/>
              </a:rPr>
              <a:t>。</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用户根据需要从找到的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中提取需要的 </a:t>
            </a:r>
            <a:r>
              <a:rPr lang="en-US" altLang="zh-CN" sz="2000" b="0" dirty="0">
                <a:ea typeface="微软雅黑" panose="020B0503020204020204" pitchFamily="34" charset="-122"/>
                <a:cs typeface="Times New Roman" panose="02020603050405020304" pitchFamily="18" charset="0"/>
              </a:rPr>
              <a:t>Field</a:t>
            </a:r>
            <a:r>
              <a:rPr lang="zh-CN" altLang="en-US" sz="2000" b="0" dirty="0">
                <a:ea typeface="微软雅黑" panose="020B0503020204020204" pitchFamily="34" charset="-122"/>
                <a:cs typeface="Times New Roman" panose="02020603050405020304" pitchFamily="18" charset="0"/>
              </a:rPr>
              <a:t>。</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 </a:t>
            </a:r>
            <a:r>
              <a:rPr lang="zh-CN" altLang="en-US" sz="2800" dirty="0">
                <a:solidFill>
                  <a:srgbClr val="0150A2"/>
                </a:solidFill>
                <a:ea typeface="微软雅黑" panose="020B0503020204020204" pitchFamily="34" charset="-122"/>
                <a:cs typeface="Times New Roman" panose="02020603050405020304" pitchFamily="18" charset="0"/>
                <a:sym typeface="+mn-ea"/>
              </a:rPr>
              <a:t>分词器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4456926"/>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Analyzer </a:t>
            </a:r>
            <a:r>
              <a:rPr lang="zh-CN" altLang="en-US" sz="2000" b="0" dirty="0">
                <a:ea typeface="微软雅黑" panose="020B0503020204020204" pitchFamily="34" charset="-122"/>
                <a:cs typeface="Times New Roman" panose="02020603050405020304" pitchFamily="18" charset="0"/>
              </a:rPr>
              <a:t>是分析器，它的作用是把一个字符串按某种规则划分成一个个词语，并去除其中的无效词语，如英文中的“</a:t>
            </a:r>
            <a:r>
              <a:rPr lang="en-US" altLang="zh-CN" sz="2000" b="0" dirty="0">
                <a:ea typeface="微软雅黑" panose="020B0503020204020204" pitchFamily="34" charset="-122"/>
                <a:cs typeface="Times New Roman" panose="02020603050405020304" pitchFamily="18" charset="0"/>
              </a:rPr>
              <a:t>of”</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the”</a:t>
            </a:r>
            <a:r>
              <a:rPr lang="zh-CN" altLang="en-US" sz="2000" b="0" dirty="0">
                <a:ea typeface="微软雅黑" panose="020B0503020204020204" pitchFamily="34" charset="-122"/>
                <a:cs typeface="Times New Roman" panose="02020603050405020304" pitchFamily="18" charset="0"/>
              </a:rPr>
              <a:t>，中文中的“的”、“地”等词语，这些词语在文章中大量出现，但是本身不包含什么关键信息，去掉有利于缩小索引文件、提高效率、提高命中率。</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分词的规则千变万化，但目的只有一个：按语义划分。这点在英文中比较容易实现，因为英文本身就是以单词为单位的，已经用空格分开；而中文则必须以某种方法将连成一片的句子划分成一个个词语。</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IK Analyzer </a:t>
            </a:r>
            <a:r>
              <a:rPr lang="zh-CN" altLang="en-US" sz="2000" b="0" dirty="0">
                <a:ea typeface="微软雅黑" panose="020B0503020204020204" pitchFamily="34" charset="-122"/>
                <a:cs typeface="Times New Roman" panose="02020603050405020304" pitchFamily="18" charset="0"/>
              </a:rPr>
              <a:t>是一个开源的，基于 </a:t>
            </a:r>
            <a:r>
              <a:rPr lang="en-US" altLang="zh-CN" sz="2000" b="0" dirty="0">
                <a:ea typeface="微软雅黑" panose="020B0503020204020204" pitchFamily="34" charset="-122"/>
                <a:cs typeface="Times New Roman" panose="02020603050405020304" pitchFamily="18" charset="0"/>
              </a:rPr>
              <a:t>java </a:t>
            </a:r>
            <a:r>
              <a:rPr lang="zh-CN" altLang="en-US" sz="2000" b="0" dirty="0">
                <a:ea typeface="微软雅黑" panose="020B0503020204020204" pitchFamily="34" charset="-122"/>
                <a:cs typeface="Times New Roman" panose="02020603050405020304" pitchFamily="18" charset="0"/>
              </a:rPr>
              <a:t>语言开发的轻量级的中文分词工具包。到现在，</a:t>
            </a:r>
            <a:r>
              <a:rPr lang="en-US" altLang="zh-CN" sz="2000" b="0" dirty="0">
                <a:ea typeface="微软雅黑" panose="020B0503020204020204" pitchFamily="34" charset="-122"/>
                <a:cs typeface="Times New Roman" panose="02020603050405020304" pitchFamily="18" charset="0"/>
              </a:rPr>
              <a:t>IK </a:t>
            </a:r>
            <a:r>
              <a:rPr lang="zh-CN" altLang="en-US" sz="2000" b="0" dirty="0">
                <a:ea typeface="微软雅黑" panose="020B0503020204020204" pitchFamily="34" charset="-122"/>
                <a:cs typeface="Times New Roman" panose="02020603050405020304" pitchFamily="18" charset="0"/>
              </a:rPr>
              <a:t>发展为面向 </a:t>
            </a:r>
            <a:r>
              <a:rPr lang="en-US" altLang="zh-CN" sz="2000" b="0" dirty="0">
                <a:ea typeface="微软雅黑" panose="020B0503020204020204" pitchFamily="34" charset="-122"/>
                <a:cs typeface="Times New Roman" panose="02020603050405020304" pitchFamily="18" charset="0"/>
              </a:rPr>
              <a:t>Java </a:t>
            </a:r>
            <a:r>
              <a:rPr lang="zh-CN" altLang="en-US" sz="2000" b="0" dirty="0">
                <a:ea typeface="微软雅黑" panose="020B0503020204020204" pitchFamily="34" charset="-122"/>
                <a:cs typeface="Times New Roman" panose="02020603050405020304" pitchFamily="18" charset="0"/>
              </a:rPr>
              <a:t>的公用分词组件，独立于 </a:t>
            </a:r>
            <a:r>
              <a:rPr lang="en-US" altLang="zh-CN" sz="2000" b="0" dirty="0">
                <a:ea typeface="微软雅黑" panose="020B0503020204020204" pitchFamily="34" charset="-122"/>
                <a:cs typeface="Times New Roman" panose="02020603050405020304" pitchFamily="18" charset="0"/>
              </a:rPr>
              <a:t>Lucene </a:t>
            </a:r>
            <a:r>
              <a:rPr lang="zh-CN" altLang="en-US" sz="2000" b="0" dirty="0">
                <a:ea typeface="微软雅黑" panose="020B0503020204020204" pitchFamily="34" charset="-122"/>
                <a:cs typeface="Times New Roman" panose="02020603050405020304" pitchFamily="18" charset="0"/>
              </a:rPr>
              <a:t>项目，同时提供了对 </a:t>
            </a:r>
            <a:r>
              <a:rPr lang="en-US" altLang="zh-CN" sz="2000" b="0" dirty="0">
                <a:ea typeface="微软雅黑" panose="020B0503020204020204" pitchFamily="34" charset="-122"/>
                <a:cs typeface="Times New Roman" panose="02020603050405020304" pitchFamily="18" charset="0"/>
              </a:rPr>
              <a:t>Lucene </a:t>
            </a:r>
            <a:r>
              <a:rPr lang="zh-CN" altLang="en-US" sz="2000" b="0" dirty="0">
                <a:ea typeface="微软雅黑" panose="020B0503020204020204" pitchFamily="34" charset="-122"/>
                <a:cs typeface="Times New Roman" panose="02020603050405020304" pitchFamily="18" charset="0"/>
              </a:rPr>
              <a:t>的默认优化实现。</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IK </a:t>
            </a:r>
            <a:r>
              <a:rPr lang="zh-CN" altLang="en-US" sz="2000" b="0" dirty="0">
                <a:ea typeface="微软雅黑" panose="020B0503020204020204" pitchFamily="34" charset="-122"/>
                <a:cs typeface="Times New Roman" panose="02020603050405020304" pitchFamily="18" charset="0"/>
              </a:rPr>
              <a:t>实现了简单的分词歧义排除算法，支持细粒度切分和智能切分。</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 </a:t>
            </a:r>
            <a:r>
              <a:rPr lang="zh-CN" altLang="en-US" sz="2800" dirty="0">
                <a:solidFill>
                  <a:srgbClr val="0150A2"/>
                </a:solidFill>
                <a:ea typeface="微软雅黑" panose="020B0503020204020204" pitchFamily="34" charset="-122"/>
                <a:cs typeface="Times New Roman" panose="02020603050405020304" pitchFamily="18" charset="0"/>
                <a:sym typeface="+mn-ea"/>
              </a:rPr>
              <a:t>分词器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4056816"/>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文本原文：</a:t>
            </a:r>
            <a:r>
              <a:rPr lang="en-US" altLang="zh-CN" sz="2000" b="0" dirty="0">
                <a:ea typeface="微软雅黑" panose="020B0503020204020204" pitchFamily="34" charset="-122"/>
                <a:cs typeface="Times New Roman" panose="02020603050405020304" pitchFamily="18" charset="0"/>
              </a:rPr>
              <a:t>IK</a:t>
            </a:r>
            <a:r>
              <a:rPr lang="zh-CN" altLang="en-US" sz="2000" b="0" dirty="0">
                <a:ea typeface="微软雅黑" panose="020B0503020204020204" pitchFamily="34" charset="-122"/>
                <a:cs typeface="Times New Roman" panose="02020603050405020304" pitchFamily="18" charset="0"/>
              </a:rPr>
              <a:t>是一个开源的，基于</a:t>
            </a:r>
            <a:r>
              <a:rPr lang="en-US" altLang="zh-CN" sz="2000" b="0" dirty="0">
                <a:ea typeface="微软雅黑" panose="020B0503020204020204" pitchFamily="34" charset="-122"/>
                <a:cs typeface="Times New Roman" panose="02020603050405020304" pitchFamily="18" charset="0"/>
              </a:rPr>
              <a:t>java</a:t>
            </a:r>
            <a:r>
              <a:rPr lang="zh-CN" altLang="en-US" sz="2000" b="0" dirty="0">
                <a:ea typeface="微软雅黑" panose="020B0503020204020204" pitchFamily="34" charset="-122"/>
                <a:cs typeface="Times New Roman" panose="02020603050405020304" pitchFamily="18" charset="0"/>
              </a:rPr>
              <a:t>语言开发的轻量级的中文分词工具包。从</a:t>
            </a:r>
            <a:r>
              <a:rPr lang="en-US" altLang="zh-CN" sz="2000" b="0" dirty="0">
                <a:ea typeface="微软雅黑" panose="020B0503020204020204" pitchFamily="34" charset="-122"/>
                <a:cs typeface="Times New Roman" panose="02020603050405020304" pitchFamily="18" charset="0"/>
              </a:rPr>
              <a:t>2006</a:t>
            </a:r>
            <a:r>
              <a:rPr lang="zh-CN" altLang="en-US" sz="2000" b="0" dirty="0">
                <a:ea typeface="微软雅黑" panose="020B0503020204020204" pitchFamily="34" charset="-122"/>
                <a:cs typeface="Times New Roman" panose="02020603050405020304" pitchFamily="18" charset="0"/>
              </a:rPr>
              <a:t>年</a:t>
            </a:r>
            <a:r>
              <a:rPr lang="en-US" altLang="zh-CN" sz="2000" b="0" dirty="0">
                <a:ea typeface="微软雅黑" panose="020B0503020204020204" pitchFamily="34" charset="-122"/>
                <a:cs typeface="Times New Roman" panose="02020603050405020304" pitchFamily="18" charset="0"/>
              </a:rPr>
              <a:t>12</a:t>
            </a:r>
            <a:r>
              <a:rPr lang="zh-CN" altLang="en-US" sz="2000" b="0" dirty="0">
                <a:ea typeface="微软雅黑" panose="020B0503020204020204" pitchFamily="34" charset="-122"/>
                <a:cs typeface="Times New Roman" panose="02020603050405020304" pitchFamily="18" charset="0"/>
              </a:rPr>
              <a:t>月推出</a:t>
            </a:r>
            <a:r>
              <a:rPr lang="en-US" altLang="zh-CN" sz="2000" b="0" dirty="0">
                <a:ea typeface="微软雅黑" panose="020B0503020204020204" pitchFamily="34" charset="-122"/>
                <a:cs typeface="Times New Roman" panose="02020603050405020304" pitchFamily="18" charset="0"/>
              </a:rPr>
              <a:t>1.0</a:t>
            </a:r>
            <a:r>
              <a:rPr lang="zh-CN" altLang="en-US" sz="2000" b="0" dirty="0">
                <a:ea typeface="微软雅黑" panose="020B0503020204020204" pitchFamily="34" charset="-122"/>
                <a:cs typeface="Times New Roman" panose="02020603050405020304" pitchFamily="18" charset="0"/>
              </a:rPr>
              <a:t>版本开始，</a:t>
            </a:r>
            <a:r>
              <a:rPr lang="en-US" altLang="zh-CN" sz="2000" b="0" dirty="0" err="1">
                <a:ea typeface="微软雅黑" panose="020B0503020204020204" pitchFamily="34" charset="-122"/>
                <a:cs typeface="Times New Roman" panose="02020603050405020304" pitchFamily="18" charset="0"/>
              </a:rPr>
              <a:t>IKAnalyzer</a:t>
            </a:r>
            <a:r>
              <a:rPr lang="zh-CN" altLang="en-US" sz="2000" b="0" dirty="0">
                <a:ea typeface="微软雅黑" panose="020B0503020204020204" pitchFamily="34" charset="-122"/>
                <a:cs typeface="Times New Roman" panose="02020603050405020304" pitchFamily="18" charset="0"/>
              </a:rPr>
              <a:t>已经推出了</a:t>
            </a:r>
            <a:r>
              <a:rPr lang="en-US" altLang="zh-CN" sz="2000" b="0" dirty="0">
                <a:ea typeface="微软雅黑" panose="020B0503020204020204" pitchFamily="34" charset="-122"/>
                <a:cs typeface="Times New Roman" panose="02020603050405020304" pitchFamily="18" charset="0"/>
              </a:rPr>
              <a:t>3</a:t>
            </a:r>
            <a:r>
              <a:rPr lang="zh-CN" altLang="en-US" sz="2000" b="0" dirty="0">
                <a:ea typeface="微软雅黑" panose="020B0503020204020204" pitchFamily="34" charset="-122"/>
                <a:cs typeface="Times New Roman" panose="02020603050405020304" pitchFamily="18" charset="0"/>
              </a:rPr>
              <a:t>个大版本</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智能分词结果： </a:t>
            </a:r>
            <a:r>
              <a:rPr lang="en-US" altLang="zh-CN" sz="2000" b="0" dirty="0">
                <a:ea typeface="微软雅黑" panose="020B0503020204020204" pitchFamily="34" charset="-122"/>
                <a:cs typeface="Times New Roman" panose="02020603050405020304" pitchFamily="18" charset="0"/>
              </a:rPr>
              <a:t>IK | </a:t>
            </a:r>
            <a:r>
              <a:rPr lang="zh-CN" altLang="en-US" sz="2000" b="0" dirty="0">
                <a:ea typeface="微软雅黑" panose="020B0503020204020204" pitchFamily="34" charset="-122"/>
                <a:cs typeface="Times New Roman" panose="02020603050405020304" pitchFamily="18" charset="0"/>
              </a:rPr>
              <a:t>是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一个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开源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基于 </a:t>
            </a:r>
            <a:r>
              <a:rPr lang="en-US" altLang="zh-CN" sz="2000" b="0" dirty="0">
                <a:ea typeface="微软雅黑" panose="020B0503020204020204" pitchFamily="34" charset="-122"/>
                <a:cs typeface="Times New Roman" panose="02020603050405020304" pitchFamily="18" charset="0"/>
              </a:rPr>
              <a:t>| java | </a:t>
            </a:r>
            <a:r>
              <a:rPr lang="zh-CN" altLang="en-US" sz="2000" b="0" dirty="0">
                <a:ea typeface="微软雅黑" panose="020B0503020204020204" pitchFamily="34" charset="-122"/>
                <a:cs typeface="Times New Roman" panose="02020603050405020304" pitchFamily="18" charset="0"/>
              </a:rPr>
              <a:t>语言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开发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轻量级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中文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分词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工具包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从 </a:t>
            </a:r>
            <a:r>
              <a:rPr lang="en-US" altLang="zh-CN" sz="2000" b="0" dirty="0">
                <a:ea typeface="微软雅黑" panose="020B0503020204020204" pitchFamily="34" charset="-122"/>
                <a:cs typeface="Times New Roman" panose="02020603050405020304" pitchFamily="18" charset="0"/>
              </a:rPr>
              <a:t>| 2006</a:t>
            </a:r>
            <a:r>
              <a:rPr lang="zh-CN" altLang="en-US" sz="2000" b="0" dirty="0">
                <a:ea typeface="微软雅黑" panose="020B0503020204020204" pitchFamily="34" charset="-122"/>
                <a:cs typeface="Times New Roman" panose="02020603050405020304" pitchFamily="18" charset="0"/>
              </a:rPr>
              <a:t>年 </a:t>
            </a:r>
            <a:r>
              <a:rPr lang="en-US" altLang="zh-CN" sz="2000" b="0" dirty="0">
                <a:ea typeface="微软雅黑" panose="020B0503020204020204" pitchFamily="34" charset="-122"/>
                <a:cs typeface="Times New Roman" panose="02020603050405020304" pitchFamily="18" charset="0"/>
              </a:rPr>
              <a:t>| 12</a:t>
            </a:r>
            <a:r>
              <a:rPr lang="zh-CN" altLang="en-US" sz="2000" b="0" dirty="0">
                <a:ea typeface="微软雅黑" panose="020B0503020204020204" pitchFamily="34" charset="-122"/>
                <a:cs typeface="Times New Roman" panose="02020603050405020304" pitchFamily="18" charset="0"/>
              </a:rPr>
              <a:t>月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推出 </a:t>
            </a:r>
            <a:r>
              <a:rPr lang="en-US" altLang="zh-CN" sz="2000" b="0" dirty="0">
                <a:ea typeface="微软雅黑" panose="020B0503020204020204" pitchFamily="34" charset="-122"/>
                <a:cs typeface="Times New Roman" panose="02020603050405020304" pitchFamily="18" charset="0"/>
              </a:rPr>
              <a:t>| 1.0</a:t>
            </a:r>
            <a:r>
              <a:rPr lang="zh-CN" altLang="en-US" sz="2000" b="0" dirty="0">
                <a:ea typeface="微软雅黑" panose="020B0503020204020204" pitchFamily="34" charset="-122"/>
                <a:cs typeface="Times New Roman" panose="02020603050405020304" pitchFamily="18" charset="0"/>
              </a:rPr>
              <a:t>版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开始 </a:t>
            </a:r>
            <a:r>
              <a:rPr lang="en-US" altLang="zh-CN" sz="2000" b="0" dirty="0">
                <a:ea typeface="微软雅黑" panose="020B0503020204020204" pitchFamily="34" charset="-122"/>
                <a:cs typeface="Times New Roman" panose="02020603050405020304" pitchFamily="18" charset="0"/>
              </a:rPr>
              <a:t>| </a:t>
            </a:r>
            <a:r>
              <a:rPr lang="en-US" altLang="zh-CN" sz="2000" b="0" dirty="0" err="1">
                <a:ea typeface="微软雅黑" panose="020B0503020204020204" pitchFamily="34" charset="-122"/>
                <a:cs typeface="Times New Roman" panose="02020603050405020304" pitchFamily="18" charset="0"/>
              </a:rPr>
              <a:t>ikanalyzer</a:t>
            </a:r>
            <a:r>
              <a:rPr lang="en-US" altLang="zh-CN" sz="2000" b="0" dirty="0">
                <a:ea typeface="微软雅黑" panose="020B0503020204020204" pitchFamily="34" charset="-122"/>
                <a:cs typeface="Times New Roman" panose="02020603050405020304" pitchFamily="18" charset="0"/>
              </a:rPr>
              <a:t> | </a:t>
            </a:r>
            <a:r>
              <a:rPr lang="zh-CN" altLang="en-US" sz="2000" b="0" dirty="0">
                <a:ea typeface="微软雅黑" panose="020B0503020204020204" pitchFamily="34" charset="-122"/>
                <a:cs typeface="Times New Roman" panose="02020603050405020304" pitchFamily="18" charset="0"/>
              </a:rPr>
              <a:t>已经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推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出了 </a:t>
            </a:r>
            <a:r>
              <a:rPr lang="en-US" altLang="zh-CN" sz="2000" b="0" dirty="0">
                <a:ea typeface="微软雅黑" panose="020B0503020204020204" pitchFamily="34" charset="-122"/>
                <a:cs typeface="Times New Roman" panose="02020603050405020304" pitchFamily="18" charset="0"/>
              </a:rPr>
              <a:t>| 3</a:t>
            </a:r>
            <a:r>
              <a:rPr lang="zh-CN" altLang="en-US" sz="2000" b="0" dirty="0">
                <a:ea typeface="微软雅黑" panose="020B0503020204020204" pitchFamily="34" charset="-122"/>
                <a:cs typeface="Times New Roman" panose="02020603050405020304" pitchFamily="18" charset="0"/>
              </a:rPr>
              <a:t>个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大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版本</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最细粒度分词结果： </a:t>
            </a:r>
            <a:r>
              <a:rPr lang="en-US" altLang="zh-CN" sz="2000" b="0" dirty="0">
                <a:ea typeface="微软雅黑" panose="020B0503020204020204" pitchFamily="34" charset="-122"/>
                <a:cs typeface="Times New Roman" panose="02020603050405020304" pitchFamily="18" charset="0"/>
              </a:rPr>
              <a:t>IK | </a:t>
            </a:r>
            <a:r>
              <a:rPr lang="zh-CN" altLang="en-US" sz="2000" b="0" dirty="0">
                <a:ea typeface="微软雅黑" panose="020B0503020204020204" pitchFamily="34" charset="-122"/>
                <a:cs typeface="Times New Roman" panose="02020603050405020304" pitchFamily="18" charset="0"/>
              </a:rPr>
              <a:t>是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一个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一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个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开源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基于 </a:t>
            </a:r>
            <a:r>
              <a:rPr lang="en-US" altLang="zh-CN" sz="2000" b="0" dirty="0">
                <a:ea typeface="微软雅黑" panose="020B0503020204020204" pitchFamily="34" charset="-122"/>
                <a:cs typeface="Times New Roman" panose="02020603050405020304" pitchFamily="18" charset="0"/>
              </a:rPr>
              <a:t>| java | </a:t>
            </a:r>
            <a:r>
              <a:rPr lang="zh-CN" altLang="en-US" sz="2000" b="0" dirty="0">
                <a:ea typeface="微软雅黑" panose="020B0503020204020204" pitchFamily="34" charset="-122"/>
                <a:cs typeface="Times New Roman" panose="02020603050405020304" pitchFamily="18" charset="0"/>
              </a:rPr>
              <a:t>语言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开发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轻量级</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量级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中文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分词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工具包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工具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包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从 </a:t>
            </a:r>
            <a:r>
              <a:rPr lang="en-US" altLang="zh-CN" sz="2000" b="0" dirty="0">
                <a:ea typeface="微软雅黑" panose="020B0503020204020204" pitchFamily="34" charset="-122"/>
                <a:cs typeface="Times New Roman" panose="02020603050405020304" pitchFamily="18" charset="0"/>
              </a:rPr>
              <a:t>| 2006 | </a:t>
            </a:r>
            <a:r>
              <a:rPr lang="zh-CN" altLang="en-US" sz="2000" b="0" dirty="0">
                <a:ea typeface="微软雅黑" panose="020B0503020204020204" pitchFamily="34" charset="-122"/>
                <a:cs typeface="Times New Roman" panose="02020603050405020304" pitchFamily="18" charset="0"/>
              </a:rPr>
              <a:t>年 </a:t>
            </a:r>
            <a:r>
              <a:rPr lang="en-US" altLang="zh-CN" sz="2000" b="0" dirty="0">
                <a:ea typeface="微软雅黑" panose="020B0503020204020204" pitchFamily="34" charset="-122"/>
                <a:cs typeface="Times New Roman" panose="02020603050405020304" pitchFamily="18" charset="0"/>
              </a:rPr>
              <a:t>| 12 | </a:t>
            </a:r>
            <a:r>
              <a:rPr lang="zh-CN" altLang="en-US" sz="2000" b="0" dirty="0">
                <a:ea typeface="微软雅黑" panose="020B0503020204020204" pitchFamily="34" charset="-122"/>
                <a:cs typeface="Times New Roman" panose="02020603050405020304" pitchFamily="18" charset="0"/>
              </a:rPr>
              <a:t>月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推出 </a:t>
            </a:r>
            <a:r>
              <a:rPr lang="en-US" altLang="zh-CN" sz="2000" b="0" dirty="0">
                <a:ea typeface="微软雅黑" panose="020B0503020204020204" pitchFamily="34" charset="-122"/>
                <a:cs typeface="Times New Roman" panose="02020603050405020304" pitchFamily="18" charset="0"/>
              </a:rPr>
              <a:t>| 1.0 | </a:t>
            </a:r>
            <a:r>
              <a:rPr lang="zh-CN" altLang="en-US" sz="2000" b="0" dirty="0">
                <a:ea typeface="微软雅黑" panose="020B0503020204020204" pitchFamily="34" charset="-122"/>
                <a:cs typeface="Times New Roman" panose="02020603050405020304" pitchFamily="18" charset="0"/>
              </a:rPr>
              <a:t>版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开始 </a:t>
            </a:r>
            <a:r>
              <a:rPr lang="en-US" altLang="zh-CN" sz="2000" b="0" dirty="0">
                <a:ea typeface="微软雅黑" panose="020B0503020204020204" pitchFamily="34" charset="-122"/>
                <a:cs typeface="Times New Roman" panose="02020603050405020304" pitchFamily="18" charset="0"/>
              </a:rPr>
              <a:t>| </a:t>
            </a:r>
            <a:r>
              <a:rPr lang="en-US" altLang="zh-CN" sz="2000" b="0" dirty="0" err="1">
                <a:ea typeface="微软雅黑" panose="020B0503020204020204" pitchFamily="34" charset="-122"/>
                <a:cs typeface="Times New Roman" panose="02020603050405020304" pitchFamily="18" charset="0"/>
              </a:rPr>
              <a:t>ikanalyzer</a:t>
            </a:r>
            <a:r>
              <a:rPr lang="en-US" altLang="zh-CN" sz="2000" b="0" dirty="0">
                <a:ea typeface="微软雅黑" panose="020B0503020204020204" pitchFamily="34" charset="-122"/>
                <a:cs typeface="Times New Roman" panose="02020603050405020304" pitchFamily="18" charset="0"/>
              </a:rPr>
              <a:t> | </a:t>
            </a:r>
            <a:r>
              <a:rPr lang="zh-CN" altLang="en-US" sz="2000" b="0" dirty="0">
                <a:ea typeface="微软雅黑" panose="020B0503020204020204" pitchFamily="34" charset="-122"/>
                <a:cs typeface="Times New Roman" panose="02020603050405020304" pitchFamily="18" charset="0"/>
              </a:rPr>
              <a:t>已经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推出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出了 </a:t>
            </a:r>
            <a:r>
              <a:rPr lang="en-US" altLang="zh-CN" sz="2000" b="0" dirty="0">
                <a:ea typeface="微软雅黑" panose="020B0503020204020204" pitchFamily="34" charset="-122"/>
                <a:cs typeface="Times New Roman" panose="02020603050405020304" pitchFamily="18" charset="0"/>
              </a:rPr>
              <a:t>| 3 | </a:t>
            </a:r>
            <a:r>
              <a:rPr lang="zh-CN" altLang="en-US" sz="2000" b="0" dirty="0">
                <a:ea typeface="微软雅黑" panose="020B0503020204020204" pitchFamily="34" charset="-122"/>
                <a:cs typeface="Times New Roman" panose="02020603050405020304" pitchFamily="18" charset="0"/>
              </a:rPr>
              <a:t>个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大 </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版本</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a:t>
            </a:r>
            <a:r>
              <a:rPr lang="zh-CN" altLang="en-US" sz="2800" dirty="0">
                <a:solidFill>
                  <a:srgbClr val="0150A2"/>
                </a:solidFill>
                <a:ea typeface="微软雅黑" panose="020B0503020204020204" pitchFamily="34" charset="-122"/>
                <a:cs typeface="Times New Roman" panose="02020603050405020304" pitchFamily="18" charset="0"/>
                <a:sym typeface="+mn-ea"/>
              </a:rPr>
              <a:t>的</a:t>
            </a:r>
            <a:r>
              <a:rPr lang="en-US" altLang="zh-CN" sz="2800" dirty="0">
                <a:solidFill>
                  <a:srgbClr val="0150A2"/>
                </a:solidFill>
                <a:ea typeface="微软雅黑" panose="020B0503020204020204" pitchFamily="34" charset="-122"/>
                <a:cs typeface="Times New Roman" panose="02020603050405020304" pitchFamily="18" charset="0"/>
                <a:sym typeface="+mn-ea"/>
              </a:rPr>
              <a:t>document</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1656159"/>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用户提供的源是一条条记录，它们可以是文本文件、字符串或者数据库表的一条记录等等。</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一条记录经过</a:t>
            </a:r>
            <a:r>
              <a:rPr lang="zh-CN" altLang="en-US" sz="2000" dirty="0">
                <a:ea typeface="微软雅黑" panose="020B0503020204020204" pitchFamily="34" charset="-122"/>
                <a:cs typeface="Times New Roman" panose="02020603050405020304" pitchFamily="18" charset="0"/>
              </a:rPr>
              <a:t>索引</a:t>
            </a:r>
            <a:r>
              <a:rPr lang="zh-CN" altLang="en-US" sz="2000" b="0" dirty="0">
                <a:ea typeface="微软雅黑" panose="020B0503020204020204" pitchFamily="34" charset="-122"/>
                <a:cs typeface="Times New Roman" panose="02020603050405020304" pitchFamily="18" charset="0"/>
              </a:rPr>
              <a:t>之后，就是以一个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的形式存储在索引文件中的。用户进行搜索，也是以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列表的形式返回。</a:t>
            </a:r>
            <a:endParaRPr lang="zh-CN" altLang="en-US" sz="2000" b="0" dirty="0">
              <a:ea typeface="微软雅黑" panose="020B0503020204020204" pitchFamily="34" charset="-122"/>
              <a:cs typeface="Times New Roman" panose="02020603050405020304" pitchFamily="18" charset="0"/>
            </a:endParaRPr>
          </a:p>
        </p:txBody>
      </p:sp>
      <p:sp>
        <p:nvSpPr>
          <p:cNvPr id="16" name="Text Box 5"/>
          <p:cNvSpPr txBox="1">
            <a:spLocks noChangeArrowheads="1"/>
          </p:cNvSpPr>
          <p:nvPr/>
        </p:nvSpPr>
        <p:spPr bwMode="auto">
          <a:xfrm>
            <a:off x="838727" y="3025304"/>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a:t>
            </a:r>
            <a:r>
              <a:rPr lang="zh-CN" altLang="en-US" sz="2800" dirty="0">
                <a:solidFill>
                  <a:srgbClr val="0150A2"/>
                </a:solidFill>
                <a:ea typeface="微软雅黑" panose="020B0503020204020204" pitchFamily="34" charset="-122"/>
                <a:cs typeface="Times New Roman" panose="02020603050405020304" pitchFamily="18" charset="0"/>
                <a:sym typeface="+mn-ea"/>
              </a:rPr>
              <a:t>的</a:t>
            </a:r>
            <a:r>
              <a:rPr lang="en-US" altLang="zh-CN" sz="2800" dirty="0">
                <a:solidFill>
                  <a:srgbClr val="0150A2"/>
                </a:solidFill>
                <a:ea typeface="微软雅黑" panose="020B0503020204020204" pitchFamily="34" charset="-122"/>
                <a:cs typeface="Times New Roman" panose="02020603050405020304" pitchFamily="18" charset="0"/>
                <a:sym typeface="+mn-ea"/>
              </a:rPr>
              <a:t>field</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7" name="Text Box 5"/>
          <p:cNvSpPr txBox="1">
            <a:spLocks noChangeArrowheads="1"/>
          </p:cNvSpPr>
          <p:nvPr/>
        </p:nvSpPr>
        <p:spPr bwMode="auto">
          <a:xfrm>
            <a:off x="1204432" y="3545033"/>
            <a:ext cx="10300278" cy="1656159"/>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 一个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可以包含多个信息域，例如一篇文章可以包含“标题”、“正文”、“最后修改时间”等信息域，这些信息域就是通过 </a:t>
            </a:r>
            <a:r>
              <a:rPr lang="en-US" altLang="zh-CN" sz="2000" b="0" dirty="0">
                <a:ea typeface="微软雅黑" panose="020B0503020204020204" pitchFamily="34" charset="-122"/>
                <a:cs typeface="Times New Roman" panose="02020603050405020304" pitchFamily="18" charset="0"/>
              </a:rPr>
              <a:t>field </a:t>
            </a:r>
            <a:r>
              <a:rPr lang="zh-CN" altLang="en-US" sz="2000" b="0" dirty="0">
                <a:ea typeface="微软雅黑" panose="020B0503020204020204" pitchFamily="34" charset="-122"/>
                <a:cs typeface="Times New Roman" panose="02020603050405020304" pitchFamily="18" charset="0"/>
              </a:rPr>
              <a:t>在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中存储的。</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Field</a:t>
            </a:r>
            <a:r>
              <a:rPr lang="zh-CN" altLang="en-US" sz="2000" b="0" dirty="0">
                <a:ea typeface="微软雅黑" panose="020B0503020204020204" pitchFamily="34" charset="-122"/>
                <a:cs typeface="Times New Roman" panose="02020603050405020304" pitchFamily="18" charset="0"/>
              </a:rPr>
              <a:t>有两个属性可选：</a:t>
            </a:r>
            <a:r>
              <a:rPr lang="zh-CN" altLang="en-US" sz="2000" dirty="0">
                <a:ea typeface="微软雅黑" panose="020B0503020204020204" pitchFamily="34" charset="-122"/>
                <a:cs typeface="Times New Roman" panose="02020603050405020304" pitchFamily="18" charset="0"/>
              </a:rPr>
              <a:t>存储</a:t>
            </a:r>
            <a:r>
              <a:rPr lang="zh-CN" altLang="en-US" sz="2000" b="0" dirty="0">
                <a:ea typeface="微软雅黑" panose="020B0503020204020204" pitchFamily="34" charset="-122"/>
                <a:cs typeface="Times New Roman" panose="02020603050405020304" pitchFamily="18" charset="0"/>
              </a:rPr>
              <a:t>和</a:t>
            </a:r>
            <a:r>
              <a:rPr lang="zh-CN" altLang="en-US" sz="2000" dirty="0">
                <a:ea typeface="微软雅黑" panose="020B0503020204020204" pitchFamily="34" charset="-122"/>
                <a:cs typeface="Times New Roman" panose="02020603050405020304" pitchFamily="18" charset="0"/>
              </a:rPr>
              <a:t>索引</a:t>
            </a:r>
            <a:r>
              <a:rPr lang="zh-CN" altLang="en-US" sz="2000" b="0" dirty="0">
                <a:ea typeface="微软雅黑" panose="020B0503020204020204" pitchFamily="34" charset="-122"/>
                <a:cs typeface="Times New Roman" panose="02020603050405020304" pitchFamily="18" charset="0"/>
              </a:rPr>
              <a:t>。通过存储属性可以控制是否对这个 </a:t>
            </a:r>
            <a:r>
              <a:rPr lang="en-US" altLang="zh-CN" sz="2000" b="0" dirty="0">
                <a:ea typeface="微软雅黑" panose="020B0503020204020204" pitchFamily="34" charset="-122"/>
                <a:cs typeface="Times New Roman" panose="02020603050405020304" pitchFamily="18" charset="0"/>
              </a:rPr>
              <a:t>field </a:t>
            </a:r>
            <a:r>
              <a:rPr lang="zh-CN" altLang="en-US" sz="2000" b="0" dirty="0">
                <a:ea typeface="微软雅黑" panose="020B0503020204020204" pitchFamily="34" charset="-122"/>
                <a:cs typeface="Times New Roman" panose="02020603050405020304" pitchFamily="18" charset="0"/>
              </a:rPr>
              <a:t>进行存储；通过索引属性可以控制是否对该 </a:t>
            </a:r>
            <a:r>
              <a:rPr lang="en-US" altLang="zh-CN" sz="2000" b="0" dirty="0">
                <a:ea typeface="微软雅黑" panose="020B0503020204020204" pitchFamily="34" charset="-122"/>
                <a:cs typeface="Times New Roman" panose="02020603050405020304" pitchFamily="18" charset="0"/>
              </a:rPr>
              <a:t>field </a:t>
            </a:r>
            <a:r>
              <a:rPr lang="zh-CN" altLang="en-US" sz="2000" b="0" dirty="0">
                <a:ea typeface="微软雅黑" panose="020B0503020204020204" pitchFamily="34" charset="-122"/>
                <a:cs typeface="Times New Roman" panose="02020603050405020304" pitchFamily="18" charset="0"/>
              </a:rPr>
              <a:t>进行索引。</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 </a:t>
            </a:r>
            <a:r>
              <a:rPr lang="zh-CN" altLang="en-US" sz="2800" dirty="0">
                <a:solidFill>
                  <a:srgbClr val="0150A2"/>
                </a:solidFill>
                <a:ea typeface="微软雅黑" panose="020B0503020204020204" pitchFamily="34" charset="-122"/>
                <a:cs typeface="Times New Roman" panose="02020603050405020304" pitchFamily="18" charset="0"/>
                <a:sym typeface="+mn-ea"/>
              </a:rPr>
              <a:t>建立索引</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455830"/>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0" algn="just">
              <a:lnSpc>
                <a:spcPct val="130000"/>
              </a:lnSpc>
              <a:buSzPct val="100000"/>
            </a:pPr>
            <a:r>
              <a:rPr lang="zh-CN" altLang="en-US" sz="2000" b="0" dirty="0">
                <a:ea typeface="微软雅黑" panose="020B0503020204020204" pitchFamily="34" charset="-122"/>
                <a:cs typeface="Times New Roman" panose="02020603050405020304" pitchFamily="18" charset="0"/>
              </a:rPr>
              <a:t>简单的能完成索引的代码片断：</a:t>
            </a:r>
            <a:endParaRPr lang="zh-CN" altLang="en-US" sz="2000" b="0" dirty="0">
              <a:ea typeface="微软雅黑" panose="020B0503020204020204" pitchFamily="34" charset="-122"/>
              <a:cs typeface="Times New Roman" panose="02020603050405020304" pitchFamily="18" charset="0"/>
            </a:endParaRPr>
          </a:p>
        </p:txBody>
      </p:sp>
      <p:sp>
        <p:nvSpPr>
          <p:cNvPr id="16" name="文本框 15"/>
          <p:cNvSpPr txBox="1"/>
          <p:nvPr/>
        </p:nvSpPr>
        <p:spPr>
          <a:xfrm>
            <a:off x="1128713" y="1789822"/>
            <a:ext cx="9729788" cy="2862322"/>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IndexWriter</a:t>
            </a:r>
            <a:r>
              <a:rPr lang="en-US" altLang="zh-CN" sz="1800" dirty="0">
                <a:solidFill>
                  <a:srgbClr val="333333"/>
                </a:solidFill>
                <a:effectLst/>
                <a:latin typeface="Lucida Console" panose="020B0609040504020204" pitchFamily="49" charset="0"/>
              </a:rPr>
              <a:t> writer = new </a:t>
            </a:r>
            <a:r>
              <a:rPr lang="en-US" altLang="zh-CN" sz="1800" dirty="0" err="1">
                <a:solidFill>
                  <a:srgbClr val="333333"/>
                </a:solidFill>
                <a:effectLst/>
                <a:latin typeface="Lucida Console" panose="020B0609040504020204" pitchFamily="49" charset="0"/>
              </a:rPr>
              <a:t>IndexWriter</a:t>
            </a:r>
            <a:r>
              <a:rPr lang="en-US" altLang="zh-CN" sz="1800" dirty="0">
                <a:solidFill>
                  <a:srgbClr val="333333"/>
                </a:solidFill>
                <a:effectLst/>
                <a:latin typeface="Lucida Console" panose="020B0609040504020204" pitchFamily="49" charset="0"/>
              </a:rPr>
              <a:t>(“/data/index/”, new </a:t>
            </a:r>
            <a:r>
              <a:rPr lang="en-US" altLang="zh-CN" sz="1800" dirty="0" err="1">
                <a:solidFill>
                  <a:srgbClr val="333333"/>
                </a:solidFill>
                <a:effectLst/>
                <a:latin typeface="Lucida Console" panose="020B0609040504020204" pitchFamily="49" charset="0"/>
              </a:rPr>
              <a:t>StandardAnalyzer</a:t>
            </a:r>
            <a:r>
              <a:rPr lang="en-US" altLang="zh-CN" sz="1800" dirty="0">
                <a:solidFill>
                  <a:srgbClr val="333333"/>
                </a:solidFill>
                <a:effectLst/>
                <a:latin typeface="Lucida Console" panose="020B0609040504020204" pitchFamily="49" charset="0"/>
              </a:rPr>
              <a:t>(), true);</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Document doc = new Document();</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doc.add</a:t>
            </a:r>
            <a:r>
              <a:rPr lang="en-US" altLang="zh-CN" sz="1800" dirty="0">
                <a:solidFill>
                  <a:srgbClr val="333333"/>
                </a:solidFill>
                <a:effectLst/>
                <a:latin typeface="Lucida Console" panose="020B0609040504020204" pitchFamily="49" charset="0"/>
              </a:rPr>
              <a:t>(new Field("title", "</a:t>
            </a:r>
            <a:r>
              <a:rPr lang="en-US" altLang="zh-CN" sz="1800" dirty="0" err="1">
                <a:solidFill>
                  <a:srgbClr val="333333"/>
                </a:solidFill>
                <a:effectLst/>
                <a:latin typeface="Lucida Console" panose="020B0609040504020204" pitchFamily="49" charset="0"/>
              </a:rPr>
              <a:t>lucene</a:t>
            </a:r>
            <a:r>
              <a:rPr lang="en-US" altLang="zh-CN" sz="1800" dirty="0">
                <a:solidFill>
                  <a:srgbClr val="333333"/>
                </a:solidFill>
                <a:effectLst/>
                <a:latin typeface="Lucida Console" panose="020B0609040504020204" pitchFamily="49" charset="0"/>
              </a:rPr>
              <a:t> introduction", </a:t>
            </a:r>
            <a:r>
              <a:rPr lang="en-US" altLang="zh-CN" sz="1800" dirty="0" err="1">
                <a:solidFill>
                  <a:srgbClr val="333333"/>
                </a:solidFill>
                <a:effectLst/>
                <a:latin typeface="Lucida Console" panose="020B0609040504020204" pitchFamily="49" charset="0"/>
              </a:rPr>
              <a:t>Field.Store.YES</a:t>
            </a:r>
            <a:r>
              <a:rPr lang="en-US" altLang="zh-CN" sz="1800" dirty="0">
                <a:solidFill>
                  <a:srgbClr val="333333"/>
                </a:solidFill>
                <a:effectLst/>
                <a:latin typeface="Lucida Console" panose="020B0609040504020204" pitchFamily="49" charset="0"/>
              </a:rPr>
              <a:t>, </a:t>
            </a:r>
            <a:r>
              <a:rPr lang="en-US" altLang="zh-CN" sz="1800" dirty="0" err="1">
                <a:solidFill>
                  <a:srgbClr val="333333"/>
                </a:solidFill>
                <a:effectLst/>
                <a:latin typeface="Lucida Console" panose="020B0609040504020204" pitchFamily="49" charset="0"/>
              </a:rPr>
              <a:t>Field.Index.TOKENIZED</a:t>
            </a:r>
            <a:r>
              <a:rPr lang="en-US" altLang="zh-CN" sz="1800" dirty="0">
                <a:solidFill>
                  <a:srgbClr val="333333"/>
                </a:solidFill>
                <a:effectLst/>
                <a:latin typeface="Lucida Console" panose="020B0609040504020204" pitchFamily="49" charset="0"/>
              </a:rPr>
              <a:t>));</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doc.add</a:t>
            </a:r>
            <a:r>
              <a:rPr lang="en-US" altLang="zh-CN" sz="1800" dirty="0">
                <a:solidFill>
                  <a:srgbClr val="333333"/>
                </a:solidFill>
                <a:effectLst/>
                <a:latin typeface="Lucida Console" panose="020B0609040504020204" pitchFamily="49" charset="0"/>
              </a:rPr>
              <a:t>(new Field("content", "</a:t>
            </a:r>
            <a:r>
              <a:rPr lang="en-US" altLang="zh-CN" sz="1800" dirty="0" err="1">
                <a:solidFill>
                  <a:srgbClr val="333333"/>
                </a:solidFill>
                <a:effectLst/>
                <a:latin typeface="Lucida Console" panose="020B0609040504020204" pitchFamily="49" charset="0"/>
              </a:rPr>
              <a:t>lucene</a:t>
            </a:r>
            <a:r>
              <a:rPr lang="en-US" altLang="zh-CN" sz="1800" dirty="0">
                <a:solidFill>
                  <a:srgbClr val="333333"/>
                </a:solidFill>
                <a:effectLst/>
                <a:latin typeface="Lucida Console" panose="020B0609040504020204" pitchFamily="49" charset="0"/>
              </a:rPr>
              <a:t> works well", </a:t>
            </a:r>
            <a:r>
              <a:rPr lang="en-US" altLang="zh-CN" sz="1800" dirty="0" err="1">
                <a:solidFill>
                  <a:srgbClr val="333333"/>
                </a:solidFill>
                <a:effectLst/>
                <a:latin typeface="Lucida Console" panose="020B0609040504020204" pitchFamily="49" charset="0"/>
              </a:rPr>
              <a:t>Field.Store.YES</a:t>
            </a:r>
            <a:r>
              <a:rPr lang="en-US" altLang="zh-CN" sz="1800" dirty="0">
                <a:solidFill>
                  <a:srgbClr val="333333"/>
                </a:solidFill>
                <a:effectLst/>
                <a:latin typeface="Lucida Console" panose="020B0609040504020204" pitchFamily="49" charset="0"/>
              </a:rPr>
              <a:t>, </a:t>
            </a:r>
            <a:r>
              <a:rPr lang="en-US" altLang="zh-CN" sz="1800" dirty="0" err="1">
                <a:solidFill>
                  <a:srgbClr val="333333"/>
                </a:solidFill>
                <a:effectLst/>
                <a:latin typeface="Lucida Console" panose="020B0609040504020204" pitchFamily="49" charset="0"/>
              </a:rPr>
              <a:t>Field.Index.TOKENIZED</a:t>
            </a:r>
            <a:r>
              <a:rPr lang="en-US" altLang="zh-CN" sz="1800" dirty="0">
                <a:solidFill>
                  <a:srgbClr val="333333"/>
                </a:solidFill>
                <a:effectLst/>
                <a:latin typeface="Lucida Console" panose="020B0609040504020204" pitchFamily="49" charset="0"/>
              </a:rPr>
              <a:t>));</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writer.addDocument</a:t>
            </a:r>
            <a:r>
              <a:rPr lang="en-US" altLang="zh-CN" sz="1800" dirty="0">
                <a:solidFill>
                  <a:srgbClr val="333333"/>
                </a:solidFill>
                <a:effectLst/>
                <a:latin typeface="Lucida Console" panose="020B0609040504020204" pitchFamily="49" charset="0"/>
              </a:rPr>
              <a:t>(doc);</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writer.optimize</a:t>
            </a:r>
            <a:r>
              <a:rPr lang="en-US" altLang="zh-CN" sz="1800" dirty="0">
                <a:solidFill>
                  <a:srgbClr val="333333"/>
                </a:solidFill>
                <a:effectLst/>
                <a:latin typeface="Lucida Console" panose="020B0609040504020204" pitchFamily="49" charset="0"/>
              </a:rPr>
              <a:t>();</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writer.close</a:t>
            </a:r>
            <a:r>
              <a:rPr lang="en-US" altLang="zh-CN" sz="1800" dirty="0">
                <a:solidFill>
                  <a:srgbClr val="333333"/>
                </a:solidFill>
                <a:effectLst/>
                <a:latin typeface="Lucida Console" panose="020B0609040504020204" pitchFamily="49" charset="0"/>
              </a:rPr>
              <a:t>();</a:t>
            </a:r>
            <a:endParaRPr lang="en-US" altLang="zh-CN" sz="1800" dirty="0">
              <a:solidFill>
                <a:srgbClr val="333333"/>
              </a:solidFill>
              <a:effectLst/>
              <a:latin typeface="Lucida Console" panose="020B0609040504020204" pitchFamily="49" charset="0"/>
            </a:endParaRPr>
          </a:p>
        </p:txBody>
      </p:sp>
      <p:sp>
        <p:nvSpPr>
          <p:cNvPr id="17" name="Text Box 5"/>
          <p:cNvSpPr txBox="1">
            <a:spLocks noChangeArrowheads="1"/>
          </p:cNvSpPr>
          <p:nvPr/>
        </p:nvSpPr>
        <p:spPr bwMode="auto">
          <a:xfrm>
            <a:off x="1128713" y="4672216"/>
            <a:ext cx="10300278" cy="855940"/>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0" algn="just">
              <a:lnSpc>
                <a:spcPct val="130000"/>
              </a:lnSpc>
              <a:buSzPct val="100000"/>
            </a:pPr>
            <a:r>
              <a:rPr lang="zh-CN" altLang="en-US" sz="2000" b="0" dirty="0">
                <a:ea typeface="微软雅黑" panose="020B0503020204020204" pitchFamily="34" charset="-122"/>
                <a:cs typeface="Times New Roman" panose="02020603050405020304" pitchFamily="18" charset="0"/>
              </a:rPr>
              <a:t>向</a:t>
            </a:r>
            <a:r>
              <a:rPr lang="en-US" altLang="zh-CN" sz="2000" b="0" dirty="0">
                <a:ea typeface="微软雅黑" panose="020B0503020204020204" pitchFamily="34" charset="-122"/>
                <a:cs typeface="Times New Roman" panose="02020603050405020304" pitchFamily="18" charset="0"/>
              </a:rPr>
              <a:t>/data/index/</a:t>
            </a:r>
            <a:r>
              <a:rPr lang="zh-CN" altLang="en-US" sz="2000" b="0" dirty="0">
                <a:ea typeface="微软雅黑" panose="020B0503020204020204" pitchFamily="34" charset="-122"/>
                <a:cs typeface="Times New Roman" panose="02020603050405020304" pitchFamily="18" charset="0"/>
              </a:rPr>
              <a:t>中写入索引，建立 </a:t>
            </a:r>
            <a:r>
              <a:rPr lang="en-US" altLang="zh-CN" sz="2000" b="0" dirty="0">
                <a:ea typeface="微软雅黑" panose="020B0503020204020204" pitchFamily="34" charset="-122"/>
                <a:cs typeface="Times New Roman" panose="02020603050405020304" pitchFamily="18" charset="0"/>
              </a:rPr>
              <a:t>title </a:t>
            </a:r>
            <a:r>
              <a:rPr lang="zh-CN" altLang="en-US" sz="2000" b="0" dirty="0">
                <a:ea typeface="微软雅黑" panose="020B0503020204020204" pitchFamily="34" charset="-122"/>
                <a:cs typeface="Times New Roman" panose="02020603050405020304" pitchFamily="18" charset="0"/>
              </a:rPr>
              <a:t>和 </a:t>
            </a:r>
            <a:r>
              <a:rPr lang="en-US" altLang="zh-CN" sz="2000" b="0" dirty="0">
                <a:ea typeface="微软雅黑" panose="020B0503020204020204" pitchFamily="34" charset="-122"/>
                <a:cs typeface="Times New Roman" panose="02020603050405020304" pitchFamily="18" charset="0"/>
              </a:rPr>
              <a:t>content </a:t>
            </a:r>
            <a:r>
              <a:rPr lang="zh-CN" altLang="en-US" sz="2000" b="0" dirty="0">
                <a:ea typeface="微软雅黑" panose="020B0503020204020204" pitchFamily="34" charset="-122"/>
                <a:cs typeface="Times New Roman" panose="02020603050405020304" pitchFamily="18" charset="0"/>
              </a:rPr>
              <a:t>两个域，均进行存储和索引，使用标准分词器（不可进行中文分词）。</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Apache </a:t>
            </a: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4857035"/>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Apache </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是一个基于</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的企业级搜索平台，提供了强大的全文搜索和分析功能。它是一个开源项目，由</a:t>
            </a:r>
            <a:r>
              <a:rPr lang="en-US" altLang="zh-CN" sz="2000" b="0" dirty="0">
                <a:ea typeface="微软雅黑" panose="020B0503020204020204" pitchFamily="34" charset="-122"/>
                <a:cs typeface="Times New Roman" panose="02020603050405020304" pitchFamily="18" charset="0"/>
              </a:rPr>
              <a:t>Apache</a:t>
            </a:r>
            <a:r>
              <a:rPr lang="zh-CN" altLang="en-US" sz="2000" b="0" dirty="0">
                <a:ea typeface="微软雅黑" panose="020B0503020204020204" pitchFamily="34" charset="-122"/>
                <a:cs typeface="Times New Roman" panose="02020603050405020304" pitchFamily="18" charset="0"/>
              </a:rPr>
              <a:t>软件基金会进行维护和发展。以下是一些关于</a:t>
            </a:r>
            <a:r>
              <a:rPr lang="en-US" altLang="zh-CN" sz="2000" b="0" dirty="0">
                <a:ea typeface="微软雅黑" panose="020B0503020204020204" pitchFamily="34" charset="-122"/>
                <a:cs typeface="Times New Roman" panose="02020603050405020304" pitchFamily="18" charset="0"/>
              </a:rPr>
              <a:t>Apache </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的主要特点和功能：</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分布式架构：</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支持分布式搜索和索引，可以在多个节点上存储和处理大规模数据集。它使用分片和复制机制，提供高可用性和容错性。</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高性能：</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通过使用倒排索引和缓存等技术，提供低延迟和高吞吐量的搜索性能。它还支持并行搜索和分布式查询处理，以加快搜索操作的速度。</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多种查询类型：</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提供了丰富的查询语言，包括全文搜索、字段匹配、范围查询、模糊搜索等多种查询类型。它还支持过滤器、排序和聚合操作，可以进行复杂的数据检索和分析。</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可定制性：</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提供了灵活的配置选项和插件机制，可以根据具体需求进行定制和扩展。它支持自定义的数据处理和分析流程，以及自定义的插件和扩展组件。</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Apache </a:t>
            </a: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2856488"/>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文本处理和分析：</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提供了丰富的文本处理和分析功能，包括分词、过滤器、标记化、同义词处理等。这些功能可以帮助提高搜索的准确性和召回率。</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丰富的集成和生态系统：</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与许多其他开源工具和框架集成，如</a:t>
            </a:r>
            <a:r>
              <a:rPr lang="en-US" altLang="zh-CN" sz="2000" b="0" dirty="0">
                <a:ea typeface="微软雅黑" panose="020B0503020204020204" pitchFamily="34" charset="-122"/>
                <a:cs typeface="Times New Roman" panose="02020603050405020304" pitchFamily="18" charset="0"/>
              </a:rPr>
              <a:t>Apache </a:t>
            </a:r>
            <a:r>
              <a:rPr lang="en-US" altLang="zh-CN" sz="2000" b="0" dirty="0" err="1">
                <a:ea typeface="微软雅黑" panose="020B0503020204020204" pitchFamily="34" charset="-122"/>
                <a:cs typeface="Times New Roman" panose="02020603050405020304" pitchFamily="18" charset="0"/>
              </a:rPr>
              <a:t>Nutch</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Apache Tika</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Apache Kafka</a:t>
            </a:r>
            <a:r>
              <a:rPr lang="zh-CN" altLang="en-US" sz="2000" b="0" dirty="0">
                <a:ea typeface="微软雅黑" panose="020B0503020204020204" pitchFamily="34" charset="-122"/>
                <a:cs typeface="Times New Roman" panose="02020603050405020304" pitchFamily="18" charset="0"/>
              </a:rPr>
              <a:t>等。它还与</a:t>
            </a:r>
            <a:r>
              <a:rPr lang="en-US" altLang="zh-CN" sz="2000" b="0" dirty="0">
                <a:ea typeface="微软雅黑" panose="020B0503020204020204" pitchFamily="34" charset="-122"/>
                <a:cs typeface="Times New Roman" panose="02020603050405020304" pitchFamily="18" charset="0"/>
              </a:rPr>
              <a:t>Apache Lucene</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等搜索引擎相关的工具和库兼容。</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Apache </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广泛应用于企业级搜索场景，包括电子商务、内容管理、日志分析、企业搜索等领域。通过使用</a:t>
            </a:r>
            <a:r>
              <a:rPr lang="en-US" altLang="zh-CN" sz="2000" b="0" dirty="0" err="1">
                <a:ea typeface="微软雅黑" panose="020B0503020204020204" pitchFamily="34" charset="-122"/>
                <a:cs typeface="Times New Roman" panose="02020603050405020304" pitchFamily="18" charset="0"/>
              </a:rPr>
              <a:t>Solr</a:t>
            </a:r>
            <a:r>
              <a:rPr lang="zh-CN" altLang="en-US" sz="2000" b="0" dirty="0">
                <a:ea typeface="微软雅黑" panose="020B0503020204020204" pitchFamily="34" charset="-122"/>
                <a:cs typeface="Times New Roman" panose="02020603050405020304" pitchFamily="18" charset="0"/>
              </a:rPr>
              <a:t>，开发人员可以构建高性能、可扩展和定制化的搜索应用。</a:t>
            </a:r>
            <a:endParaRPr lang="zh-CN" altLang="en-US" sz="2000" b="0" dirty="0">
              <a:ea typeface="微软雅黑" panose="020B0503020204020204" pitchFamily="34" charset="-122"/>
              <a:cs typeface="Times New Roman" panose="02020603050405020304" pitchFamily="18" charset="0"/>
            </a:endParaRPr>
          </a:p>
        </p:txBody>
      </p:sp>
      <p:pic>
        <p:nvPicPr>
          <p:cNvPr id="7170" name="Picture 2" descr="What is Apache Solr? | How it works | Need &amp; Application"/>
          <p:cNvPicPr>
            <a:picLocks noChangeAspect="1" noChangeArrowheads="1"/>
          </p:cNvPicPr>
          <p:nvPr/>
        </p:nvPicPr>
        <p:blipFill rotWithShape="1">
          <a:blip r:embed="rId3">
            <a:extLst>
              <a:ext uri="{28A0092B-C50C-407E-A947-70E740481C1C}">
                <a14:useLocalDpi xmlns:a14="http://schemas.microsoft.com/office/drawing/2010/main" val="0"/>
              </a:ext>
            </a:extLst>
          </a:blip>
          <a:srcRect l="2884" t="10365" r="5252" b="6675"/>
          <a:stretch>
            <a:fillRect/>
          </a:stretch>
        </p:blipFill>
        <p:spPr bwMode="auto">
          <a:xfrm>
            <a:off x="4170523" y="4386270"/>
            <a:ext cx="3850955" cy="1902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Lucene</a:t>
            </a:r>
            <a:r>
              <a:rPr lang="zh-CN" altLang="en-US" sz="2800" dirty="0">
                <a:solidFill>
                  <a:srgbClr val="0150A2"/>
                </a:solidFill>
                <a:ea typeface="微软雅黑" panose="020B0503020204020204" pitchFamily="34" charset="-122"/>
                <a:cs typeface="Times New Roman" panose="02020603050405020304" pitchFamily="18" charset="0"/>
                <a:sym typeface="+mn-ea"/>
              </a:rPr>
              <a:t>与</a:t>
            </a: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r>
              <a:rPr lang="zh-CN" altLang="en-US" sz="2800" dirty="0">
                <a:solidFill>
                  <a:srgbClr val="0150A2"/>
                </a:solidFill>
                <a:ea typeface="微软雅黑" panose="020B0503020204020204" pitchFamily="34" charset="-122"/>
                <a:cs typeface="Times New Roman" panose="02020603050405020304" pitchFamily="18" charset="0"/>
                <a:sym typeface="+mn-ea"/>
              </a:rPr>
              <a:t>比较</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2" name="组合 1"/>
          <p:cNvGrpSpPr/>
          <p:nvPr/>
        </p:nvGrpSpPr>
        <p:grpSpPr>
          <a:xfrm>
            <a:off x="1699903" y="1600248"/>
            <a:ext cx="8792195" cy="4145598"/>
            <a:chOff x="2084597" y="1719317"/>
            <a:chExt cx="8792195" cy="4145598"/>
          </a:xfrm>
        </p:grpSpPr>
        <p:grpSp>
          <p:nvGrpSpPr>
            <p:cNvPr id="39" name="Group 38"/>
            <p:cNvGrpSpPr/>
            <p:nvPr/>
          </p:nvGrpSpPr>
          <p:grpSpPr>
            <a:xfrm>
              <a:off x="3145375" y="2476555"/>
              <a:ext cx="2659464" cy="1356665"/>
              <a:chOff x="1422519" y="1355123"/>
              <a:chExt cx="2084286" cy="1063252"/>
            </a:xfrm>
          </p:grpSpPr>
          <p:sp>
            <p:nvSpPr>
              <p:cNvPr id="40" name="TextBox 7"/>
              <p:cNvSpPr txBox="1"/>
              <p:nvPr/>
            </p:nvSpPr>
            <p:spPr>
              <a:xfrm>
                <a:off x="1422519" y="1355123"/>
                <a:ext cx="1809089" cy="254730"/>
              </a:xfrm>
              <a:prstGeom prst="rect">
                <a:avLst/>
              </a:prstGeom>
              <a:noFill/>
            </p:spPr>
            <p:txBody>
              <a:bodyPr wrap="none" lIns="0" tIns="0" rIns="0" bIns="0" rtlCol="0" anchor="ctr">
                <a:spAutoFit/>
              </a:bodyPr>
              <a:lstStyle/>
              <a:p>
                <a:pPr>
                  <a:lnSpc>
                    <a:spcPct val="130000"/>
                  </a:lnSpc>
                </a:pPr>
                <a:r>
                  <a:rPr lang="zh-CN" altLang="en-US" dirty="0">
                    <a:solidFill>
                      <a:schemeClr val="tx1">
                        <a:lumMod val="85000"/>
                        <a:lumOff val="15000"/>
                      </a:schemeClr>
                    </a:solidFill>
                    <a:cs typeface="+mn-ea"/>
                    <a:sym typeface="+mn-lt"/>
                  </a:rPr>
                  <a:t>足够的定制和优化空间</a:t>
                </a:r>
                <a:endParaRPr lang="zh-CN" altLang="en-US" dirty="0">
                  <a:solidFill>
                    <a:schemeClr val="tx1">
                      <a:lumMod val="85000"/>
                      <a:lumOff val="15000"/>
                    </a:schemeClr>
                  </a:solidFill>
                  <a:cs typeface="+mn-ea"/>
                  <a:sym typeface="+mn-lt"/>
                </a:endParaRPr>
              </a:p>
            </p:txBody>
          </p:sp>
          <p:sp>
            <p:nvSpPr>
              <p:cNvPr id="41" name="TextBox 8"/>
              <p:cNvSpPr txBox="1"/>
              <p:nvPr/>
            </p:nvSpPr>
            <p:spPr>
              <a:xfrm>
                <a:off x="1430743" y="1649712"/>
                <a:ext cx="2076062" cy="768663"/>
              </a:xfrm>
              <a:prstGeom prst="rect">
                <a:avLst/>
              </a:prstGeom>
              <a:noFill/>
            </p:spPr>
            <p:txBody>
              <a:bodyPr wrap="square" lIns="0" tIns="0" rIns="0" bIns="0" rtlCol="0" anchor="t">
                <a:spAutoFit/>
              </a:bodyPr>
              <a:lstStyle/>
              <a:p>
                <a:pPr>
                  <a:lnSpc>
                    <a:spcPct val="130000"/>
                  </a:lnSpc>
                </a:pPr>
                <a:r>
                  <a:rPr lang="en-US" altLang="zh-CN" sz="1000" dirty="0">
                    <a:solidFill>
                      <a:schemeClr val="tx1">
                        <a:lumMod val="50000"/>
                        <a:lumOff val="50000"/>
                      </a:schemeClr>
                    </a:solidFill>
                    <a:cs typeface="+mn-ea"/>
                    <a:sym typeface="+mn-lt"/>
                  </a:rPr>
                  <a:t>1. Apache </a:t>
                </a:r>
                <a:r>
                  <a:rPr lang="zh-CN" altLang="en-US" sz="1000" dirty="0">
                    <a:solidFill>
                      <a:schemeClr val="tx1">
                        <a:lumMod val="50000"/>
                        <a:lumOff val="50000"/>
                      </a:schemeClr>
                    </a:solidFill>
                    <a:cs typeface="+mn-ea"/>
                    <a:sym typeface="+mn-lt"/>
                  </a:rPr>
                  <a:t>顶级开源项目，庞大而活跃的开发社区，大量的开发人员。</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2. </a:t>
                </a:r>
                <a:r>
                  <a:rPr lang="zh-CN" altLang="en-US" sz="1000" dirty="0">
                    <a:solidFill>
                      <a:schemeClr val="tx1">
                        <a:lumMod val="50000"/>
                        <a:lumOff val="50000"/>
                      </a:schemeClr>
                    </a:solidFill>
                    <a:cs typeface="+mn-ea"/>
                    <a:sym typeface="+mn-lt"/>
                  </a:rPr>
                  <a:t>作为一个</a:t>
                </a:r>
                <a:r>
                  <a:rPr lang="zh-CN" altLang="en-US" sz="1000" dirty="0">
                    <a:solidFill>
                      <a:schemeClr val="tx2">
                        <a:lumMod val="60000"/>
                        <a:lumOff val="40000"/>
                      </a:schemeClr>
                    </a:solidFill>
                    <a:cs typeface="+mn-ea"/>
                    <a:sym typeface="+mn-lt"/>
                  </a:rPr>
                  <a:t>类库</a:t>
                </a:r>
                <a:r>
                  <a:rPr lang="zh-CN" altLang="en-US" sz="1000" dirty="0">
                    <a:solidFill>
                      <a:schemeClr val="tx1">
                        <a:lumMod val="50000"/>
                        <a:lumOff val="50000"/>
                      </a:schemeClr>
                    </a:solidFill>
                    <a:cs typeface="+mn-ea"/>
                    <a:sym typeface="+mn-lt"/>
                  </a:rPr>
                  <a:t>，经过简单定制，就可以满足绝大部分常见的需求；但无法独立部署。</a:t>
                </a:r>
                <a:endParaRPr lang="en-US" altLang="zh-CN" sz="1000" dirty="0">
                  <a:solidFill>
                    <a:schemeClr val="tx1">
                      <a:lumMod val="50000"/>
                      <a:lumOff val="50000"/>
                    </a:schemeClr>
                  </a:solidFill>
                  <a:cs typeface="+mn-ea"/>
                  <a:sym typeface="+mn-lt"/>
                </a:endParaRPr>
              </a:p>
              <a:p>
                <a:pPr>
                  <a:lnSpc>
                    <a:spcPct val="130000"/>
                  </a:lnSpc>
                </a:pPr>
                <a:r>
                  <a:rPr lang="en-US" altLang="zh-CN" sz="1000" dirty="0">
                    <a:solidFill>
                      <a:schemeClr val="tx1">
                        <a:lumMod val="50000"/>
                        <a:lumOff val="50000"/>
                      </a:schemeClr>
                    </a:solidFill>
                    <a:cs typeface="+mn-ea"/>
                    <a:sym typeface="+mn-lt"/>
                  </a:rPr>
                  <a:t>3. </a:t>
                </a:r>
                <a:r>
                  <a:rPr lang="zh-CN" altLang="en-US" sz="1000" dirty="0">
                    <a:solidFill>
                      <a:schemeClr val="tx1">
                        <a:lumMod val="50000"/>
                        <a:lumOff val="50000"/>
                      </a:schemeClr>
                    </a:solidFill>
                    <a:cs typeface="+mn-ea"/>
                    <a:sym typeface="+mn-lt"/>
                  </a:rPr>
                  <a:t>经过优化，可以支持 </a:t>
                </a:r>
                <a:r>
                  <a:rPr lang="en-US" altLang="zh-CN" sz="1000" dirty="0">
                    <a:solidFill>
                      <a:schemeClr val="tx2">
                        <a:lumMod val="60000"/>
                        <a:lumOff val="40000"/>
                      </a:schemeClr>
                    </a:solidFill>
                    <a:cs typeface="+mn-ea"/>
                    <a:sym typeface="+mn-lt"/>
                  </a:rPr>
                  <a:t>10</a:t>
                </a:r>
                <a:r>
                  <a:rPr lang="zh-CN" altLang="en-US" sz="1000" dirty="0">
                    <a:solidFill>
                      <a:schemeClr val="tx2">
                        <a:lumMod val="60000"/>
                        <a:lumOff val="40000"/>
                      </a:schemeClr>
                    </a:solidFill>
                    <a:cs typeface="+mn-ea"/>
                    <a:sym typeface="+mn-lt"/>
                  </a:rPr>
                  <a:t>亿</a:t>
                </a:r>
                <a:r>
                  <a:rPr lang="en-US" altLang="zh-CN" sz="1000" dirty="0">
                    <a:solidFill>
                      <a:schemeClr val="tx2">
                        <a:lumMod val="60000"/>
                        <a:lumOff val="40000"/>
                      </a:schemeClr>
                    </a:solidFill>
                    <a:cs typeface="+mn-ea"/>
                    <a:sym typeface="+mn-lt"/>
                  </a:rPr>
                  <a:t>+ </a:t>
                </a:r>
                <a:r>
                  <a:rPr lang="zh-CN" altLang="en-US" sz="1000" dirty="0">
                    <a:solidFill>
                      <a:schemeClr val="tx2">
                        <a:lumMod val="60000"/>
                        <a:lumOff val="40000"/>
                      </a:schemeClr>
                    </a:solidFill>
                    <a:cs typeface="+mn-ea"/>
                    <a:sym typeface="+mn-lt"/>
                  </a:rPr>
                  <a:t>量级</a:t>
                </a:r>
                <a:r>
                  <a:rPr lang="zh-CN" altLang="en-US" sz="1000" dirty="0">
                    <a:solidFill>
                      <a:schemeClr val="tx1">
                        <a:lumMod val="50000"/>
                        <a:lumOff val="50000"/>
                      </a:schemeClr>
                    </a:solidFill>
                    <a:cs typeface="+mn-ea"/>
                    <a:sym typeface="+mn-lt"/>
                  </a:rPr>
                  <a:t>的搜索。</a:t>
                </a:r>
                <a:endParaRPr lang="en-US" altLang="zh-CN" sz="1000" dirty="0">
                  <a:solidFill>
                    <a:schemeClr val="tx1">
                      <a:lumMod val="50000"/>
                      <a:lumOff val="50000"/>
                    </a:schemeClr>
                  </a:solidFill>
                  <a:cs typeface="+mn-ea"/>
                  <a:sym typeface="+mn-lt"/>
                </a:endParaRPr>
              </a:p>
            </p:txBody>
          </p:sp>
        </p:grpSp>
        <p:sp>
          <p:nvSpPr>
            <p:cNvPr id="42" name="Rectangular Callout 28"/>
            <p:cNvSpPr>
              <a:spLocks noChangeAspect="1"/>
            </p:cNvSpPr>
            <p:nvPr/>
          </p:nvSpPr>
          <p:spPr>
            <a:xfrm flipH="1">
              <a:off x="2084597" y="2807705"/>
              <a:ext cx="738829" cy="717676"/>
            </a:xfrm>
            <a:prstGeom prst="wedgeRectCallout">
              <a:avLst/>
            </a:prstGeom>
            <a:solidFill>
              <a:srgbClr val="BA8F2D"/>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30000"/>
                </a:lnSpc>
              </a:pPr>
              <a:r>
                <a:rPr lang="zh-CN" altLang="en-US" sz="2000" dirty="0">
                  <a:solidFill>
                    <a:schemeClr val="bg1"/>
                  </a:solidFill>
                  <a:cs typeface="+mn-ea"/>
                  <a:sym typeface="+mn-lt"/>
                </a:rPr>
                <a:t>优点</a:t>
              </a:r>
              <a:endParaRPr lang="en-US" sz="2000" b="1" dirty="0">
                <a:solidFill>
                  <a:schemeClr val="bg1"/>
                </a:solidFill>
                <a:cs typeface="+mn-ea"/>
                <a:sym typeface="+mn-lt"/>
              </a:endParaRPr>
            </a:p>
          </p:txBody>
        </p:sp>
        <p:sp>
          <p:nvSpPr>
            <p:cNvPr id="43" name="Rectangular Callout 32"/>
            <p:cNvSpPr>
              <a:spLocks noChangeAspect="1"/>
            </p:cNvSpPr>
            <p:nvPr/>
          </p:nvSpPr>
          <p:spPr>
            <a:xfrm flipH="1">
              <a:off x="2084597" y="4191879"/>
              <a:ext cx="738829" cy="717678"/>
            </a:xfrm>
            <a:prstGeom prst="wedgeRectCallout">
              <a:avLst/>
            </a:prstGeom>
            <a:solidFill>
              <a:srgbClr val="2A324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2000" dirty="0">
                  <a:solidFill>
                    <a:schemeClr val="bg1"/>
                  </a:solidFill>
                  <a:cs typeface="+mn-ea"/>
                  <a:sym typeface="+mn-lt"/>
                </a:rPr>
                <a:t>缺点</a:t>
              </a:r>
              <a:endParaRPr lang="en-US" sz="2000" dirty="0">
                <a:cs typeface="+mn-ea"/>
                <a:sym typeface="+mn-lt"/>
              </a:endParaRPr>
            </a:p>
          </p:txBody>
        </p:sp>
        <p:pic>
          <p:nvPicPr>
            <p:cNvPr id="44" name="图片 4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1255" y="1833044"/>
              <a:ext cx="2247399" cy="501918"/>
            </a:xfrm>
            <a:prstGeom prst="rect">
              <a:avLst/>
            </a:prstGeom>
          </p:spPr>
        </p:pic>
        <p:pic>
          <p:nvPicPr>
            <p:cNvPr id="45" name="图片 4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9335" y="1719317"/>
              <a:ext cx="1219099" cy="615645"/>
            </a:xfrm>
            <a:prstGeom prst="rect">
              <a:avLst/>
            </a:prstGeom>
          </p:spPr>
        </p:pic>
        <p:grpSp>
          <p:nvGrpSpPr>
            <p:cNvPr id="46" name="Group 38"/>
            <p:cNvGrpSpPr/>
            <p:nvPr/>
          </p:nvGrpSpPr>
          <p:grpSpPr>
            <a:xfrm>
              <a:off x="3145374" y="4103279"/>
              <a:ext cx="2648970" cy="1604146"/>
              <a:chOff x="1405088" y="1317954"/>
              <a:chExt cx="2076062" cy="1257209"/>
            </a:xfrm>
          </p:grpSpPr>
          <p:sp>
            <p:nvSpPr>
              <p:cNvPr id="47" name="TextBox 7"/>
              <p:cNvSpPr txBox="1"/>
              <p:nvPr/>
            </p:nvSpPr>
            <p:spPr>
              <a:xfrm>
                <a:off x="1405088" y="1317954"/>
                <a:ext cx="1628181" cy="254730"/>
              </a:xfrm>
              <a:prstGeom prst="rect">
                <a:avLst/>
              </a:prstGeom>
              <a:noFill/>
            </p:spPr>
            <p:txBody>
              <a:bodyPr wrap="none" lIns="0" tIns="0" rIns="0" bIns="0" rtlCol="0" anchor="ctr">
                <a:spAutoFit/>
              </a:bodyPr>
              <a:lstStyle/>
              <a:p>
                <a:pPr>
                  <a:lnSpc>
                    <a:spcPct val="130000"/>
                  </a:lnSpc>
                </a:pPr>
                <a:r>
                  <a:rPr lang="zh-CN" altLang="en-US" dirty="0">
                    <a:solidFill>
                      <a:schemeClr val="tx1">
                        <a:lumMod val="85000"/>
                        <a:lumOff val="15000"/>
                      </a:schemeClr>
                    </a:solidFill>
                    <a:cs typeface="+mn-ea"/>
                    <a:sym typeface="+mn-lt"/>
                  </a:rPr>
                  <a:t>需要额外的开发工作</a:t>
                </a:r>
                <a:endParaRPr lang="zh-CN" altLang="en-US" dirty="0">
                  <a:solidFill>
                    <a:schemeClr val="tx1">
                      <a:lumMod val="85000"/>
                      <a:lumOff val="15000"/>
                    </a:schemeClr>
                  </a:solidFill>
                  <a:cs typeface="+mn-ea"/>
                  <a:sym typeface="+mn-lt"/>
                </a:endParaRPr>
              </a:p>
            </p:txBody>
          </p:sp>
          <p:sp>
            <p:nvSpPr>
              <p:cNvPr id="48" name="TextBox 8"/>
              <p:cNvSpPr txBox="1"/>
              <p:nvPr/>
            </p:nvSpPr>
            <p:spPr>
              <a:xfrm>
                <a:off x="1405088" y="1649712"/>
                <a:ext cx="2076062" cy="925451"/>
              </a:xfrm>
              <a:prstGeom prst="rect">
                <a:avLst/>
              </a:prstGeom>
              <a:noFill/>
            </p:spPr>
            <p:txBody>
              <a:bodyPr wrap="square" lIns="0" tIns="0" rIns="0" bIns="0" rtlCol="0" anchor="t">
                <a:spAutoFit/>
              </a:bodyPr>
              <a:lstStyle/>
              <a:p>
                <a:pPr algn="just">
                  <a:lnSpc>
                    <a:spcPct val="130000"/>
                  </a:lnSpc>
                </a:pPr>
                <a:r>
                  <a:rPr lang="en-US" altLang="zh-CN" sz="1000" dirty="0">
                    <a:solidFill>
                      <a:schemeClr val="tx1">
                        <a:lumMod val="50000"/>
                        <a:lumOff val="50000"/>
                      </a:schemeClr>
                    </a:solidFill>
                    <a:cs typeface="+mn-ea"/>
                    <a:sym typeface="+mn-lt"/>
                  </a:rPr>
                  <a:t>1. </a:t>
                </a:r>
                <a:r>
                  <a:rPr lang="zh-CN" altLang="en-US" sz="1000" dirty="0">
                    <a:solidFill>
                      <a:schemeClr val="tx1">
                        <a:lumMod val="50000"/>
                        <a:lumOff val="50000"/>
                      </a:schemeClr>
                    </a:solidFill>
                    <a:cs typeface="+mn-ea"/>
                    <a:sym typeface="+mn-lt"/>
                  </a:rPr>
                  <a:t>所有的扩展，分布式，可靠性等都需要自己实现；</a:t>
                </a:r>
                <a:endParaRPr lang="en-US" altLang="zh-CN" sz="8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2. </a:t>
                </a:r>
                <a:r>
                  <a:rPr lang="zh-CN" altLang="en-US" sz="1000" dirty="0">
                    <a:solidFill>
                      <a:schemeClr val="tx1">
                        <a:lumMod val="50000"/>
                        <a:lumOff val="50000"/>
                      </a:schemeClr>
                    </a:solidFill>
                    <a:cs typeface="+mn-ea"/>
                    <a:sym typeface="+mn-lt"/>
                  </a:rPr>
                  <a:t>非实时，从建索引到可以搜索中间有一个时间延迟。</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3. </a:t>
                </a:r>
                <a:r>
                  <a:rPr lang="zh-CN" altLang="en-US" sz="1000" dirty="0">
                    <a:solidFill>
                      <a:schemeClr val="tx1">
                        <a:lumMod val="50000"/>
                        <a:lumOff val="50000"/>
                      </a:schemeClr>
                    </a:solidFill>
                    <a:cs typeface="+mn-ea"/>
                    <a:sym typeface="+mn-lt"/>
                  </a:rPr>
                  <a:t>需要开发者自己维护索引文件，在多机环境中备份同步索引文件。</a:t>
                </a:r>
                <a:endParaRPr lang="en-US" altLang="zh-CN" sz="1000" dirty="0">
                  <a:solidFill>
                    <a:schemeClr val="tx1">
                      <a:lumMod val="50000"/>
                      <a:lumOff val="50000"/>
                    </a:schemeClr>
                  </a:solidFill>
                  <a:cs typeface="+mn-ea"/>
                  <a:sym typeface="+mn-lt"/>
                </a:endParaRPr>
              </a:p>
            </p:txBody>
          </p:sp>
        </p:grpSp>
        <p:grpSp>
          <p:nvGrpSpPr>
            <p:cNvPr id="49" name="Group 38"/>
            <p:cNvGrpSpPr/>
            <p:nvPr/>
          </p:nvGrpSpPr>
          <p:grpSpPr>
            <a:xfrm>
              <a:off x="7492239" y="2476555"/>
              <a:ext cx="3384553" cy="1356665"/>
              <a:chOff x="1304929" y="1399358"/>
              <a:chExt cx="2201876" cy="1063251"/>
            </a:xfrm>
          </p:grpSpPr>
          <p:sp>
            <p:nvSpPr>
              <p:cNvPr id="50" name="TextBox 7"/>
              <p:cNvSpPr txBox="1"/>
              <p:nvPr/>
            </p:nvSpPr>
            <p:spPr>
              <a:xfrm>
                <a:off x="1304929" y="1399358"/>
                <a:ext cx="723636" cy="254730"/>
              </a:xfrm>
              <a:prstGeom prst="rect">
                <a:avLst/>
              </a:prstGeom>
              <a:noFill/>
            </p:spPr>
            <p:txBody>
              <a:bodyPr wrap="none" lIns="0" tIns="0" rIns="0" bIns="0" rtlCol="0" anchor="ctr">
                <a:spAutoFit/>
              </a:bodyPr>
              <a:lstStyle/>
              <a:p>
                <a:pPr algn="r">
                  <a:lnSpc>
                    <a:spcPct val="130000"/>
                  </a:lnSpc>
                </a:pPr>
                <a:r>
                  <a:rPr lang="zh-CN" altLang="en-US" dirty="0">
                    <a:solidFill>
                      <a:schemeClr val="tx1">
                        <a:lumMod val="85000"/>
                        <a:lumOff val="15000"/>
                      </a:schemeClr>
                    </a:solidFill>
                    <a:cs typeface="+mn-ea"/>
                    <a:sym typeface="+mn-lt"/>
                  </a:rPr>
                  <a:t>独立部署</a:t>
                </a:r>
                <a:endParaRPr lang="zh-CN" altLang="en-US" dirty="0">
                  <a:solidFill>
                    <a:schemeClr val="tx1">
                      <a:lumMod val="85000"/>
                      <a:lumOff val="15000"/>
                    </a:schemeClr>
                  </a:solidFill>
                  <a:cs typeface="+mn-ea"/>
                  <a:sym typeface="+mn-lt"/>
                </a:endParaRPr>
              </a:p>
            </p:txBody>
          </p:sp>
          <p:sp>
            <p:nvSpPr>
              <p:cNvPr id="51" name="TextBox 8"/>
              <p:cNvSpPr txBox="1"/>
              <p:nvPr/>
            </p:nvSpPr>
            <p:spPr>
              <a:xfrm>
                <a:off x="1430743" y="1693947"/>
                <a:ext cx="2076062" cy="768662"/>
              </a:xfrm>
              <a:prstGeom prst="rect">
                <a:avLst/>
              </a:prstGeom>
              <a:noFill/>
            </p:spPr>
            <p:txBody>
              <a:bodyPr wrap="square" lIns="0" tIns="0" rIns="0" bIns="0" rtlCol="0" anchor="t">
                <a:spAutoFit/>
              </a:bodyPr>
              <a:lstStyle/>
              <a:p>
                <a:pPr>
                  <a:lnSpc>
                    <a:spcPct val="130000"/>
                  </a:lnSpc>
                </a:pPr>
                <a:r>
                  <a:rPr lang="en-US" altLang="zh-CN" sz="1000" dirty="0">
                    <a:solidFill>
                      <a:schemeClr val="tx1">
                        <a:lumMod val="50000"/>
                        <a:lumOff val="50000"/>
                      </a:schemeClr>
                    </a:solidFill>
                    <a:cs typeface="+mn-ea"/>
                    <a:sym typeface="+mn-lt"/>
                  </a:rPr>
                  <a:t>1. </a:t>
                </a:r>
                <a:r>
                  <a:rPr lang="en-US" altLang="zh-CN" sz="1000" dirty="0" err="1">
                    <a:solidFill>
                      <a:schemeClr val="tx1">
                        <a:lumMod val="50000"/>
                        <a:lumOff val="50000"/>
                      </a:schemeClr>
                    </a:solidFill>
                    <a:cs typeface="+mn-ea"/>
                    <a:sym typeface="+mn-lt"/>
                  </a:rPr>
                  <a:t>Solr</a:t>
                </a:r>
                <a:r>
                  <a:rPr lang="en-US" altLang="zh-CN" sz="1000" dirty="0">
                    <a:solidFill>
                      <a:schemeClr val="tx1">
                        <a:lumMod val="50000"/>
                        <a:lumOff val="50000"/>
                      </a:schemeClr>
                    </a:solidFill>
                    <a:cs typeface="+mn-ea"/>
                    <a:sym typeface="+mn-lt"/>
                  </a:rPr>
                  <a:t> </a:t>
                </a:r>
                <a:r>
                  <a:rPr lang="zh-CN" altLang="en-US" sz="1000" dirty="0">
                    <a:solidFill>
                      <a:schemeClr val="tx1">
                        <a:lumMod val="50000"/>
                        <a:lumOff val="50000"/>
                      </a:schemeClr>
                    </a:solidFill>
                    <a:cs typeface="+mn-ea"/>
                    <a:sym typeface="+mn-lt"/>
                  </a:rPr>
                  <a:t>有一个更大、更成熟的用户、</a:t>
                </a:r>
                <a:r>
                  <a:rPr lang="zh-CN" altLang="en-US" sz="1000" dirty="0">
                    <a:solidFill>
                      <a:schemeClr val="tx2">
                        <a:lumMod val="60000"/>
                        <a:lumOff val="40000"/>
                      </a:schemeClr>
                    </a:solidFill>
                    <a:cs typeface="+mn-ea"/>
                    <a:sym typeface="+mn-lt"/>
                  </a:rPr>
                  <a:t>开发和贡献者社区。</a:t>
                </a:r>
                <a:endParaRPr lang="en-US" altLang="zh-CN" sz="1000" dirty="0">
                  <a:solidFill>
                    <a:schemeClr val="tx2">
                      <a:lumMod val="60000"/>
                      <a:lumOff val="4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2. </a:t>
                </a:r>
                <a:r>
                  <a:rPr lang="zh-CN" altLang="en-US" sz="1000" dirty="0">
                    <a:solidFill>
                      <a:schemeClr val="tx1">
                        <a:lumMod val="50000"/>
                        <a:lumOff val="50000"/>
                      </a:schemeClr>
                    </a:solidFill>
                    <a:cs typeface="+mn-ea"/>
                    <a:sym typeface="+mn-lt"/>
                  </a:rPr>
                  <a:t>与</a:t>
                </a:r>
                <a:r>
                  <a:rPr lang="en-US" altLang="zh-CN" sz="1000" dirty="0">
                    <a:solidFill>
                      <a:schemeClr val="tx1">
                        <a:lumMod val="50000"/>
                        <a:lumOff val="50000"/>
                      </a:schemeClr>
                    </a:solidFill>
                    <a:cs typeface="+mn-ea"/>
                    <a:sym typeface="+mn-lt"/>
                  </a:rPr>
                  <a:t>Lucene</a:t>
                </a:r>
                <a:r>
                  <a:rPr lang="zh-CN" altLang="en-US" sz="1000" dirty="0">
                    <a:solidFill>
                      <a:schemeClr val="tx1">
                        <a:lumMod val="50000"/>
                        <a:lumOff val="50000"/>
                      </a:schemeClr>
                    </a:solidFill>
                    <a:cs typeface="+mn-ea"/>
                    <a:sym typeface="+mn-lt"/>
                  </a:rPr>
                  <a:t>不同，</a:t>
                </a:r>
                <a:r>
                  <a:rPr lang="en-US" altLang="zh-CN" sz="1000" dirty="0" err="1">
                    <a:solidFill>
                      <a:schemeClr val="tx1">
                        <a:lumMod val="50000"/>
                        <a:lumOff val="50000"/>
                      </a:schemeClr>
                    </a:solidFill>
                    <a:cs typeface="+mn-ea"/>
                    <a:sym typeface="+mn-lt"/>
                  </a:rPr>
                  <a:t>Solr</a:t>
                </a:r>
                <a:r>
                  <a:rPr lang="zh-CN" altLang="en-US" sz="1000" dirty="0">
                    <a:solidFill>
                      <a:schemeClr val="tx1">
                        <a:lumMod val="50000"/>
                        <a:lumOff val="50000"/>
                      </a:schemeClr>
                    </a:solidFill>
                    <a:cs typeface="+mn-ea"/>
                    <a:sym typeface="+mn-lt"/>
                  </a:rPr>
                  <a:t>是一款</a:t>
                </a:r>
                <a:r>
                  <a:rPr lang="en-US" altLang="zh-CN" sz="1000" dirty="0">
                    <a:solidFill>
                      <a:schemeClr val="tx2">
                        <a:lumMod val="60000"/>
                        <a:lumOff val="40000"/>
                      </a:schemeClr>
                    </a:solidFill>
                    <a:cs typeface="+mn-ea"/>
                    <a:sym typeface="+mn-lt"/>
                  </a:rPr>
                  <a:t>Web</a:t>
                </a:r>
                <a:r>
                  <a:rPr lang="zh-CN" altLang="en-US" sz="1000" dirty="0">
                    <a:solidFill>
                      <a:schemeClr val="tx2">
                        <a:lumMod val="60000"/>
                        <a:lumOff val="40000"/>
                      </a:schemeClr>
                    </a:solidFill>
                    <a:cs typeface="+mn-ea"/>
                    <a:sym typeface="+mn-lt"/>
                  </a:rPr>
                  <a:t>应用程序（</a:t>
                </a:r>
                <a:r>
                  <a:rPr lang="en-US" altLang="zh-CN" sz="1000" dirty="0">
                    <a:solidFill>
                      <a:schemeClr val="tx2">
                        <a:lumMod val="60000"/>
                        <a:lumOff val="40000"/>
                      </a:schemeClr>
                    </a:solidFill>
                    <a:cs typeface="+mn-ea"/>
                    <a:sym typeface="+mn-lt"/>
                  </a:rPr>
                  <a:t>WAR</a:t>
                </a:r>
                <a:r>
                  <a:rPr lang="zh-CN" altLang="en-US" sz="1000" dirty="0">
                    <a:solidFill>
                      <a:schemeClr val="tx2">
                        <a:lumMod val="60000"/>
                        <a:lumOff val="40000"/>
                      </a:schemeClr>
                    </a:solidFill>
                    <a:cs typeface="+mn-ea"/>
                    <a:sym typeface="+mn-lt"/>
                  </a:rPr>
                  <a:t>）</a:t>
                </a:r>
                <a:r>
                  <a:rPr lang="zh-CN" altLang="en-US" sz="1000" dirty="0">
                    <a:solidFill>
                      <a:schemeClr val="tx1">
                        <a:lumMod val="50000"/>
                        <a:lumOff val="50000"/>
                      </a:schemeClr>
                    </a:solidFill>
                    <a:cs typeface="+mn-ea"/>
                    <a:sym typeface="+mn-lt"/>
                  </a:rPr>
                  <a:t>，       可以独立地部署到任何</a:t>
                </a:r>
                <a:r>
                  <a:rPr lang="en-US" altLang="zh-CN" sz="1000" dirty="0">
                    <a:solidFill>
                      <a:schemeClr val="tx1">
                        <a:lumMod val="50000"/>
                        <a:lumOff val="50000"/>
                      </a:schemeClr>
                    </a:solidFill>
                    <a:cs typeface="+mn-ea"/>
                    <a:sym typeface="+mn-lt"/>
                  </a:rPr>
                  <a:t>servlet</a:t>
                </a:r>
                <a:r>
                  <a:rPr lang="zh-CN" altLang="en-US" sz="1000" dirty="0">
                    <a:solidFill>
                      <a:schemeClr val="tx1">
                        <a:lumMod val="50000"/>
                        <a:lumOff val="50000"/>
                      </a:schemeClr>
                    </a:solidFill>
                    <a:cs typeface="+mn-ea"/>
                    <a:sym typeface="+mn-lt"/>
                  </a:rPr>
                  <a:t>容器之中，比如</a:t>
                </a:r>
                <a:r>
                  <a:rPr lang="en-US" altLang="zh-CN" sz="1000" dirty="0">
                    <a:solidFill>
                      <a:schemeClr val="tx1">
                        <a:lumMod val="50000"/>
                        <a:lumOff val="50000"/>
                      </a:schemeClr>
                    </a:solidFill>
                    <a:cs typeface="+mn-ea"/>
                    <a:sym typeface="+mn-lt"/>
                  </a:rPr>
                  <a:t>Jetty</a:t>
                </a:r>
                <a:r>
                  <a:rPr lang="zh-CN" altLang="en-US" sz="1000" dirty="0">
                    <a:solidFill>
                      <a:schemeClr val="tx1">
                        <a:lumMod val="50000"/>
                        <a:lumOff val="50000"/>
                      </a:schemeClr>
                    </a:solidFill>
                    <a:cs typeface="+mn-ea"/>
                    <a:sym typeface="+mn-lt"/>
                  </a:rPr>
                  <a:t>，</a:t>
                </a:r>
                <a:r>
                  <a:rPr lang="en-US" altLang="zh-CN" sz="1000" dirty="0">
                    <a:solidFill>
                      <a:schemeClr val="tx1">
                        <a:lumMod val="50000"/>
                        <a:lumOff val="50000"/>
                      </a:schemeClr>
                    </a:solidFill>
                    <a:cs typeface="+mn-ea"/>
                    <a:sym typeface="+mn-lt"/>
                  </a:rPr>
                  <a:t>Tomcat</a:t>
                </a:r>
                <a:r>
                  <a:rPr lang="zh-CN" altLang="en-US" sz="1000" dirty="0">
                    <a:solidFill>
                      <a:schemeClr val="tx1">
                        <a:lumMod val="50000"/>
                        <a:lumOff val="50000"/>
                      </a:schemeClr>
                    </a:solidFill>
                    <a:cs typeface="+mn-ea"/>
                    <a:sym typeface="+mn-lt"/>
                  </a:rPr>
                  <a:t>，</a:t>
                </a:r>
                <a:r>
                  <a:rPr lang="en-US" altLang="zh-CN" sz="1000" dirty="0">
                    <a:solidFill>
                      <a:schemeClr val="tx1">
                        <a:lumMod val="50000"/>
                        <a:lumOff val="50000"/>
                      </a:schemeClr>
                    </a:solidFill>
                    <a:cs typeface="+mn-ea"/>
                    <a:sym typeface="+mn-lt"/>
                  </a:rPr>
                  <a:t>Resin</a:t>
                </a:r>
                <a:r>
                  <a:rPr lang="zh-CN" altLang="en-US" sz="1000" dirty="0">
                    <a:solidFill>
                      <a:schemeClr val="tx1">
                        <a:lumMod val="50000"/>
                        <a:lumOff val="50000"/>
                      </a:schemeClr>
                    </a:solidFill>
                    <a:cs typeface="+mn-ea"/>
                    <a:sym typeface="+mn-lt"/>
                  </a:rPr>
                  <a:t>等等。</a:t>
                </a:r>
                <a:endParaRPr lang="en-US" altLang="zh-CN" sz="1000" dirty="0">
                  <a:solidFill>
                    <a:schemeClr val="tx1">
                      <a:lumMod val="50000"/>
                      <a:lumOff val="50000"/>
                    </a:schemeClr>
                  </a:solidFill>
                  <a:cs typeface="+mn-ea"/>
                  <a:sym typeface="+mn-lt"/>
                </a:endParaRPr>
              </a:p>
              <a:p>
                <a:pPr>
                  <a:lnSpc>
                    <a:spcPct val="130000"/>
                  </a:lnSpc>
                </a:pPr>
                <a:r>
                  <a:rPr lang="en-US" altLang="zh-CN" sz="1000" dirty="0">
                    <a:solidFill>
                      <a:schemeClr val="tx1">
                        <a:lumMod val="50000"/>
                        <a:lumOff val="50000"/>
                      </a:schemeClr>
                    </a:solidFill>
                    <a:cs typeface="+mn-ea"/>
                    <a:sym typeface="+mn-lt"/>
                  </a:rPr>
                  <a:t>3. </a:t>
                </a:r>
                <a:r>
                  <a:rPr lang="en-US" altLang="zh-CN" sz="1000" dirty="0" err="1">
                    <a:solidFill>
                      <a:schemeClr val="tx1">
                        <a:lumMod val="50000"/>
                        <a:lumOff val="50000"/>
                      </a:schemeClr>
                    </a:solidFill>
                    <a:cs typeface="+mn-ea"/>
                    <a:sym typeface="+mn-lt"/>
                  </a:rPr>
                  <a:t>Solr</a:t>
                </a:r>
                <a:r>
                  <a:rPr lang="zh-CN" altLang="en-US" sz="1000" dirty="0">
                    <a:solidFill>
                      <a:schemeClr val="tx1">
                        <a:lumMod val="50000"/>
                        <a:lumOff val="50000"/>
                      </a:schemeClr>
                    </a:solidFill>
                    <a:cs typeface="+mn-ea"/>
                    <a:sym typeface="+mn-lt"/>
                  </a:rPr>
                  <a:t>底层继承</a:t>
                </a:r>
                <a:r>
                  <a:rPr lang="en-US" altLang="zh-CN" sz="1000" dirty="0">
                    <a:solidFill>
                      <a:schemeClr val="tx1">
                        <a:lumMod val="50000"/>
                        <a:lumOff val="50000"/>
                      </a:schemeClr>
                    </a:solidFill>
                    <a:cs typeface="+mn-ea"/>
                    <a:sym typeface="+mn-lt"/>
                  </a:rPr>
                  <a:t>Lucene</a:t>
                </a:r>
                <a:r>
                  <a:rPr lang="zh-CN" altLang="en-US" sz="1000" dirty="0">
                    <a:solidFill>
                      <a:schemeClr val="tx1">
                        <a:lumMod val="50000"/>
                        <a:lumOff val="50000"/>
                      </a:schemeClr>
                    </a:solidFill>
                    <a:cs typeface="+mn-ea"/>
                    <a:sym typeface="+mn-lt"/>
                  </a:rPr>
                  <a:t>，搜索量级完全继承</a:t>
                </a:r>
                <a:r>
                  <a:rPr lang="en-US" altLang="zh-CN" sz="1000" dirty="0">
                    <a:solidFill>
                      <a:schemeClr val="tx1">
                        <a:lumMod val="50000"/>
                        <a:lumOff val="50000"/>
                      </a:schemeClr>
                    </a:solidFill>
                    <a:cs typeface="+mn-ea"/>
                    <a:sym typeface="+mn-lt"/>
                  </a:rPr>
                  <a:t>Lucene</a:t>
                </a:r>
                <a:r>
                  <a:rPr lang="zh-CN" altLang="en-US" sz="1000" dirty="0">
                    <a:solidFill>
                      <a:schemeClr val="tx1">
                        <a:lumMod val="50000"/>
                        <a:lumOff val="50000"/>
                      </a:schemeClr>
                    </a:solidFill>
                    <a:cs typeface="+mn-ea"/>
                    <a:sym typeface="+mn-lt"/>
                  </a:rPr>
                  <a:t>。</a:t>
                </a:r>
                <a:endParaRPr lang="en-US" altLang="zh-CN" sz="1000" dirty="0">
                  <a:solidFill>
                    <a:schemeClr val="tx1">
                      <a:lumMod val="50000"/>
                      <a:lumOff val="50000"/>
                    </a:schemeClr>
                  </a:solidFill>
                  <a:cs typeface="+mn-ea"/>
                  <a:sym typeface="+mn-lt"/>
                </a:endParaRPr>
              </a:p>
            </p:txBody>
          </p:sp>
        </p:grpSp>
        <p:grpSp>
          <p:nvGrpSpPr>
            <p:cNvPr id="52" name="Group 38"/>
            <p:cNvGrpSpPr/>
            <p:nvPr/>
          </p:nvGrpSpPr>
          <p:grpSpPr>
            <a:xfrm>
              <a:off x="7633556" y="4103278"/>
              <a:ext cx="2648970" cy="1761637"/>
              <a:chOff x="1396865" y="1334682"/>
              <a:chExt cx="2076062" cy="1380638"/>
            </a:xfrm>
          </p:grpSpPr>
          <p:sp>
            <p:nvSpPr>
              <p:cNvPr id="53" name="TextBox 7"/>
              <p:cNvSpPr txBox="1"/>
              <p:nvPr/>
            </p:nvSpPr>
            <p:spPr>
              <a:xfrm>
                <a:off x="1396865" y="1334682"/>
                <a:ext cx="1306565" cy="254730"/>
              </a:xfrm>
              <a:prstGeom prst="rect">
                <a:avLst/>
              </a:prstGeom>
              <a:noFill/>
            </p:spPr>
            <p:txBody>
              <a:bodyPr wrap="none" lIns="0" tIns="0" rIns="0" bIns="0" rtlCol="0" anchor="ctr">
                <a:spAutoFit/>
              </a:bodyPr>
              <a:lstStyle/>
              <a:p>
                <a:pPr>
                  <a:lnSpc>
                    <a:spcPct val="130000"/>
                  </a:lnSpc>
                </a:pPr>
                <a:r>
                  <a:rPr lang="zh-CN" altLang="en-US" dirty="0">
                    <a:solidFill>
                      <a:schemeClr val="tx1">
                        <a:lumMod val="85000"/>
                        <a:lumOff val="15000"/>
                      </a:schemeClr>
                    </a:solidFill>
                    <a:cs typeface="+mn-ea"/>
                    <a:sym typeface="+mn-lt"/>
                  </a:rPr>
                  <a:t>可扩展，可配置</a:t>
                </a:r>
                <a:endParaRPr lang="zh-CN" altLang="en-US" dirty="0">
                  <a:solidFill>
                    <a:schemeClr val="tx1">
                      <a:lumMod val="85000"/>
                      <a:lumOff val="15000"/>
                    </a:schemeClr>
                  </a:solidFill>
                  <a:cs typeface="+mn-ea"/>
                  <a:sym typeface="+mn-lt"/>
                </a:endParaRPr>
              </a:p>
            </p:txBody>
          </p:sp>
          <p:sp>
            <p:nvSpPr>
              <p:cNvPr id="54" name="TextBox 8"/>
              <p:cNvSpPr txBox="1"/>
              <p:nvPr/>
            </p:nvSpPr>
            <p:spPr>
              <a:xfrm>
                <a:off x="1396865" y="1664439"/>
                <a:ext cx="2076062" cy="1050881"/>
              </a:xfrm>
              <a:prstGeom prst="rect">
                <a:avLst/>
              </a:prstGeom>
              <a:noFill/>
            </p:spPr>
            <p:txBody>
              <a:bodyPr wrap="square" lIns="0" tIns="0" rIns="0" bIns="0" rtlCol="0" anchor="t">
                <a:spAutoFit/>
              </a:bodyPr>
              <a:lstStyle/>
              <a:p>
                <a:pPr algn="just">
                  <a:lnSpc>
                    <a:spcPct val="130000"/>
                  </a:lnSpc>
                </a:pPr>
                <a:r>
                  <a:rPr lang="en-US" altLang="zh-CN" sz="1000" dirty="0">
                    <a:solidFill>
                      <a:schemeClr val="tx1">
                        <a:lumMod val="50000"/>
                        <a:lumOff val="50000"/>
                      </a:schemeClr>
                    </a:solidFill>
                    <a:cs typeface="+mn-ea"/>
                    <a:sym typeface="+mn-lt"/>
                  </a:rPr>
                  <a:t>1. </a:t>
                </a:r>
                <a:r>
                  <a:rPr lang="zh-CN" altLang="en-US" sz="1000" dirty="0">
                    <a:solidFill>
                      <a:schemeClr val="tx1">
                        <a:lumMod val="50000"/>
                        <a:lumOff val="50000"/>
                      </a:schemeClr>
                    </a:solidFill>
                    <a:cs typeface="+mn-ea"/>
                    <a:sym typeface="+mn-lt"/>
                  </a:rPr>
                  <a:t>对</a:t>
                </a:r>
                <a:r>
                  <a:rPr lang="en-US" altLang="zh-CN" sz="1000" dirty="0">
                    <a:solidFill>
                      <a:schemeClr val="tx1">
                        <a:lumMod val="50000"/>
                        <a:lumOff val="50000"/>
                      </a:schemeClr>
                    </a:solidFill>
                    <a:cs typeface="+mn-ea"/>
                    <a:sym typeface="+mn-lt"/>
                  </a:rPr>
                  <a:t>Lucene</a:t>
                </a:r>
                <a:r>
                  <a:rPr lang="zh-CN" altLang="en-US" sz="1000" dirty="0">
                    <a:solidFill>
                      <a:schemeClr val="tx1">
                        <a:lumMod val="50000"/>
                        <a:lumOff val="50000"/>
                      </a:schemeClr>
                    </a:solidFill>
                    <a:cs typeface="+mn-ea"/>
                    <a:sym typeface="+mn-lt"/>
                  </a:rPr>
                  <a:t>功能及查询性能进行了扩展，并利用 </a:t>
                </a:r>
                <a:r>
                  <a:rPr lang="en-US" altLang="zh-CN" sz="1000" dirty="0">
                    <a:solidFill>
                      <a:schemeClr val="tx1">
                        <a:lumMod val="50000"/>
                        <a:lumOff val="50000"/>
                      </a:schemeClr>
                    </a:solidFill>
                    <a:cs typeface="+mn-ea"/>
                    <a:sym typeface="+mn-lt"/>
                  </a:rPr>
                  <a:t>Zookeeper </a:t>
                </a:r>
                <a:r>
                  <a:rPr lang="zh-CN" altLang="en-US" sz="1000" dirty="0">
                    <a:solidFill>
                      <a:schemeClr val="tx1">
                        <a:lumMod val="50000"/>
                        <a:lumOff val="50000"/>
                      </a:schemeClr>
                    </a:solidFill>
                    <a:cs typeface="+mn-ea"/>
                    <a:sym typeface="+mn-lt"/>
                  </a:rPr>
                  <a:t>进行分布式管理。</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2. </a:t>
                </a:r>
                <a:r>
                  <a:rPr lang="zh-CN" altLang="en-US" sz="1000" dirty="0">
                    <a:solidFill>
                      <a:schemeClr val="tx1">
                        <a:lumMod val="50000"/>
                        <a:lumOff val="50000"/>
                      </a:schemeClr>
                    </a:solidFill>
                    <a:cs typeface="+mn-ea"/>
                    <a:sym typeface="+mn-lt"/>
                  </a:rPr>
                  <a:t>“近实时”</a:t>
                </a:r>
                <a:r>
                  <a:rPr lang="en-US" altLang="zh-CN" sz="1000" dirty="0">
                    <a:solidFill>
                      <a:schemeClr val="tx1">
                        <a:lumMod val="50000"/>
                        <a:lumOff val="50000"/>
                      </a:schemeClr>
                    </a:solidFill>
                    <a:cs typeface="+mn-ea"/>
                    <a:sym typeface="+mn-lt"/>
                  </a:rPr>
                  <a:t>(Lucene Near Real Time search) </a:t>
                </a:r>
                <a:r>
                  <a:rPr lang="zh-CN" altLang="en-US" sz="1000" dirty="0">
                    <a:solidFill>
                      <a:schemeClr val="tx1">
                        <a:lumMod val="50000"/>
                        <a:lumOff val="50000"/>
                      </a:schemeClr>
                    </a:solidFill>
                    <a:cs typeface="+mn-ea"/>
                    <a:sym typeface="+mn-lt"/>
                  </a:rPr>
                  <a:t>搜索方案，查询更快。</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3.</a:t>
                </a:r>
                <a:r>
                  <a:rPr lang="zh-CN" altLang="en-US"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solr</a:t>
                </a:r>
                <a:r>
                  <a:rPr lang="zh-CN" altLang="en-US" sz="1000" dirty="0">
                    <a:solidFill>
                      <a:schemeClr val="tx1">
                        <a:lumMod val="50000"/>
                        <a:lumOff val="50000"/>
                      </a:schemeClr>
                    </a:solidFill>
                    <a:cs typeface="+mn-ea"/>
                    <a:sym typeface="+mn-lt"/>
                  </a:rPr>
                  <a:t>部署在服务器上，提供各种服务。</a:t>
                </a:r>
                <a:endParaRPr lang="en-US" altLang="zh-CN" sz="1000" dirty="0">
                  <a:solidFill>
                    <a:schemeClr val="tx1">
                      <a:lumMod val="50000"/>
                      <a:lumOff val="50000"/>
                    </a:schemeClr>
                  </a:solidFill>
                  <a:cs typeface="+mn-ea"/>
                  <a:sym typeface="+mn-lt"/>
                </a:endParaRPr>
              </a:p>
              <a:p>
                <a:pPr>
                  <a:lnSpc>
                    <a:spcPct val="130000"/>
                  </a:lnSpc>
                </a:pPr>
                <a:endParaRPr lang="en-US" altLang="zh-CN" sz="800" dirty="0">
                  <a:solidFill>
                    <a:schemeClr val="tx1">
                      <a:lumMod val="50000"/>
                      <a:lumOff val="50000"/>
                    </a:schemeClr>
                  </a:solidFill>
                  <a:cs typeface="+mn-ea"/>
                  <a:sym typeface="+mn-lt"/>
                </a:endParaRPr>
              </a:p>
              <a:p>
                <a:pPr>
                  <a:lnSpc>
                    <a:spcPct val="130000"/>
                  </a:lnSpc>
                </a:pPr>
                <a:endParaRPr lang="en-US" altLang="zh-CN" sz="1000" dirty="0">
                  <a:solidFill>
                    <a:schemeClr val="tx1">
                      <a:lumMod val="50000"/>
                      <a:lumOff val="50000"/>
                    </a:schemeClr>
                  </a:solidFill>
                  <a:cs typeface="+mn-ea"/>
                  <a:sym typeface="+mn-lt"/>
                </a:endParaRPr>
              </a:p>
            </p:txBody>
          </p:sp>
        </p:grpSp>
        <p:sp>
          <p:nvSpPr>
            <p:cNvPr id="55" name="Freeform 7"/>
            <p:cNvSpPr/>
            <p:nvPr/>
          </p:nvSpPr>
          <p:spPr bwMode="auto">
            <a:xfrm>
              <a:off x="5988982" y="3283664"/>
              <a:ext cx="1207060" cy="221977"/>
            </a:xfrm>
            <a:custGeom>
              <a:avLst/>
              <a:gdLst>
                <a:gd name="T0" fmla="*/ 0 w 7631"/>
                <a:gd name="T1" fmla="*/ 374 h 997"/>
                <a:gd name="T2" fmla="*/ 6883 w 7631"/>
                <a:gd name="T3" fmla="*/ 374 h 997"/>
                <a:gd name="T4" fmla="*/ 6765 w 7631"/>
                <a:gd name="T5" fmla="*/ 0 h 997"/>
                <a:gd name="T6" fmla="*/ 7631 w 7631"/>
                <a:gd name="T7" fmla="*/ 498 h 997"/>
                <a:gd name="T8" fmla="*/ 6765 w 7631"/>
                <a:gd name="T9" fmla="*/ 997 h 997"/>
                <a:gd name="T10" fmla="*/ 6883 w 7631"/>
                <a:gd name="T11" fmla="*/ 622 h 997"/>
                <a:gd name="T12" fmla="*/ 0 w 7631"/>
                <a:gd name="T13" fmla="*/ 622 h 997"/>
                <a:gd name="T14" fmla="*/ 0 w 7631"/>
                <a:gd name="T15" fmla="*/ 374 h 9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31" h="997">
                  <a:moveTo>
                    <a:pt x="0" y="374"/>
                  </a:moveTo>
                  <a:lnTo>
                    <a:pt x="6883" y="374"/>
                  </a:lnTo>
                  <a:lnTo>
                    <a:pt x="6765" y="0"/>
                  </a:lnTo>
                  <a:lnTo>
                    <a:pt x="7631" y="498"/>
                  </a:lnTo>
                  <a:lnTo>
                    <a:pt x="6765" y="997"/>
                  </a:lnTo>
                  <a:lnTo>
                    <a:pt x="6883" y="622"/>
                  </a:lnTo>
                  <a:lnTo>
                    <a:pt x="0" y="622"/>
                  </a:lnTo>
                  <a:lnTo>
                    <a:pt x="0" y="374"/>
                  </a:lnTo>
                  <a:close/>
                </a:path>
              </a:pathLst>
            </a:custGeom>
            <a:solidFill>
              <a:schemeClr val="tx1">
                <a:lumMod val="65000"/>
                <a:lumOff val="35000"/>
              </a:schemeClr>
            </a:solidFill>
            <a:ln>
              <a:noFill/>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a:lnSpc>
                  <a:spcPct val="130000"/>
                </a:lnSpc>
              </a:pPr>
              <a:endParaRPr lang="zh-CN" altLang="en-US" dirty="0">
                <a:cs typeface="+mn-ea"/>
                <a:sym typeface="+mn-lt"/>
              </a:endParaRPr>
            </a:p>
          </p:txBody>
        </p:sp>
        <p:sp>
          <p:nvSpPr>
            <p:cNvPr id="56" name="Freeform 7"/>
            <p:cNvSpPr/>
            <p:nvPr/>
          </p:nvSpPr>
          <p:spPr bwMode="auto">
            <a:xfrm>
              <a:off x="5988982" y="4935125"/>
              <a:ext cx="1207060" cy="221977"/>
            </a:xfrm>
            <a:custGeom>
              <a:avLst/>
              <a:gdLst>
                <a:gd name="T0" fmla="*/ 0 w 7631"/>
                <a:gd name="T1" fmla="*/ 374 h 997"/>
                <a:gd name="T2" fmla="*/ 6883 w 7631"/>
                <a:gd name="T3" fmla="*/ 374 h 997"/>
                <a:gd name="T4" fmla="*/ 6765 w 7631"/>
                <a:gd name="T5" fmla="*/ 0 h 997"/>
                <a:gd name="T6" fmla="*/ 7631 w 7631"/>
                <a:gd name="T7" fmla="*/ 498 h 997"/>
                <a:gd name="T8" fmla="*/ 6765 w 7631"/>
                <a:gd name="T9" fmla="*/ 997 h 997"/>
                <a:gd name="T10" fmla="*/ 6883 w 7631"/>
                <a:gd name="T11" fmla="*/ 622 h 997"/>
                <a:gd name="T12" fmla="*/ 0 w 7631"/>
                <a:gd name="T13" fmla="*/ 622 h 997"/>
                <a:gd name="T14" fmla="*/ 0 w 7631"/>
                <a:gd name="T15" fmla="*/ 374 h 9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31" h="997">
                  <a:moveTo>
                    <a:pt x="0" y="374"/>
                  </a:moveTo>
                  <a:lnTo>
                    <a:pt x="6883" y="374"/>
                  </a:lnTo>
                  <a:lnTo>
                    <a:pt x="6765" y="0"/>
                  </a:lnTo>
                  <a:lnTo>
                    <a:pt x="7631" y="498"/>
                  </a:lnTo>
                  <a:lnTo>
                    <a:pt x="6765" y="997"/>
                  </a:lnTo>
                  <a:lnTo>
                    <a:pt x="6883" y="622"/>
                  </a:lnTo>
                  <a:lnTo>
                    <a:pt x="0" y="622"/>
                  </a:lnTo>
                  <a:lnTo>
                    <a:pt x="0" y="374"/>
                  </a:lnTo>
                  <a:close/>
                </a:path>
              </a:pathLst>
            </a:custGeom>
            <a:solidFill>
              <a:schemeClr val="tx1">
                <a:lumMod val="65000"/>
                <a:lumOff val="35000"/>
              </a:schemeClr>
            </a:solidFill>
            <a:ln>
              <a:noFill/>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a:lnSpc>
                  <a:spcPct val="130000"/>
                </a:lnSpc>
              </a:pPr>
              <a:endParaRPr lang="zh-CN" altLang="en-US" dirty="0">
                <a:cs typeface="+mn-ea"/>
                <a:sym typeface="+mn-lt"/>
              </a:endParaRPr>
            </a:p>
          </p:txBody>
        </p:sp>
      </p:grpSp>
      <p:sp>
        <p:nvSpPr>
          <p:cNvPr id="57" name="圆角矩形 40"/>
          <p:cNvSpPr/>
          <p:nvPr/>
        </p:nvSpPr>
        <p:spPr>
          <a:xfrm>
            <a:off x="4386814" y="6006509"/>
            <a:ext cx="4155808" cy="472951"/>
          </a:xfrm>
          <a:prstGeom prst="roundRect">
            <a:avLst>
              <a:gd name="adj" fmla="val 50000"/>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58" name="Round Same Side Corner Rectangle 10"/>
          <p:cNvSpPr/>
          <p:nvPr/>
        </p:nvSpPr>
        <p:spPr>
          <a:xfrm rot="5400000">
            <a:off x="4619430" y="5773897"/>
            <a:ext cx="472950" cy="938177"/>
          </a:xfrm>
          <a:prstGeom prst="round2SameRect">
            <a:avLst>
              <a:gd name="adj1" fmla="val 50000"/>
              <a:gd name="adj2" fmla="val 0"/>
            </a:avLst>
          </a:prstGeom>
          <a:solidFill>
            <a:srgbClr val="2A324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dirty="0">
              <a:cs typeface="+mn-ea"/>
              <a:sym typeface="+mn-lt"/>
            </a:endParaRPr>
          </a:p>
        </p:txBody>
      </p:sp>
      <p:sp>
        <p:nvSpPr>
          <p:cNvPr id="59" name="TextBox 42"/>
          <p:cNvSpPr txBox="1"/>
          <p:nvPr/>
        </p:nvSpPr>
        <p:spPr>
          <a:xfrm>
            <a:off x="4475107" y="6052355"/>
            <a:ext cx="1005403" cy="381258"/>
          </a:xfrm>
          <a:prstGeom prst="rect">
            <a:avLst/>
          </a:prstGeom>
          <a:noFill/>
        </p:spPr>
        <p:txBody>
          <a:bodyPr wrap="square" rtlCol="0">
            <a:spAutoFit/>
          </a:bodyPr>
          <a:lstStyle/>
          <a:p>
            <a:pPr>
              <a:lnSpc>
                <a:spcPct val="130000"/>
              </a:lnSpc>
            </a:pPr>
            <a:r>
              <a:rPr lang="zh-CN" altLang="en-US" sz="2400" baseline="-3000" dirty="0">
                <a:solidFill>
                  <a:schemeClr val="bg1"/>
                </a:solidFill>
                <a:cs typeface="+mn-ea"/>
                <a:sym typeface="+mn-lt"/>
              </a:rPr>
              <a:t>总结</a:t>
            </a:r>
            <a:endParaRPr lang="zh-CN" altLang="en-US" sz="2400" baseline="-3000" dirty="0">
              <a:solidFill>
                <a:schemeClr val="bg1"/>
              </a:solidFill>
              <a:cs typeface="+mn-ea"/>
              <a:sym typeface="+mn-lt"/>
            </a:endParaRPr>
          </a:p>
        </p:txBody>
      </p:sp>
      <p:sp>
        <p:nvSpPr>
          <p:cNvPr id="60" name="TextBox 43"/>
          <p:cNvSpPr txBox="1"/>
          <p:nvPr/>
        </p:nvSpPr>
        <p:spPr>
          <a:xfrm>
            <a:off x="5315822" y="6078049"/>
            <a:ext cx="4470385" cy="308995"/>
          </a:xfrm>
          <a:prstGeom prst="rect">
            <a:avLst/>
          </a:prstGeom>
          <a:noFill/>
        </p:spPr>
        <p:txBody>
          <a:bodyPr wrap="square" rtlCol="0">
            <a:spAutoFit/>
          </a:bodyPr>
          <a:lstStyle/>
          <a:p>
            <a:pPr>
              <a:lnSpc>
                <a:spcPct val="130000"/>
              </a:lnSpc>
            </a:pPr>
            <a:r>
              <a:rPr lang="en-US" altLang="zh-CN" sz="1200" dirty="0" err="1">
                <a:solidFill>
                  <a:schemeClr val="tx1">
                    <a:lumMod val="50000"/>
                    <a:lumOff val="50000"/>
                  </a:schemeClr>
                </a:solidFill>
                <a:cs typeface="+mn-ea"/>
                <a:sym typeface="+mn-lt"/>
              </a:rPr>
              <a:t>Solr</a:t>
            </a:r>
            <a:r>
              <a:rPr lang="zh-CN" altLang="en-US" sz="1200" dirty="0">
                <a:solidFill>
                  <a:schemeClr val="tx1">
                    <a:lumMod val="50000"/>
                    <a:lumOff val="50000"/>
                  </a:schemeClr>
                </a:solidFill>
                <a:cs typeface="+mn-ea"/>
                <a:sym typeface="+mn-lt"/>
              </a:rPr>
              <a:t>是</a:t>
            </a:r>
            <a:r>
              <a:rPr lang="en-US" altLang="zh-CN" sz="1200" dirty="0">
                <a:solidFill>
                  <a:schemeClr val="tx1">
                    <a:lumMod val="50000"/>
                    <a:lumOff val="50000"/>
                  </a:schemeClr>
                </a:solidFill>
                <a:cs typeface="+mn-ea"/>
                <a:sym typeface="+mn-lt"/>
              </a:rPr>
              <a:t>Lucene</a:t>
            </a:r>
            <a:r>
              <a:rPr lang="zh-CN" altLang="en-US" sz="1200" dirty="0">
                <a:solidFill>
                  <a:schemeClr val="tx1">
                    <a:lumMod val="50000"/>
                    <a:lumOff val="50000"/>
                  </a:schemeClr>
                </a:solidFill>
                <a:cs typeface="+mn-ea"/>
                <a:sym typeface="+mn-lt"/>
              </a:rPr>
              <a:t>面向企业搜索应用的扩展。</a:t>
            </a:r>
            <a:endParaRPr lang="en-US" altLang="zh-CN" sz="1200" dirty="0">
              <a:solidFill>
                <a:schemeClr val="tx1">
                  <a:lumMod val="50000"/>
                  <a:lumOff val="50000"/>
                </a:schemeClr>
              </a:solidFill>
              <a:cs typeface="+mn-ea"/>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r>
              <a:rPr lang="zh-CN" altLang="en-US" sz="2800" dirty="0">
                <a:solidFill>
                  <a:srgbClr val="0150A2"/>
                </a:solidFill>
                <a:ea typeface="微软雅黑" panose="020B0503020204020204" pitchFamily="34" charset="-122"/>
                <a:cs typeface="Times New Roman" panose="02020603050405020304" pitchFamily="18" charset="0"/>
                <a:sym typeface="+mn-ea"/>
              </a:rPr>
              <a:t>特点</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2" name="组合 1"/>
          <p:cNvGrpSpPr/>
          <p:nvPr/>
        </p:nvGrpSpPr>
        <p:grpSpPr>
          <a:xfrm>
            <a:off x="1091444" y="1321101"/>
            <a:ext cx="10009112" cy="4913444"/>
            <a:chOff x="1055442" y="1321101"/>
            <a:chExt cx="10009112" cy="4913444"/>
          </a:xfrm>
        </p:grpSpPr>
        <p:grpSp>
          <p:nvGrpSpPr>
            <p:cNvPr id="25" name="组合 24"/>
            <p:cNvGrpSpPr/>
            <p:nvPr/>
          </p:nvGrpSpPr>
          <p:grpSpPr>
            <a:xfrm>
              <a:off x="4877823" y="1321101"/>
              <a:ext cx="2376264" cy="480337"/>
              <a:chOff x="4673997" y="1974356"/>
              <a:chExt cx="2100151" cy="388843"/>
            </a:xfrm>
            <a:effectLst>
              <a:outerShdw blurRad="254000" dist="63500" dir="2700000" algn="tl" rotWithShape="0">
                <a:prstClr val="black">
                  <a:alpha val="30000"/>
                </a:prstClr>
              </a:outerShdw>
            </a:effectLst>
          </p:grpSpPr>
          <p:sp>
            <p:nvSpPr>
              <p:cNvPr id="26" name="Round Same Side Corner Rectangle 48"/>
              <p:cNvSpPr/>
              <p:nvPr/>
            </p:nvSpPr>
            <p:spPr>
              <a:xfrm rot="5400000">
                <a:off x="5549770" y="1138820"/>
                <a:ext cx="348606" cy="2100151"/>
              </a:xfrm>
              <a:prstGeom prst="round2SameRect">
                <a:avLst>
                  <a:gd name="adj1" fmla="val 50000"/>
                  <a:gd name="adj2" fmla="val 50000"/>
                </a:avLst>
              </a:prstGeom>
              <a:solidFill>
                <a:srgbClr val="2A32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bg-BG" dirty="0">
                  <a:cs typeface="+mn-ea"/>
                  <a:sym typeface="+mn-lt"/>
                </a:endParaRPr>
              </a:p>
            </p:txBody>
          </p:sp>
          <p:sp>
            <p:nvSpPr>
              <p:cNvPr id="27" name="Rectangle 49"/>
              <p:cNvSpPr/>
              <p:nvPr/>
            </p:nvSpPr>
            <p:spPr>
              <a:xfrm>
                <a:off x="5091360" y="1974356"/>
                <a:ext cx="1265432" cy="367083"/>
              </a:xfrm>
              <a:prstGeom prst="rect">
                <a:avLst/>
              </a:prstGeom>
            </p:spPr>
            <p:txBody>
              <a:bodyPr wrap="none">
                <a:spAutoFit/>
              </a:bodyPr>
              <a:lstStyle/>
              <a:p>
                <a:pPr algn="ctr">
                  <a:lnSpc>
                    <a:spcPct val="130000"/>
                  </a:lnSpc>
                </a:pPr>
                <a:r>
                  <a:rPr lang="en-US" altLang="zh-CN" sz="2000" dirty="0" err="1">
                    <a:solidFill>
                      <a:schemeClr val="bg1"/>
                    </a:solidFill>
                    <a:cs typeface="+mn-ea"/>
                    <a:sym typeface="+mn-lt"/>
                  </a:rPr>
                  <a:t>Solr</a:t>
                </a:r>
                <a:r>
                  <a:rPr lang="zh-CN" altLang="en-US" sz="2000" dirty="0">
                    <a:solidFill>
                      <a:schemeClr val="bg1"/>
                    </a:solidFill>
                    <a:cs typeface="+mn-ea"/>
                    <a:sym typeface="+mn-lt"/>
                  </a:rPr>
                  <a:t>的特性</a:t>
                </a:r>
                <a:endParaRPr lang="zh-CN" altLang="en-US" sz="2000" dirty="0">
                  <a:solidFill>
                    <a:schemeClr val="bg1"/>
                  </a:solidFill>
                  <a:cs typeface="+mn-ea"/>
                  <a:sym typeface="+mn-lt"/>
                </a:endParaRPr>
              </a:p>
            </p:txBody>
          </p:sp>
        </p:grpSp>
        <p:sp>
          <p:nvSpPr>
            <p:cNvPr id="28" name="Teardrop 9"/>
            <p:cNvSpPr/>
            <p:nvPr/>
          </p:nvSpPr>
          <p:spPr>
            <a:xfrm>
              <a:off x="1055442" y="2594295"/>
              <a:ext cx="919160" cy="920750"/>
            </a:xfrm>
            <a:prstGeom prst="teardrop">
              <a:avLst/>
            </a:prstGeom>
            <a:solidFill>
              <a:schemeClr val="bg1"/>
            </a:solidFill>
            <a:ln w="63500">
              <a:solidFill>
                <a:srgbClr val="2A3246"/>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r>
                <a:rPr lang="zh-CN" altLang="en-US" sz="1100" dirty="0">
                  <a:solidFill>
                    <a:schemeClr val="tx1">
                      <a:lumMod val="75000"/>
                      <a:lumOff val="25000"/>
                    </a:schemeClr>
                  </a:solidFill>
                  <a:cs typeface="+mn-ea"/>
                  <a:sym typeface="+mn-lt"/>
                </a:rPr>
                <a:t>独立的企业级搜索服务</a:t>
              </a:r>
              <a:endParaRPr lang="en-US" sz="1100" dirty="0">
                <a:solidFill>
                  <a:schemeClr val="tx1">
                    <a:lumMod val="75000"/>
                    <a:lumOff val="25000"/>
                  </a:schemeClr>
                </a:solidFill>
                <a:cs typeface="+mn-ea"/>
                <a:sym typeface="+mn-lt"/>
              </a:endParaRPr>
            </a:p>
          </p:txBody>
        </p:sp>
        <p:sp>
          <p:nvSpPr>
            <p:cNvPr id="29" name="Shape 54"/>
            <p:cNvSpPr txBox="1"/>
            <p:nvPr/>
          </p:nvSpPr>
          <p:spPr>
            <a:xfrm>
              <a:off x="1991544" y="2722960"/>
              <a:ext cx="576064" cy="37662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30000"/>
                </a:lnSpc>
                <a:defRPr sz="1800">
                  <a:solidFill>
                    <a:srgbClr val="000000"/>
                  </a:solidFill>
                </a:defRPr>
              </a:pPr>
              <a:r>
                <a:rPr lang="en-US" altLang="zh-CN" sz="2800" dirty="0">
                  <a:solidFill>
                    <a:schemeClr val="tx1">
                      <a:lumMod val="75000"/>
                      <a:lumOff val="25000"/>
                    </a:schemeClr>
                  </a:solidFill>
                  <a:latin typeface="+mn-lt"/>
                  <a:ea typeface="+mn-ea"/>
                  <a:cs typeface="+mn-ea"/>
                  <a:sym typeface="+mn-lt"/>
                </a:rPr>
                <a:t>+</a:t>
              </a:r>
              <a:endParaRPr lang="en-US" sz="2800" dirty="0">
                <a:solidFill>
                  <a:schemeClr val="tx1">
                    <a:lumMod val="75000"/>
                    <a:lumOff val="25000"/>
                  </a:schemeClr>
                </a:solidFill>
                <a:latin typeface="+mn-lt"/>
                <a:ea typeface="+mn-ea"/>
                <a:cs typeface="+mn-ea"/>
                <a:sym typeface="+mn-lt"/>
              </a:endParaRPr>
            </a:p>
          </p:txBody>
        </p:sp>
        <p:sp>
          <p:nvSpPr>
            <p:cNvPr id="30" name="Teardrop 9"/>
            <p:cNvSpPr/>
            <p:nvPr/>
          </p:nvSpPr>
          <p:spPr>
            <a:xfrm>
              <a:off x="2567609" y="2594295"/>
              <a:ext cx="919163" cy="920750"/>
            </a:xfrm>
            <a:prstGeom prst="teardrop">
              <a:avLst/>
            </a:prstGeom>
            <a:solidFill>
              <a:schemeClr val="bg1"/>
            </a:solidFill>
            <a:ln w="63500">
              <a:solidFill>
                <a:srgbClr val="BA8F2D"/>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solidFill>
                    <a:schemeClr val="tx1">
                      <a:lumMod val="75000"/>
                      <a:lumOff val="25000"/>
                    </a:schemeClr>
                  </a:solidFill>
                  <a:cs typeface="+mn-ea"/>
                  <a:sym typeface="+mn-lt"/>
                </a:rPr>
                <a:t>近实时的索引能力</a:t>
              </a:r>
              <a:endParaRPr lang="en-US" altLang="zh-CN" sz="1200" dirty="0">
                <a:solidFill>
                  <a:schemeClr val="tx1">
                    <a:lumMod val="75000"/>
                    <a:lumOff val="25000"/>
                  </a:schemeClr>
                </a:solidFill>
                <a:cs typeface="+mn-ea"/>
                <a:sym typeface="+mn-lt"/>
              </a:endParaRPr>
            </a:p>
          </p:txBody>
        </p:sp>
        <p:sp>
          <p:nvSpPr>
            <p:cNvPr id="31" name="Shape 54"/>
            <p:cNvSpPr txBox="1"/>
            <p:nvPr/>
          </p:nvSpPr>
          <p:spPr>
            <a:xfrm>
              <a:off x="3503712" y="2722960"/>
              <a:ext cx="576064" cy="37662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30000"/>
                </a:lnSpc>
                <a:defRPr sz="1800">
                  <a:solidFill>
                    <a:srgbClr val="000000"/>
                  </a:solidFill>
                </a:defRPr>
              </a:pPr>
              <a:r>
                <a:rPr lang="en-US" altLang="zh-CN" sz="2800" dirty="0">
                  <a:solidFill>
                    <a:schemeClr val="tx1">
                      <a:lumMod val="75000"/>
                      <a:lumOff val="25000"/>
                    </a:schemeClr>
                  </a:solidFill>
                  <a:latin typeface="+mn-lt"/>
                  <a:ea typeface="+mn-ea"/>
                  <a:cs typeface="+mn-ea"/>
                  <a:sym typeface="+mn-lt"/>
                </a:rPr>
                <a:t>+</a:t>
              </a:r>
              <a:endParaRPr lang="en-US" sz="2800" dirty="0">
                <a:solidFill>
                  <a:schemeClr val="tx1">
                    <a:lumMod val="75000"/>
                    <a:lumOff val="25000"/>
                  </a:schemeClr>
                </a:solidFill>
                <a:latin typeface="+mn-lt"/>
                <a:ea typeface="+mn-ea"/>
                <a:cs typeface="+mn-ea"/>
                <a:sym typeface="+mn-lt"/>
              </a:endParaRPr>
            </a:p>
          </p:txBody>
        </p:sp>
        <p:sp>
          <p:nvSpPr>
            <p:cNvPr id="32" name="Teardrop 9"/>
            <p:cNvSpPr/>
            <p:nvPr/>
          </p:nvSpPr>
          <p:spPr>
            <a:xfrm>
              <a:off x="4079777" y="2594295"/>
              <a:ext cx="919163" cy="920750"/>
            </a:xfrm>
            <a:prstGeom prst="teardrop">
              <a:avLst/>
            </a:prstGeom>
            <a:solidFill>
              <a:schemeClr val="bg1"/>
            </a:solidFill>
            <a:ln w="63500">
              <a:solidFill>
                <a:srgbClr val="2A3246"/>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solidFill>
                    <a:schemeClr val="tx1">
                      <a:lumMod val="75000"/>
                      <a:lumOff val="25000"/>
                    </a:schemeClr>
                  </a:solidFill>
                  <a:cs typeface="+mn-ea"/>
                  <a:sym typeface="+mn-lt"/>
                </a:rPr>
                <a:t>先进的全文检索能力</a:t>
              </a:r>
              <a:endParaRPr lang="en-US" altLang="zh-CN" sz="1200" dirty="0">
                <a:solidFill>
                  <a:schemeClr val="tx1">
                    <a:lumMod val="75000"/>
                    <a:lumOff val="25000"/>
                  </a:schemeClr>
                </a:solidFill>
                <a:cs typeface="+mn-ea"/>
                <a:sym typeface="+mn-lt"/>
              </a:endParaRPr>
            </a:p>
          </p:txBody>
        </p:sp>
        <p:sp>
          <p:nvSpPr>
            <p:cNvPr id="33" name="Shape 54"/>
            <p:cNvSpPr txBox="1"/>
            <p:nvPr/>
          </p:nvSpPr>
          <p:spPr>
            <a:xfrm>
              <a:off x="5015880" y="2722960"/>
              <a:ext cx="576064" cy="37662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30000"/>
                </a:lnSpc>
                <a:defRPr sz="1800">
                  <a:solidFill>
                    <a:srgbClr val="000000"/>
                  </a:solidFill>
                </a:defRPr>
              </a:pPr>
              <a:r>
                <a:rPr lang="en-US" altLang="zh-CN" sz="2800" dirty="0">
                  <a:solidFill>
                    <a:schemeClr val="tx1">
                      <a:lumMod val="75000"/>
                      <a:lumOff val="25000"/>
                    </a:schemeClr>
                  </a:solidFill>
                  <a:latin typeface="+mn-lt"/>
                  <a:ea typeface="+mn-ea"/>
                  <a:cs typeface="+mn-ea"/>
                  <a:sym typeface="+mn-lt"/>
                </a:rPr>
                <a:t>+</a:t>
              </a:r>
              <a:endParaRPr lang="en-US" sz="2800" dirty="0">
                <a:solidFill>
                  <a:schemeClr val="tx1">
                    <a:lumMod val="75000"/>
                    <a:lumOff val="25000"/>
                  </a:schemeClr>
                </a:solidFill>
                <a:latin typeface="+mn-lt"/>
                <a:ea typeface="+mn-ea"/>
                <a:cs typeface="+mn-ea"/>
                <a:sym typeface="+mn-lt"/>
              </a:endParaRPr>
            </a:p>
          </p:txBody>
        </p:sp>
        <p:sp>
          <p:nvSpPr>
            <p:cNvPr id="39" name="Teardrop 9"/>
            <p:cNvSpPr/>
            <p:nvPr/>
          </p:nvSpPr>
          <p:spPr>
            <a:xfrm>
              <a:off x="5591945" y="2594295"/>
              <a:ext cx="919163" cy="920750"/>
            </a:xfrm>
            <a:prstGeom prst="teardrop">
              <a:avLst/>
            </a:prstGeom>
            <a:solidFill>
              <a:schemeClr val="bg1"/>
            </a:solidFill>
            <a:ln w="63500">
              <a:solidFill>
                <a:srgbClr val="BA8F2D"/>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solidFill>
                    <a:schemeClr val="tx1">
                      <a:lumMod val="75000"/>
                      <a:lumOff val="25000"/>
                    </a:schemeClr>
                  </a:solidFill>
                  <a:cs typeface="+mn-ea"/>
                  <a:sym typeface="+mn-lt"/>
                </a:rPr>
                <a:t>综合的管理界面</a:t>
              </a:r>
              <a:endParaRPr lang="en-US" altLang="zh-CN" sz="1200" dirty="0">
                <a:solidFill>
                  <a:schemeClr val="tx1">
                    <a:lumMod val="75000"/>
                    <a:lumOff val="25000"/>
                  </a:schemeClr>
                </a:solidFill>
                <a:cs typeface="+mn-ea"/>
                <a:sym typeface="+mn-lt"/>
              </a:endParaRPr>
            </a:p>
          </p:txBody>
        </p:sp>
        <p:sp>
          <p:nvSpPr>
            <p:cNvPr id="40" name="Shape 54"/>
            <p:cNvSpPr txBox="1"/>
            <p:nvPr/>
          </p:nvSpPr>
          <p:spPr>
            <a:xfrm>
              <a:off x="6528048" y="2722960"/>
              <a:ext cx="576064" cy="37662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30000"/>
                </a:lnSpc>
                <a:defRPr sz="1800">
                  <a:solidFill>
                    <a:srgbClr val="000000"/>
                  </a:solidFill>
                </a:defRPr>
              </a:pPr>
              <a:r>
                <a:rPr lang="en-US" altLang="zh-CN" sz="2800" dirty="0">
                  <a:solidFill>
                    <a:schemeClr val="tx1">
                      <a:lumMod val="75000"/>
                      <a:lumOff val="25000"/>
                    </a:schemeClr>
                  </a:solidFill>
                  <a:latin typeface="+mn-lt"/>
                  <a:ea typeface="+mn-ea"/>
                  <a:cs typeface="+mn-ea"/>
                  <a:sym typeface="+mn-lt"/>
                </a:rPr>
                <a:t>+</a:t>
              </a:r>
              <a:endParaRPr lang="en-US" sz="2800" dirty="0">
                <a:solidFill>
                  <a:schemeClr val="tx1">
                    <a:lumMod val="75000"/>
                    <a:lumOff val="25000"/>
                  </a:schemeClr>
                </a:solidFill>
                <a:latin typeface="+mn-lt"/>
                <a:ea typeface="+mn-ea"/>
                <a:cs typeface="+mn-ea"/>
                <a:sym typeface="+mn-lt"/>
              </a:endParaRPr>
            </a:p>
          </p:txBody>
        </p:sp>
        <p:sp>
          <p:nvSpPr>
            <p:cNvPr id="41" name="Teardrop 9"/>
            <p:cNvSpPr/>
            <p:nvPr/>
          </p:nvSpPr>
          <p:spPr>
            <a:xfrm>
              <a:off x="7104113" y="2594295"/>
              <a:ext cx="919163" cy="920750"/>
            </a:xfrm>
            <a:prstGeom prst="teardrop">
              <a:avLst/>
            </a:prstGeom>
            <a:solidFill>
              <a:schemeClr val="bg1"/>
            </a:solidFill>
            <a:ln w="63500">
              <a:solidFill>
                <a:srgbClr val="2A3246"/>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solidFill>
                    <a:schemeClr val="tx1">
                      <a:lumMod val="75000"/>
                      <a:lumOff val="25000"/>
                    </a:schemeClr>
                  </a:solidFill>
                  <a:cs typeface="+mn-ea"/>
                  <a:sym typeface="+mn-lt"/>
                </a:rPr>
                <a:t>可配置</a:t>
              </a:r>
              <a:endParaRPr lang="en-US" altLang="zh-CN" sz="1200" dirty="0">
                <a:solidFill>
                  <a:schemeClr val="tx1">
                    <a:lumMod val="75000"/>
                    <a:lumOff val="25000"/>
                  </a:schemeClr>
                </a:solidFill>
                <a:cs typeface="+mn-ea"/>
                <a:sym typeface="+mn-lt"/>
              </a:endParaRPr>
            </a:p>
          </p:txBody>
        </p:sp>
        <p:sp>
          <p:nvSpPr>
            <p:cNvPr id="42" name="Shape 54"/>
            <p:cNvSpPr txBox="1"/>
            <p:nvPr/>
          </p:nvSpPr>
          <p:spPr>
            <a:xfrm>
              <a:off x="8040216" y="2722960"/>
              <a:ext cx="576064" cy="37662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30000"/>
                </a:lnSpc>
                <a:defRPr sz="1800">
                  <a:solidFill>
                    <a:srgbClr val="000000"/>
                  </a:solidFill>
                </a:defRPr>
              </a:pPr>
              <a:r>
                <a:rPr lang="en-US" altLang="zh-CN" sz="2800" dirty="0">
                  <a:solidFill>
                    <a:schemeClr val="tx1">
                      <a:lumMod val="75000"/>
                      <a:lumOff val="25000"/>
                    </a:schemeClr>
                  </a:solidFill>
                  <a:latin typeface="+mn-lt"/>
                  <a:ea typeface="+mn-ea"/>
                  <a:cs typeface="+mn-ea"/>
                  <a:sym typeface="+mn-lt"/>
                </a:rPr>
                <a:t>+</a:t>
              </a:r>
              <a:endParaRPr lang="en-US" sz="2800" dirty="0">
                <a:solidFill>
                  <a:schemeClr val="tx1">
                    <a:lumMod val="75000"/>
                    <a:lumOff val="25000"/>
                  </a:schemeClr>
                </a:solidFill>
                <a:latin typeface="+mn-lt"/>
                <a:ea typeface="+mn-ea"/>
                <a:cs typeface="+mn-ea"/>
                <a:sym typeface="+mn-lt"/>
              </a:endParaRPr>
            </a:p>
          </p:txBody>
        </p:sp>
        <p:sp>
          <p:nvSpPr>
            <p:cNvPr id="43" name="Teardrop 9"/>
            <p:cNvSpPr/>
            <p:nvPr/>
          </p:nvSpPr>
          <p:spPr>
            <a:xfrm>
              <a:off x="8616281" y="2594295"/>
              <a:ext cx="919163" cy="920750"/>
            </a:xfrm>
            <a:prstGeom prst="teardrop">
              <a:avLst/>
            </a:prstGeom>
            <a:solidFill>
              <a:schemeClr val="bg1"/>
            </a:solidFill>
            <a:ln w="63500">
              <a:solidFill>
                <a:srgbClr val="BA8F2D"/>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solidFill>
                    <a:schemeClr val="tx1">
                      <a:lumMod val="75000"/>
                      <a:lumOff val="25000"/>
                    </a:schemeClr>
                  </a:solidFill>
                  <a:cs typeface="+mn-ea"/>
                  <a:sym typeface="+mn-lt"/>
                </a:rPr>
                <a:t>可扩展</a:t>
              </a:r>
              <a:endParaRPr lang="en-US" altLang="zh-CN" sz="1200" dirty="0">
                <a:solidFill>
                  <a:schemeClr val="tx1">
                    <a:lumMod val="75000"/>
                    <a:lumOff val="25000"/>
                  </a:schemeClr>
                </a:solidFill>
                <a:cs typeface="+mn-ea"/>
                <a:sym typeface="+mn-lt"/>
              </a:endParaRPr>
            </a:p>
          </p:txBody>
        </p:sp>
        <p:sp>
          <p:nvSpPr>
            <p:cNvPr id="44" name="Teardrop 9"/>
            <p:cNvSpPr/>
            <p:nvPr/>
          </p:nvSpPr>
          <p:spPr>
            <a:xfrm>
              <a:off x="10145391" y="2578941"/>
              <a:ext cx="919163" cy="920750"/>
            </a:xfrm>
            <a:prstGeom prst="teardrop">
              <a:avLst/>
            </a:prstGeom>
            <a:solidFill>
              <a:schemeClr val="bg1"/>
            </a:solidFill>
            <a:ln w="63500">
              <a:solidFill>
                <a:srgbClr val="2A3246"/>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solidFill>
                    <a:schemeClr val="tx1">
                      <a:lumMod val="75000"/>
                      <a:lumOff val="25000"/>
                    </a:schemeClr>
                  </a:solidFill>
                  <a:cs typeface="+mn-ea"/>
                  <a:sym typeface="+mn-lt"/>
                </a:rPr>
                <a:t>高伸缩、高容错</a:t>
              </a:r>
              <a:endParaRPr lang="zh-CN" altLang="en-US" sz="1200" dirty="0">
                <a:solidFill>
                  <a:schemeClr val="tx1">
                    <a:lumMod val="75000"/>
                    <a:lumOff val="25000"/>
                  </a:schemeClr>
                </a:solidFill>
                <a:cs typeface="+mn-ea"/>
                <a:sym typeface="+mn-lt"/>
              </a:endParaRPr>
            </a:p>
          </p:txBody>
        </p:sp>
        <p:sp>
          <p:nvSpPr>
            <p:cNvPr id="45" name="文本框 44"/>
            <p:cNvSpPr txBox="1"/>
            <p:nvPr/>
          </p:nvSpPr>
          <p:spPr>
            <a:xfrm>
              <a:off x="9646107" y="2837971"/>
              <a:ext cx="388620" cy="523220"/>
            </a:xfrm>
            <a:prstGeom prst="rect">
              <a:avLst/>
            </a:prstGeom>
            <a:noFill/>
          </p:spPr>
          <p:txBody>
            <a:bodyPr wrap="square">
              <a:spAutoFit/>
            </a:bodyPr>
            <a:lstStyle/>
            <a:p>
              <a:r>
                <a:rPr lang="en-US" altLang="zh-CN" sz="2800" dirty="0">
                  <a:solidFill>
                    <a:schemeClr val="tx1">
                      <a:lumMod val="75000"/>
                      <a:lumOff val="25000"/>
                    </a:schemeClr>
                  </a:solidFill>
                  <a:latin typeface="+mn-lt"/>
                  <a:ea typeface="+mn-ea"/>
                  <a:cs typeface="+mn-ea"/>
                  <a:sym typeface="+mn-lt"/>
                </a:rPr>
                <a:t>+</a:t>
              </a:r>
              <a:endParaRPr lang="en-US" altLang="zh-CN" sz="2800" dirty="0">
                <a:solidFill>
                  <a:schemeClr val="tx1">
                    <a:lumMod val="75000"/>
                    <a:lumOff val="25000"/>
                  </a:schemeClr>
                </a:solidFill>
                <a:latin typeface="+mn-lt"/>
                <a:ea typeface="+mn-ea"/>
                <a:cs typeface="+mn-ea"/>
                <a:sym typeface="+mn-lt"/>
              </a:endParaRPr>
            </a:p>
          </p:txBody>
        </p:sp>
        <p:sp>
          <p:nvSpPr>
            <p:cNvPr id="46" name="文本框 45"/>
            <p:cNvSpPr txBox="1"/>
            <p:nvPr/>
          </p:nvSpPr>
          <p:spPr>
            <a:xfrm>
              <a:off x="1349000" y="3699165"/>
              <a:ext cx="400110" cy="2402378"/>
            </a:xfrm>
            <a:prstGeom prst="rect">
              <a:avLst/>
            </a:prstGeom>
            <a:noFill/>
          </p:spPr>
          <p:txBody>
            <a:bodyPr vert="eaVert" wrap="square" rtlCol="0">
              <a:spAutoFit/>
            </a:bodyPr>
            <a:lstStyle/>
            <a:p>
              <a:r>
                <a:rPr lang="zh-CN" altLang="en-US" sz="1400" dirty="0">
                  <a:solidFill>
                    <a:schemeClr val="tx1">
                      <a:lumMod val="75000"/>
                      <a:lumOff val="25000"/>
                    </a:schemeClr>
                  </a:solidFill>
                </a:rPr>
                <a:t>通过</a:t>
              </a:r>
              <a:r>
                <a:rPr lang="en-US" altLang="zh-CN" sz="1400" dirty="0">
                  <a:solidFill>
                    <a:schemeClr val="tx1">
                      <a:lumMod val="75000"/>
                      <a:lumOff val="25000"/>
                    </a:schemeClr>
                  </a:solidFill>
                </a:rPr>
                <a:t>http</a:t>
              </a:r>
              <a:r>
                <a:rPr lang="zh-CN" altLang="en-US" sz="1400" dirty="0">
                  <a:solidFill>
                    <a:schemeClr val="tx1">
                      <a:lumMod val="75000"/>
                      <a:lumOff val="25000"/>
                    </a:schemeClr>
                  </a:solidFill>
                </a:rPr>
                <a:t>请求进行查询服务</a:t>
              </a:r>
              <a:endParaRPr lang="zh-CN" altLang="en-US" sz="1400" dirty="0">
                <a:solidFill>
                  <a:schemeClr val="tx1">
                    <a:lumMod val="75000"/>
                    <a:lumOff val="25000"/>
                  </a:schemeClr>
                </a:solidFill>
              </a:endParaRPr>
            </a:p>
          </p:txBody>
        </p:sp>
        <p:sp>
          <p:nvSpPr>
            <p:cNvPr id="47" name="文本框 46"/>
            <p:cNvSpPr txBox="1"/>
            <p:nvPr/>
          </p:nvSpPr>
          <p:spPr>
            <a:xfrm>
              <a:off x="2827135" y="3699165"/>
              <a:ext cx="400110" cy="2402378"/>
            </a:xfrm>
            <a:prstGeom prst="rect">
              <a:avLst/>
            </a:prstGeom>
            <a:noFill/>
          </p:spPr>
          <p:txBody>
            <a:bodyPr vert="eaVert" wrap="square" rtlCol="0">
              <a:spAutoFit/>
            </a:bodyPr>
            <a:lstStyle/>
            <a:p>
              <a:r>
                <a:rPr lang="zh-CN" altLang="en-US" sz="1400" dirty="0">
                  <a:solidFill>
                    <a:schemeClr val="tx1">
                      <a:lumMod val="75000"/>
                      <a:lumOff val="25000"/>
                    </a:schemeClr>
                  </a:solidFill>
                </a:rPr>
                <a:t>数据提交快，索引建立快</a:t>
              </a:r>
              <a:endParaRPr lang="zh-CN" altLang="en-US" sz="1400" dirty="0">
                <a:solidFill>
                  <a:schemeClr val="tx1">
                    <a:lumMod val="75000"/>
                    <a:lumOff val="25000"/>
                  </a:schemeClr>
                </a:solidFill>
              </a:endParaRPr>
            </a:p>
          </p:txBody>
        </p:sp>
        <p:sp>
          <p:nvSpPr>
            <p:cNvPr id="48" name="文本框 47"/>
            <p:cNvSpPr txBox="1"/>
            <p:nvPr/>
          </p:nvSpPr>
          <p:spPr>
            <a:xfrm>
              <a:off x="5865900" y="3699165"/>
              <a:ext cx="400110" cy="2402378"/>
            </a:xfrm>
            <a:prstGeom prst="rect">
              <a:avLst/>
            </a:prstGeom>
            <a:noFill/>
          </p:spPr>
          <p:txBody>
            <a:bodyPr vert="eaVert" wrap="square" rtlCol="0">
              <a:spAutoFit/>
            </a:bodyPr>
            <a:lstStyle/>
            <a:p>
              <a:r>
                <a:rPr lang="zh-CN" altLang="en-US" sz="1400" dirty="0">
                  <a:solidFill>
                    <a:schemeClr val="tx1">
                      <a:lumMod val="75000"/>
                      <a:lumOff val="25000"/>
                    </a:schemeClr>
                  </a:solidFill>
                </a:rPr>
                <a:t>内建了综合的用户管理界面</a:t>
              </a:r>
              <a:endParaRPr lang="zh-CN" altLang="en-US" sz="1400" dirty="0">
                <a:solidFill>
                  <a:schemeClr val="tx1">
                    <a:lumMod val="75000"/>
                    <a:lumOff val="25000"/>
                  </a:schemeClr>
                </a:solidFill>
              </a:endParaRPr>
            </a:p>
          </p:txBody>
        </p:sp>
        <p:sp>
          <p:nvSpPr>
            <p:cNvPr id="49" name="文本框 48"/>
            <p:cNvSpPr txBox="1"/>
            <p:nvPr/>
          </p:nvSpPr>
          <p:spPr>
            <a:xfrm>
              <a:off x="7363639" y="3699165"/>
              <a:ext cx="400110" cy="2535380"/>
            </a:xfrm>
            <a:prstGeom prst="rect">
              <a:avLst/>
            </a:prstGeom>
            <a:noFill/>
          </p:spPr>
          <p:txBody>
            <a:bodyPr vert="eaVert" wrap="square" rtlCol="0">
              <a:spAutoFit/>
            </a:bodyPr>
            <a:lstStyle/>
            <a:p>
              <a:r>
                <a:rPr lang="zh-CN" altLang="en-US" sz="1400" dirty="0">
                  <a:solidFill>
                    <a:schemeClr val="tx1">
                      <a:lumMod val="75000"/>
                      <a:lumOff val="25000"/>
                    </a:schemeClr>
                  </a:solidFill>
                </a:rPr>
                <a:t>文档配置提高灵活性、适用性</a:t>
              </a:r>
              <a:endParaRPr lang="zh-CN" altLang="en-US" sz="1400" dirty="0">
                <a:solidFill>
                  <a:schemeClr val="tx1">
                    <a:lumMod val="75000"/>
                    <a:lumOff val="25000"/>
                  </a:schemeClr>
                </a:solidFill>
              </a:endParaRPr>
            </a:p>
          </p:txBody>
        </p:sp>
        <p:sp>
          <p:nvSpPr>
            <p:cNvPr id="50" name="文本框 49"/>
            <p:cNvSpPr txBox="1"/>
            <p:nvPr/>
          </p:nvSpPr>
          <p:spPr>
            <a:xfrm>
              <a:off x="8875807" y="3699165"/>
              <a:ext cx="400110" cy="2402378"/>
            </a:xfrm>
            <a:prstGeom prst="rect">
              <a:avLst/>
            </a:prstGeom>
            <a:noFill/>
          </p:spPr>
          <p:txBody>
            <a:bodyPr vert="eaVert" wrap="square" rtlCol="0">
              <a:spAutoFit/>
            </a:bodyPr>
            <a:lstStyle/>
            <a:p>
              <a:r>
                <a:rPr lang="zh-CN" altLang="en-US" sz="1400" dirty="0">
                  <a:solidFill>
                    <a:schemeClr val="tx1">
                      <a:lumMod val="75000"/>
                      <a:lumOff val="25000"/>
                    </a:schemeClr>
                  </a:solidFill>
                </a:rPr>
                <a:t>发布定义良好的插件扩展点</a:t>
              </a:r>
              <a:endParaRPr lang="zh-CN" altLang="en-US" sz="1400" dirty="0">
                <a:solidFill>
                  <a:schemeClr val="tx1">
                    <a:lumMod val="75000"/>
                    <a:lumOff val="25000"/>
                  </a:schemeClr>
                </a:solidFill>
              </a:endParaRPr>
            </a:p>
          </p:txBody>
        </p:sp>
        <p:sp>
          <p:nvSpPr>
            <p:cNvPr id="51" name="文本框 50"/>
            <p:cNvSpPr txBox="1"/>
            <p:nvPr/>
          </p:nvSpPr>
          <p:spPr>
            <a:xfrm>
              <a:off x="10404917" y="3699165"/>
              <a:ext cx="400110" cy="2402378"/>
            </a:xfrm>
            <a:prstGeom prst="rect">
              <a:avLst/>
            </a:prstGeom>
            <a:noFill/>
          </p:spPr>
          <p:txBody>
            <a:bodyPr vert="eaVert" wrap="square" rtlCol="0">
              <a:spAutoFit/>
            </a:bodyPr>
            <a:lstStyle/>
            <a:p>
              <a:r>
                <a:rPr lang="zh-CN" altLang="en-US" sz="1400" dirty="0">
                  <a:solidFill>
                    <a:schemeClr val="tx1">
                      <a:lumMod val="75000"/>
                      <a:lumOff val="25000"/>
                    </a:schemeClr>
                  </a:solidFill>
                </a:rPr>
                <a:t>支持分布式、备份、再平衡</a:t>
              </a:r>
              <a:endParaRPr lang="zh-CN" altLang="en-US" sz="1400" dirty="0">
                <a:solidFill>
                  <a:schemeClr val="tx1">
                    <a:lumMod val="75000"/>
                    <a:lumOff val="25000"/>
                  </a:schemeClr>
                </a:solidFil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r>
              <a:rPr lang="zh-CN" altLang="en-US" sz="2800" dirty="0">
                <a:solidFill>
                  <a:srgbClr val="0150A2"/>
                </a:solidFill>
                <a:ea typeface="微软雅黑" panose="020B0503020204020204" pitchFamily="34" charset="-122"/>
                <a:cs typeface="Times New Roman" panose="02020603050405020304" pitchFamily="18" charset="0"/>
                <a:sym typeface="+mn-ea"/>
              </a:rPr>
              <a:t>体系架构</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34" name="组合 33"/>
          <p:cNvGrpSpPr/>
          <p:nvPr/>
        </p:nvGrpSpPr>
        <p:grpSpPr>
          <a:xfrm>
            <a:off x="6584211" y="1136061"/>
            <a:ext cx="4356313" cy="603984"/>
            <a:chOff x="1361919" y="1945817"/>
            <a:chExt cx="4356313" cy="603984"/>
          </a:xfrm>
        </p:grpSpPr>
        <p:grpSp>
          <p:nvGrpSpPr>
            <p:cNvPr id="35" name="Group 332"/>
            <p:cNvGrpSpPr>
              <a:grpSpLocks noChangeAspect="1"/>
            </p:cNvGrpSpPr>
            <p:nvPr/>
          </p:nvGrpSpPr>
          <p:grpSpPr>
            <a:xfrm>
              <a:off x="1361919" y="2154840"/>
              <a:ext cx="386710" cy="378514"/>
              <a:chOff x="4643438" y="2786063"/>
              <a:chExt cx="206586" cy="202208"/>
            </a:xfrm>
          </p:grpSpPr>
          <p:sp>
            <p:nvSpPr>
              <p:cNvPr id="38" name="Oval 59"/>
              <p:cNvSpPr/>
              <p:nvPr/>
            </p:nvSpPr>
            <p:spPr>
              <a:xfrm>
                <a:off x="4643438" y="2786063"/>
                <a:ext cx="206586" cy="202208"/>
              </a:xfrm>
              <a:prstGeom prst="ellipse">
                <a:avLst/>
              </a:prstGeom>
              <a:solidFill>
                <a:srgbClr val="2A324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solidFill>
                    <a:prstClr val="white"/>
                  </a:solidFill>
                  <a:cs typeface="+mn-ea"/>
                  <a:sym typeface="+mn-lt"/>
                </a:endParaRPr>
              </a:p>
            </p:txBody>
          </p:sp>
          <p:sp>
            <p:nvSpPr>
              <p:cNvPr id="52" name="Freeform 26"/>
              <p:cNvSpPr/>
              <p:nvPr/>
            </p:nvSpPr>
            <p:spPr bwMode="auto">
              <a:xfrm>
                <a:off x="4689987" y="2824731"/>
                <a:ext cx="114518" cy="11876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pPr>
                  <a:lnSpc>
                    <a:spcPct val="130000"/>
                  </a:lnSpc>
                </a:pPr>
                <a:endParaRPr lang="en-US" sz="1400" dirty="0">
                  <a:solidFill>
                    <a:prstClr val="black"/>
                  </a:solidFill>
                  <a:cs typeface="+mn-ea"/>
                  <a:sym typeface="+mn-lt"/>
                </a:endParaRPr>
              </a:p>
            </p:txBody>
          </p:sp>
        </p:grpSp>
        <p:sp>
          <p:nvSpPr>
            <p:cNvPr id="36" name="TextBox 69"/>
            <p:cNvSpPr txBox="1"/>
            <p:nvPr/>
          </p:nvSpPr>
          <p:spPr>
            <a:xfrm>
              <a:off x="1833828" y="2267864"/>
              <a:ext cx="3884404" cy="281937"/>
            </a:xfrm>
            <a:prstGeom prst="rect">
              <a:avLst/>
            </a:prstGeom>
            <a:noFill/>
          </p:spPr>
          <p:txBody>
            <a:bodyPr wrap="square" rtlCol="0">
              <a:spAutoFit/>
            </a:bodyPr>
            <a:lstStyle/>
            <a:p>
              <a:pPr>
                <a:lnSpc>
                  <a:spcPct val="130000"/>
                </a:lnSpc>
              </a:pPr>
              <a:r>
                <a:rPr lang="zh-CN" altLang="en-US" sz="1050" dirty="0">
                  <a:solidFill>
                    <a:schemeClr val="tx1">
                      <a:lumMod val="50000"/>
                      <a:lumOff val="50000"/>
                    </a:schemeClr>
                  </a:solidFill>
                  <a:cs typeface="+mn-ea"/>
                  <a:sym typeface="+mn-lt"/>
                </a:rPr>
                <a:t>处理我们发给</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的</a:t>
              </a:r>
              <a:r>
                <a:rPr lang="zh-CN" altLang="en-US" sz="1050" dirty="0">
                  <a:solidFill>
                    <a:schemeClr val="tx2">
                      <a:lumMod val="60000"/>
                      <a:lumOff val="40000"/>
                    </a:schemeClr>
                  </a:solidFill>
                  <a:cs typeface="+mn-ea"/>
                  <a:sym typeface="+mn-lt"/>
                </a:rPr>
                <a:t>查询请求或索引更新请求</a:t>
              </a:r>
              <a:r>
                <a:rPr lang="zh-CN" altLang="en-US" sz="1050" dirty="0">
                  <a:solidFill>
                    <a:schemeClr val="tx1">
                      <a:lumMod val="50000"/>
                      <a:lumOff val="50000"/>
                    </a:schemeClr>
                  </a:solidFill>
                  <a:cs typeface="+mn-ea"/>
                  <a:sym typeface="+mn-lt"/>
                </a:rPr>
                <a:t>。</a:t>
              </a:r>
              <a:endParaRPr lang="en-US" sz="1050" dirty="0">
                <a:solidFill>
                  <a:schemeClr val="tx1">
                    <a:lumMod val="50000"/>
                    <a:lumOff val="50000"/>
                  </a:schemeClr>
                </a:solidFill>
                <a:cs typeface="+mn-ea"/>
                <a:sym typeface="+mn-lt"/>
              </a:endParaRPr>
            </a:p>
          </p:txBody>
        </p:sp>
        <p:sp>
          <p:nvSpPr>
            <p:cNvPr id="37" name="TextBox 70"/>
            <p:cNvSpPr txBox="1"/>
            <p:nvPr/>
          </p:nvSpPr>
          <p:spPr>
            <a:xfrm>
              <a:off x="1748619" y="1945817"/>
              <a:ext cx="3311925" cy="437391"/>
            </a:xfrm>
            <a:prstGeom prst="rect">
              <a:avLst/>
            </a:prstGeom>
            <a:noFill/>
          </p:spPr>
          <p:txBody>
            <a:bodyPr wrap="square" lIns="182843" tIns="91422" rIns="182843" bIns="91422" rtlCol="0">
              <a:spAutoFit/>
            </a:bodyPr>
            <a:lstStyle/>
            <a:p>
              <a:pPr>
                <a:lnSpc>
                  <a:spcPct val="130000"/>
                </a:lnSpc>
              </a:pPr>
              <a:r>
                <a:rPr lang="en-US" altLang="zh-CN" sz="1400" dirty="0">
                  <a:solidFill>
                    <a:schemeClr val="tx1">
                      <a:lumMod val="85000"/>
                      <a:lumOff val="15000"/>
                    </a:schemeClr>
                  </a:solidFill>
                  <a:cs typeface="+mn-ea"/>
                  <a:sym typeface="+mn-lt"/>
                </a:rPr>
                <a:t>Request Handler </a:t>
              </a:r>
              <a:r>
                <a:rPr lang="zh-CN" altLang="en-US" sz="1400" dirty="0">
                  <a:solidFill>
                    <a:schemeClr val="tx1">
                      <a:lumMod val="85000"/>
                      <a:lumOff val="15000"/>
                    </a:schemeClr>
                  </a:solidFill>
                  <a:cs typeface="+mn-ea"/>
                  <a:sym typeface="+mn-lt"/>
                </a:rPr>
                <a:t>请求处理程序</a:t>
              </a:r>
              <a:endParaRPr lang="zh-CN" altLang="en-US" sz="1400" dirty="0">
                <a:solidFill>
                  <a:schemeClr val="tx1">
                    <a:lumMod val="85000"/>
                    <a:lumOff val="15000"/>
                  </a:schemeClr>
                </a:solidFill>
                <a:cs typeface="+mn-ea"/>
                <a:sym typeface="+mn-lt"/>
              </a:endParaRPr>
            </a:p>
          </p:txBody>
        </p:sp>
      </p:grpSp>
      <p:grpSp>
        <p:nvGrpSpPr>
          <p:cNvPr id="53" name="Group 332"/>
          <p:cNvGrpSpPr>
            <a:grpSpLocks noChangeAspect="1"/>
          </p:cNvGrpSpPr>
          <p:nvPr/>
        </p:nvGrpSpPr>
        <p:grpSpPr>
          <a:xfrm>
            <a:off x="6584211" y="2198958"/>
            <a:ext cx="386710" cy="378514"/>
            <a:chOff x="4643434" y="2786064"/>
            <a:chExt cx="206586" cy="202208"/>
          </a:xfrm>
        </p:grpSpPr>
        <p:sp>
          <p:nvSpPr>
            <p:cNvPr id="54" name="Oval 59"/>
            <p:cNvSpPr/>
            <p:nvPr/>
          </p:nvSpPr>
          <p:spPr>
            <a:xfrm>
              <a:off x="4643434" y="2786064"/>
              <a:ext cx="206586" cy="202208"/>
            </a:xfrm>
            <a:prstGeom prst="ellipse">
              <a:avLst/>
            </a:prstGeom>
            <a:solidFill>
              <a:srgbClr val="BA8F2D"/>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solidFill>
                  <a:prstClr val="white"/>
                </a:solidFill>
                <a:cs typeface="+mn-ea"/>
                <a:sym typeface="+mn-lt"/>
              </a:endParaRPr>
            </a:p>
          </p:txBody>
        </p:sp>
        <p:sp>
          <p:nvSpPr>
            <p:cNvPr id="55" name="Freeform 26"/>
            <p:cNvSpPr/>
            <p:nvPr/>
          </p:nvSpPr>
          <p:spPr bwMode="auto">
            <a:xfrm>
              <a:off x="4689988" y="2827785"/>
              <a:ext cx="114518" cy="11876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pPr>
                <a:lnSpc>
                  <a:spcPct val="130000"/>
                </a:lnSpc>
              </a:pPr>
              <a:endParaRPr lang="en-US" sz="1400" dirty="0">
                <a:solidFill>
                  <a:prstClr val="black"/>
                </a:solidFill>
                <a:cs typeface="+mn-ea"/>
                <a:sym typeface="+mn-lt"/>
              </a:endParaRPr>
            </a:p>
          </p:txBody>
        </p:sp>
      </p:grpSp>
      <p:grpSp>
        <p:nvGrpSpPr>
          <p:cNvPr id="56" name="组合 55"/>
          <p:cNvGrpSpPr/>
          <p:nvPr/>
        </p:nvGrpSpPr>
        <p:grpSpPr>
          <a:xfrm>
            <a:off x="6584218" y="3207070"/>
            <a:ext cx="4361578" cy="499216"/>
            <a:chOff x="1361919" y="2154843"/>
            <a:chExt cx="4361578" cy="499216"/>
          </a:xfrm>
        </p:grpSpPr>
        <p:grpSp>
          <p:nvGrpSpPr>
            <p:cNvPr id="57" name="Group 332"/>
            <p:cNvGrpSpPr>
              <a:grpSpLocks noChangeAspect="1"/>
            </p:cNvGrpSpPr>
            <p:nvPr/>
          </p:nvGrpSpPr>
          <p:grpSpPr>
            <a:xfrm>
              <a:off x="1361919" y="2154843"/>
              <a:ext cx="386710" cy="378514"/>
              <a:chOff x="4643438" y="2786064"/>
              <a:chExt cx="206586" cy="202208"/>
            </a:xfrm>
          </p:grpSpPr>
          <p:sp>
            <p:nvSpPr>
              <p:cNvPr id="59" name="Oval 59"/>
              <p:cNvSpPr/>
              <p:nvPr/>
            </p:nvSpPr>
            <p:spPr>
              <a:xfrm>
                <a:off x="4643438" y="2786064"/>
                <a:ext cx="206586" cy="202208"/>
              </a:xfrm>
              <a:prstGeom prst="ellipse">
                <a:avLst/>
              </a:prstGeom>
              <a:solidFill>
                <a:schemeClr val="tx1">
                  <a:lumMod val="65000"/>
                  <a:lumOff val="3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solidFill>
                    <a:prstClr val="white"/>
                  </a:solidFill>
                  <a:cs typeface="+mn-ea"/>
                  <a:sym typeface="+mn-lt"/>
                </a:endParaRPr>
              </a:p>
            </p:txBody>
          </p:sp>
          <p:sp>
            <p:nvSpPr>
              <p:cNvPr id="60" name="Freeform 26"/>
              <p:cNvSpPr/>
              <p:nvPr/>
            </p:nvSpPr>
            <p:spPr bwMode="auto">
              <a:xfrm>
                <a:off x="4687174" y="2827785"/>
                <a:ext cx="114518" cy="11876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pPr>
                  <a:lnSpc>
                    <a:spcPct val="130000"/>
                  </a:lnSpc>
                </a:pPr>
                <a:endParaRPr lang="en-US" sz="1400" dirty="0">
                  <a:solidFill>
                    <a:prstClr val="black"/>
                  </a:solidFill>
                  <a:cs typeface="+mn-ea"/>
                  <a:sym typeface="+mn-lt"/>
                </a:endParaRPr>
              </a:p>
            </p:txBody>
          </p:sp>
        </p:grpSp>
        <p:sp>
          <p:nvSpPr>
            <p:cNvPr id="58" name="TextBox 81"/>
            <p:cNvSpPr txBox="1"/>
            <p:nvPr/>
          </p:nvSpPr>
          <p:spPr>
            <a:xfrm>
              <a:off x="1839093" y="2162065"/>
              <a:ext cx="3884404" cy="491994"/>
            </a:xfrm>
            <a:prstGeom prst="rect">
              <a:avLst/>
            </a:prstGeom>
            <a:noFill/>
          </p:spPr>
          <p:txBody>
            <a:bodyPr wrap="square" rtlCol="0">
              <a:spAutoFit/>
            </a:bodyPr>
            <a:lstStyle/>
            <a:p>
              <a:pPr>
                <a:lnSpc>
                  <a:spcPct val="130000"/>
                </a:lnSpc>
              </a:pPr>
              <a:r>
                <a:rPr lang="zh-CN" altLang="en-US" sz="1050" dirty="0">
                  <a:solidFill>
                    <a:schemeClr val="tx1">
                      <a:lumMod val="50000"/>
                      <a:lumOff val="50000"/>
                    </a:schemeClr>
                  </a:solidFill>
                  <a:cs typeface="+mn-ea"/>
                  <a:sym typeface="+mn-lt"/>
                </a:rPr>
                <a:t>解析我们传递给</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的查询，并验证查询是否存在语法错误。解析查询后，它会将它们转换为</a:t>
              </a:r>
              <a:r>
                <a:rPr lang="en-US" altLang="zh-CN" sz="1050" dirty="0">
                  <a:solidFill>
                    <a:schemeClr val="tx1">
                      <a:lumMod val="50000"/>
                      <a:lumOff val="50000"/>
                    </a:schemeClr>
                  </a:solidFill>
                  <a:cs typeface="+mn-ea"/>
                  <a:sym typeface="+mn-lt"/>
                </a:rPr>
                <a:t>Lucene</a:t>
              </a:r>
              <a:r>
                <a:rPr lang="zh-CN" altLang="en-US" sz="1050" dirty="0">
                  <a:solidFill>
                    <a:schemeClr val="tx1">
                      <a:lumMod val="50000"/>
                      <a:lumOff val="50000"/>
                    </a:schemeClr>
                  </a:solidFill>
                  <a:cs typeface="+mn-ea"/>
                  <a:sym typeface="+mn-lt"/>
                </a:rPr>
                <a:t>理解的格式。</a:t>
              </a:r>
              <a:endParaRPr lang="zh-CN" altLang="en-US" sz="1050" dirty="0">
                <a:solidFill>
                  <a:schemeClr val="tx1">
                    <a:lumMod val="50000"/>
                    <a:lumOff val="50000"/>
                  </a:schemeClr>
                </a:solidFill>
                <a:cs typeface="+mn-ea"/>
                <a:sym typeface="+mn-lt"/>
              </a:endParaRPr>
            </a:p>
          </p:txBody>
        </p:sp>
      </p:grpSp>
      <p:sp>
        <p:nvSpPr>
          <p:cNvPr id="61" name="TextBox 70"/>
          <p:cNvSpPr txBox="1"/>
          <p:nvPr/>
        </p:nvSpPr>
        <p:spPr>
          <a:xfrm>
            <a:off x="6970919" y="1970817"/>
            <a:ext cx="3035274" cy="437391"/>
          </a:xfrm>
          <a:prstGeom prst="rect">
            <a:avLst/>
          </a:prstGeom>
          <a:noFill/>
        </p:spPr>
        <p:txBody>
          <a:bodyPr wrap="square" lIns="182843" tIns="91422" rIns="182843" bIns="91422" rtlCol="0">
            <a:spAutoFit/>
          </a:bodyPr>
          <a:lstStyle/>
          <a:p>
            <a:pPr>
              <a:lnSpc>
                <a:spcPct val="130000"/>
              </a:lnSpc>
            </a:pPr>
            <a:r>
              <a:rPr lang="en-US" altLang="zh-CN" sz="1400" dirty="0">
                <a:solidFill>
                  <a:schemeClr val="tx1">
                    <a:lumMod val="85000"/>
                    <a:lumOff val="15000"/>
                  </a:schemeClr>
                </a:solidFill>
                <a:cs typeface="+mn-ea"/>
                <a:sym typeface="+mn-lt"/>
              </a:rPr>
              <a:t>Search Component </a:t>
            </a:r>
            <a:r>
              <a:rPr lang="zh-CN" altLang="en-US" sz="1400" dirty="0">
                <a:solidFill>
                  <a:schemeClr val="tx1">
                    <a:lumMod val="85000"/>
                    <a:lumOff val="15000"/>
                  </a:schemeClr>
                </a:solidFill>
                <a:cs typeface="+mn-ea"/>
                <a:sym typeface="+mn-lt"/>
              </a:rPr>
              <a:t>搜索组件</a:t>
            </a:r>
            <a:endParaRPr lang="zh-CN" altLang="en-US" sz="1400" dirty="0">
              <a:solidFill>
                <a:schemeClr val="tx1">
                  <a:lumMod val="85000"/>
                  <a:lumOff val="15000"/>
                </a:schemeClr>
              </a:solidFill>
              <a:cs typeface="+mn-ea"/>
              <a:sym typeface="+mn-lt"/>
            </a:endParaRPr>
          </a:p>
        </p:txBody>
      </p:sp>
      <p:sp>
        <p:nvSpPr>
          <p:cNvPr id="62" name="TextBox 69"/>
          <p:cNvSpPr txBox="1"/>
          <p:nvPr/>
        </p:nvSpPr>
        <p:spPr>
          <a:xfrm>
            <a:off x="7056127" y="2307924"/>
            <a:ext cx="3884404" cy="491994"/>
          </a:xfrm>
          <a:prstGeom prst="rect">
            <a:avLst/>
          </a:prstGeom>
          <a:noFill/>
        </p:spPr>
        <p:txBody>
          <a:bodyPr wrap="square" rtlCol="0">
            <a:spAutoFit/>
          </a:bodyPr>
          <a:lstStyle/>
          <a:p>
            <a:pPr>
              <a:lnSpc>
                <a:spcPct val="130000"/>
              </a:lnSpc>
            </a:pP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提供的</a:t>
            </a:r>
            <a:r>
              <a:rPr lang="zh-CN" altLang="en-US" sz="1050" dirty="0">
                <a:solidFill>
                  <a:schemeClr val="tx2">
                    <a:lumMod val="60000"/>
                    <a:lumOff val="40000"/>
                  </a:schemeClr>
                </a:solidFill>
                <a:cs typeface="+mn-ea"/>
                <a:sym typeface="+mn-lt"/>
              </a:rPr>
              <a:t>搜索类型</a:t>
            </a:r>
            <a:r>
              <a:rPr lang="en-US" altLang="zh-CN" sz="1050" dirty="0">
                <a:solidFill>
                  <a:schemeClr val="tx2">
                    <a:lumMod val="60000"/>
                    <a:lumOff val="40000"/>
                  </a:schemeClr>
                </a:solidFill>
                <a:cs typeface="+mn-ea"/>
                <a:sym typeface="+mn-lt"/>
              </a:rPr>
              <a:t>(</a:t>
            </a:r>
            <a:r>
              <a:rPr lang="zh-CN" altLang="en-US" sz="1050" dirty="0">
                <a:solidFill>
                  <a:schemeClr val="tx2">
                    <a:lumMod val="60000"/>
                    <a:lumOff val="40000"/>
                  </a:schemeClr>
                </a:solidFill>
                <a:cs typeface="+mn-ea"/>
                <a:sym typeface="+mn-lt"/>
              </a:rPr>
              <a:t>功能</a:t>
            </a:r>
            <a:r>
              <a:rPr lang="en-US" altLang="zh-CN" sz="1050" dirty="0">
                <a:solidFill>
                  <a:schemeClr val="tx2">
                    <a:lumMod val="60000"/>
                    <a:lumOff val="40000"/>
                  </a:schemeClr>
                </a:solidFill>
                <a:cs typeface="+mn-ea"/>
                <a:sym typeface="+mn-lt"/>
              </a:rPr>
              <a:t>)</a:t>
            </a:r>
            <a:r>
              <a:rPr lang="zh-CN" altLang="en-US" sz="1050" dirty="0">
                <a:solidFill>
                  <a:schemeClr val="tx1">
                    <a:lumMod val="50000"/>
                    <a:lumOff val="50000"/>
                  </a:schemeClr>
                </a:solidFill>
                <a:cs typeface="+mn-ea"/>
                <a:sym typeface="+mn-lt"/>
              </a:rPr>
              <a:t>，包括拼写检查、查询、分面、搜索结果突出显示。</a:t>
            </a:r>
            <a:endParaRPr lang="en-US" sz="1050" dirty="0">
              <a:solidFill>
                <a:schemeClr val="tx1">
                  <a:lumMod val="50000"/>
                  <a:lumOff val="50000"/>
                </a:schemeClr>
              </a:solidFill>
              <a:cs typeface="+mn-ea"/>
              <a:sym typeface="+mn-lt"/>
            </a:endParaRPr>
          </a:p>
        </p:txBody>
      </p:sp>
      <p:sp>
        <p:nvSpPr>
          <p:cNvPr id="63" name="TextBox 70"/>
          <p:cNvSpPr txBox="1"/>
          <p:nvPr/>
        </p:nvSpPr>
        <p:spPr>
          <a:xfrm>
            <a:off x="6970919" y="2877790"/>
            <a:ext cx="3035274" cy="437391"/>
          </a:xfrm>
          <a:prstGeom prst="rect">
            <a:avLst/>
          </a:prstGeom>
          <a:noFill/>
        </p:spPr>
        <p:txBody>
          <a:bodyPr wrap="square" lIns="182843" tIns="91422" rIns="182843" bIns="91422" rtlCol="0">
            <a:spAutoFit/>
          </a:bodyPr>
          <a:lstStyle/>
          <a:p>
            <a:pPr>
              <a:lnSpc>
                <a:spcPct val="130000"/>
              </a:lnSpc>
            </a:pPr>
            <a:r>
              <a:rPr lang="en-US" altLang="zh-CN" sz="1400" dirty="0">
                <a:solidFill>
                  <a:schemeClr val="tx1">
                    <a:lumMod val="85000"/>
                    <a:lumOff val="15000"/>
                  </a:schemeClr>
                </a:solidFill>
                <a:cs typeface="+mn-ea"/>
                <a:sym typeface="+mn-lt"/>
              </a:rPr>
              <a:t>Query Parser  </a:t>
            </a:r>
            <a:r>
              <a:rPr lang="zh-CN" altLang="en-US" sz="1400" dirty="0">
                <a:solidFill>
                  <a:schemeClr val="tx1">
                    <a:lumMod val="85000"/>
                    <a:lumOff val="15000"/>
                  </a:schemeClr>
                </a:solidFill>
                <a:cs typeface="+mn-ea"/>
                <a:sym typeface="+mn-lt"/>
              </a:rPr>
              <a:t>查询解析器</a:t>
            </a:r>
            <a:endParaRPr lang="zh-CN" altLang="en-US" sz="1400" dirty="0">
              <a:solidFill>
                <a:schemeClr val="tx1">
                  <a:lumMod val="85000"/>
                  <a:lumOff val="15000"/>
                </a:schemeClr>
              </a:solidFill>
              <a:cs typeface="+mn-ea"/>
              <a:sym typeface="+mn-lt"/>
            </a:endParaRPr>
          </a:p>
        </p:txBody>
      </p:sp>
      <p:grpSp>
        <p:nvGrpSpPr>
          <p:cNvPr id="64" name="组合 63"/>
          <p:cNvGrpSpPr/>
          <p:nvPr/>
        </p:nvGrpSpPr>
        <p:grpSpPr>
          <a:xfrm>
            <a:off x="6584218" y="3857778"/>
            <a:ext cx="4356313" cy="814041"/>
            <a:chOff x="1361919" y="1945817"/>
            <a:chExt cx="4356313" cy="814041"/>
          </a:xfrm>
        </p:grpSpPr>
        <p:grpSp>
          <p:nvGrpSpPr>
            <p:cNvPr id="65" name="Group 332"/>
            <p:cNvGrpSpPr>
              <a:grpSpLocks noChangeAspect="1"/>
            </p:cNvGrpSpPr>
            <p:nvPr/>
          </p:nvGrpSpPr>
          <p:grpSpPr>
            <a:xfrm>
              <a:off x="1361919" y="2154840"/>
              <a:ext cx="386710" cy="378514"/>
              <a:chOff x="4643438" y="2786063"/>
              <a:chExt cx="206586" cy="202208"/>
            </a:xfrm>
          </p:grpSpPr>
          <p:sp>
            <p:nvSpPr>
              <p:cNvPr id="68" name="Oval 59"/>
              <p:cNvSpPr/>
              <p:nvPr/>
            </p:nvSpPr>
            <p:spPr>
              <a:xfrm>
                <a:off x="4643438" y="2786063"/>
                <a:ext cx="206586" cy="202208"/>
              </a:xfrm>
              <a:prstGeom prst="ellipse">
                <a:avLst/>
              </a:prstGeom>
              <a:solidFill>
                <a:srgbClr val="2A324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solidFill>
                    <a:prstClr val="white"/>
                  </a:solidFill>
                  <a:cs typeface="+mn-ea"/>
                  <a:sym typeface="+mn-lt"/>
                </a:endParaRPr>
              </a:p>
            </p:txBody>
          </p:sp>
          <p:sp>
            <p:nvSpPr>
              <p:cNvPr id="69" name="Freeform 26"/>
              <p:cNvSpPr/>
              <p:nvPr/>
            </p:nvSpPr>
            <p:spPr bwMode="auto">
              <a:xfrm>
                <a:off x="4689987" y="2824731"/>
                <a:ext cx="114518" cy="11876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pPr>
                  <a:lnSpc>
                    <a:spcPct val="130000"/>
                  </a:lnSpc>
                </a:pPr>
                <a:endParaRPr lang="en-US" sz="1400" dirty="0">
                  <a:solidFill>
                    <a:prstClr val="black"/>
                  </a:solidFill>
                  <a:cs typeface="+mn-ea"/>
                  <a:sym typeface="+mn-lt"/>
                </a:endParaRPr>
              </a:p>
            </p:txBody>
          </p:sp>
        </p:grpSp>
        <p:sp>
          <p:nvSpPr>
            <p:cNvPr id="66" name="TextBox 69"/>
            <p:cNvSpPr txBox="1"/>
            <p:nvPr/>
          </p:nvSpPr>
          <p:spPr>
            <a:xfrm>
              <a:off x="1833828" y="2267864"/>
              <a:ext cx="3884404" cy="491994"/>
            </a:xfrm>
            <a:prstGeom prst="rect">
              <a:avLst/>
            </a:prstGeom>
            <a:noFill/>
          </p:spPr>
          <p:txBody>
            <a:bodyPr wrap="square" rtlCol="0">
              <a:spAutoFit/>
            </a:bodyPr>
            <a:lstStyle/>
            <a:p>
              <a:pPr>
                <a:lnSpc>
                  <a:spcPct val="130000"/>
                </a:lnSpc>
              </a:pPr>
              <a:r>
                <a:rPr lang="zh-CN" altLang="en-US" sz="1050" dirty="0">
                  <a:solidFill>
                    <a:schemeClr val="tx1">
                      <a:lumMod val="50000"/>
                      <a:lumOff val="50000"/>
                    </a:schemeClr>
                  </a:solidFill>
                  <a:cs typeface="+mn-ea"/>
                  <a:sym typeface="+mn-lt"/>
                </a:rPr>
                <a:t>为用户查询</a:t>
              </a:r>
              <a:r>
                <a:rPr lang="zh-CN" altLang="en-US" sz="1050" dirty="0">
                  <a:solidFill>
                    <a:schemeClr val="tx2">
                      <a:lumMod val="60000"/>
                      <a:lumOff val="40000"/>
                    </a:schemeClr>
                  </a:solidFill>
                  <a:cs typeface="+mn-ea"/>
                  <a:sym typeface="+mn-lt"/>
                </a:rPr>
                <a:t>生成格式化输出</a:t>
              </a:r>
              <a:r>
                <a:rPr lang="zh-CN" altLang="en-US" sz="1050" dirty="0">
                  <a:solidFill>
                    <a:schemeClr val="tx1">
                      <a:lumMod val="50000"/>
                      <a:lumOff val="50000"/>
                    </a:schemeClr>
                  </a:solidFill>
                  <a:cs typeface="+mn-ea"/>
                  <a:sym typeface="+mn-lt"/>
                </a:rPr>
                <a:t>的组件。</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支持</a:t>
              </a:r>
              <a:r>
                <a:rPr lang="en-US" altLang="zh-CN" sz="1050" dirty="0">
                  <a:solidFill>
                    <a:schemeClr val="tx1">
                      <a:lumMod val="50000"/>
                      <a:lumOff val="50000"/>
                    </a:schemeClr>
                  </a:solidFill>
                  <a:cs typeface="+mn-ea"/>
                  <a:sym typeface="+mn-lt"/>
                </a:rPr>
                <a:t>XML</a:t>
              </a:r>
              <a:r>
                <a:rPr lang="zh-CN" altLang="en-US" sz="1050" dirty="0">
                  <a:solidFill>
                    <a:schemeClr val="tx1">
                      <a:lumMod val="50000"/>
                      <a:lumOff val="50000"/>
                    </a:schemeClr>
                  </a:solidFill>
                  <a:cs typeface="+mn-ea"/>
                  <a:sym typeface="+mn-lt"/>
                </a:rPr>
                <a:t>，</a:t>
              </a:r>
              <a:r>
                <a:rPr lang="en-US" altLang="zh-CN" sz="1050" dirty="0">
                  <a:solidFill>
                    <a:schemeClr val="tx1">
                      <a:lumMod val="50000"/>
                      <a:lumOff val="50000"/>
                    </a:schemeClr>
                  </a:solidFill>
                  <a:cs typeface="+mn-ea"/>
                  <a:sym typeface="+mn-lt"/>
                </a:rPr>
                <a:t>JSON</a:t>
              </a:r>
              <a:r>
                <a:rPr lang="zh-CN" altLang="en-US" sz="1050" dirty="0">
                  <a:solidFill>
                    <a:schemeClr val="tx1">
                      <a:lumMod val="50000"/>
                      <a:lumOff val="50000"/>
                    </a:schemeClr>
                  </a:solidFill>
                  <a:cs typeface="+mn-ea"/>
                  <a:sym typeface="+mn-lt"/>
                </a:rPr>
                <a:t>，</a:t>
              </a:r>
              <a:r>
                <a:rPr lang="en-US" altLang="zh-CN" sz="1050" dirty="0">
                  <a:solidFill>
                    <a:schemeClr val="tx1">
                      <a:lumMod val="50000"/>
                      <a:lumOff val="50000"/>
                    </a:schemeClr>
                  </a:solidFill>
                  <a:cs typeface="+mn-ea"/>
                  <a:sym typeface="+mn-lt"/>
                </a:rPr>
                <a:t>CSV</a:t>
              </a:r>
              <a:r>
                <a:rPr lang="zh-CN" altLang="en-US" sz="1050" dirty="0">
                  <a:solidFill>
                    <a:schemeClr val="tx1">
                      <a:lumMod val="50000"/>
                      <a:lumOff val="50000"/>
                    </a:schemeClr>
                  </a:solidFill>
                  <a:cs typeface="+mn-ea"/>
                  <a:sym typeface="+mn-lt"/>
                </a:rPr>
                <a:t>等响应格式。</a:t>
              </a:r>
              <a:endParaRPr lang="en-US" sz="1050" dirty="0">
                <a:solidFill>
                  <a:schemeClr val="tx1">
                    <a:lumMod val="50000"/>
                    <a:lumOff val="50000"/>
                  </a:schemeClr>
                </a:solidFill>
                <a:cs typeface="+mn-ea"/>
                <a:sym typeface="+mn-lt"/>
              </a:endParaRPr>
            </a:p>
          </p:txBody>
        </p:sp>
        <p:sp>
          <p:nvSpPr>
            <p:cNvPr id="67" name="TextBox 70"/>
            <p:cNvSpPr txBox="1"/>
            <p:nvPr/>
          </p:nvSpPr>
          <p:spPr>
            <a:xfrm>
              <a:off x="1748619" y="1945817"/>
              <a:ext cx="3311925" cy="437391"/>
            </a:xfrm>
            <a:prstGeom prst="rect">
              <a:avLst/>
            </a:prstGeom>
            <a:noFill/>
          </p:spPr>
          <p:txBody>
            <a:bodyPr wrap="square" lIns="182843" tIns="91422" rIns="182843" bIns="91422" rtlCol="0">
              <a:spAutoFit/>
            </a:bodyPr>
            <a:lstStyle/>
            <a:p>
              <a:pPr>
                <a:lnSpc>
                  <a:spcPct val="130000"/>
                </a:lnSpc>
              </a:pPr>
              <a:r>
                <a:rPr lang="en-US" altLang="zh-CN" sz="1400" dirty="0">
                  <a:solidFill>
                    <a:schemeClr val="tx1">
                      <a:lumMod val="85000"/>
                      <a:lumOff val="15000"/>
                    </a:schemeClr>
                  </a:solidFill>
                  <a:cs typeface="+mn-ea"/>
                  <a:sym typeface="+mn-lt"/>
                </a:rPr>
                <a:t>Response Writer  </a:t>
              </a:r>
              <a:r>
                <a:rPr lang="zh-CN" altLang="en-US" sz="1400" dirty="0">
                  <a:solidFill>
                    <a:schemeClr val="tx1">
                      <a:lumMod val="85000"/>
                      <a:lumOff val="15000"/>
                    </a:schemeClr>
                  </a:solidFill>
                  <a:cs typeface="+mn-ea"/>
                  <a:sym typeface="+mn-lt"/>
                </a:rPr>
                <a:t>响应编写器</a:t>
              </a:r>
              <a:endParaRPr lang="zh-CN" altLang="en-US" sz="1400" dirty="0">
                <a:solidFill>
                  <a:schemeClr val="tx1">
                    <a:lumMod val="85000"/>
                    <a:lumOff val="15000"/>
                  </a:schemeClr>
                </a:solidFill>
                <a:cs typeface="+mn-ea"/>
                <a:sym typeface="+mn-lt"/>
              </a:endParaRPr>
            </a:p>
          </p:txBody>
        </p:sp>
      </p:grpSp>
      <p:grpSp>
        <p:nvGrpSpPr>
          <p:cNvPr id="70" name="Group 332"/>
          <p:cNvGrpSpPr>
            <a:grpSpLocks noChangeAspect="1"/>
          </p:cNvGrpSpPr>
          <p:nvPr/>
        </p:nvGrpSpPr>
        <p:grpSpPr>
          <a:xfrm>
            <a:off x="6584211" y="4977090"/>
            <a:ext cx="386710" cy="378514"/>
            <a:chOff x="4643434" y="2786064"/>
            <a:chExt cx="206586" cy="202208"/>
          </a:xfrm>
        </p:grpSpPr>
        <p:sp>
          <p:nvSpPr>
            <p:cNvPr id="71" name="Oval 59"/>
            <p:cNvSpPr/>
            <p:nvPr/>
          </p:nvSpPr>
          <p:spPr>
            <a:xfrm>
              <a:off x="4643434" y="2786064"/>
              <a:ext cx="206586" cy="202208"/>
            </a:xfrm>
            <a:prstGeom prst="ellipse">
              <a:avLst/>
            </a:prstGeom>
            <a:solidFill>
              <a:srgbClr val="BA8F2D"/>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solidFill>
                  <a:prstClr val="white"/>
                </a:solidFill>
                <a:cs typeface="+mn-ea"/>
                <a:sym typeface="+mn-lt"/>
              </a:endParaRPr>
            </a:p>
          </p:txBody>
        </p:sp>
        <p:sp>
          <p:nvSpPr>
            <p:cNvPr id="72" name="Freeform 26"/>
            <p:cNvSpPr/>
            <p:nvPr/>
          </p:nvSpPr>
          <p:spPr bwMode="auto">
            <a:xfrm>
              <a:off x="4689988" y="2827785"/>
              <a:ext cx="114518" cy="11876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pPr>
                <a:lnSpc>
                  <a:spcPct val="130000"/>
                </a:lnSpc>
              </a:pPr>
              <a:endParaRPr lang="en-US" sz="1400" dirty="0">
                <a:solidFill>
                  <a:prstClr val="black"/>
                </a:solidFill>
                <a:cs typeface="+mn-ea"/>
                <a:sym typeface="+mn-lt"/>
              </a:endParaRPr>
            </a:p>
          </p:txBody>
        </p:sp>
      </p:grpSp>
      <p:grpSp>
        <p:nvGrpSpPr>
          <p:cNvPr id="73" name="组合 72"/>
          <p:cNvGrpSpPr/>
          <p:nvPr/>
        </p:nvGrpSpPr>
        <p:grpSpPr>
          <a:xfrm>
            <a:off x="6584217" y="5985202"/>
            <a:ext cx="4862407" cy="499216"/>
            <a:chOff x="1361919" y="2154843"/>
            <a:chExt cx="4361578" cy="499216"/>
          </a:xfrm>
        </p:grpSpPr>
        <p:grpSp>
          <p:nvGrpSpPr>
            <p:cNvPr id="74" name="Group 332"/>
            <p:cNvGrpSpPr>
              <a:grpSpLocks noChangeAspect="1"/>
            </p:cNvGrpSpPr>
            <p:nvPr/>
          </p:nvGrpSpPr>
          <p:grpSpPr>
            <a:xfrm>
              <a:off x="1361919" y="2154843"/>
              <a:ext cx="386710" cy="378514"/>
              <a:chOff x="4643438" y="2786064"/>
              <a:chExt cx="206586" cy="202208"/>
            </a:xfrm>
          </p:grpSpPr>
          <p:sp>
            <p:nvSpPr>
              <p:cNvPr id="76" name="Oval 59"/>
              <p:cNvSpPr/>
              <p:nvPr/>
            </p:nvSpPr>
            <p:spPr>
              <a:xfrm>
                <a:off x="4643438" y="2786064"/>
                <a:ext cx="206586" cy="202208"/>
              </a:xfrm>
              <a:prstGeom prst="ellipse">
                <a:avLst/>
              </a:prstGeom>
              <a:solidFill>
                <a:schemeClr val="tx1">
                  <a:lumMod val="65000"/>
                  <a:lumOff val="3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solidFill>
                    <a:prstClr val="white"/>
                  </a:solidFill>
                  <a:cs typeface="+mn-ea"/>
                  <a:sym typeface="+mn-lt"/>
                </a:endParaRPr>
              </a:p>
            </p:txBody>
          </p:sp>
          <p:sp>
            <p:nvSpPr>
              <p:cNvPr id="77" name="Freeform 26"/>
              <p:cNvSpPr/>
              <p:nvPr/>
            </p:nvSpPr>
            <p:spPr bwMode="auto">
              <a:xfrm>
                <a:off x="4687174" y="2827785"/>
                <a:ext cx="114518" cy="11876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pPr>
                  <a:lnSpc>
                    <a:spcPct val="130000"/>
                  </a:lnSpc>
                </a:pPr>
                <a:endParaRPr lang="en-US" sz="1400" dirty="0">
                  <a:solidFill>
                    <a:prstClr val="black"/>
                  </a:solidFill>
                  <a:cs typeface="+mn-ea"/>
                  <a:sym typeface="+mn-lt"/>
                </a:endParaRPr>
              </a:p>
            </p:txBody>
          </p:sp>
        </p:grpSp>
        <p:sp>
          <p:nvSpPr>
            <p:cNvPr id="75" name="TextBox 81"/>
            <p:cNvSpPr txBox="1"/>
            <p:nvPr/>
          </p:nvSpPr>
          <p:spPr>
            <a:xfrm>
              <a:off x="1839093" y="2162065"/>
              <a:ext cx="3884404" cy="491994"/>
            </a:xfrm>
            <a:prstGeom prst="rect">
              <a:avLst/>
            </a:prstGeom>
            <a:noFill/>
          </p:spPr>
          <p:txBody>
            <a:bodyPr wrap="square" rtlCol="0">
              <a:spAutoFit/>
            </a:bodyPr>
            <a:lstStyle/>
            <a:p>
              <a:pPr>
                <a:lnSpc>
                  <a:spcPct val="130000"/>
                </a:lnSpc>
              </a:pPr>
              <a:r>
                <a:rPr lang="zh-CN" altLang="en-US" sz="1050" dirty="0">
                  <a:solidFill>
                    <a:schemeClr val="tx1">
                      <a:lumMod val="50000"/>
                      <a:lumOff val="50000"/>
                    </a:schemeClr>
                  </a:solidFill>
                  <a:cs typeface="+mn-ea"/>
                  <a:sym typeface="+mn-lt"/>
                </a:rPr>
                <a:t>每当我们向</a:t>
              </a:r>
              <a:r>
                <a:rPr lang="en-US" altLang="zh-CN" sz="1050" dirty="0">
                  <a:solidFill>
                    <a:schemeClr val="tx1">
                      <a:lumMod val="50000"/>
                      <a:lumOff val="50000"/>
                    </a:schemeClr>
                  </a:solidFill>
                  <a:cs typeface="+mn-ea"/>
                  <a:sym typeface="+mn-lt"/>
                </a:rPr>
                <a:t>Apache </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发送更新请求时，请求都通过一组插件（签名，日志记录，索引）运行，</a:t>
              </a:r>
              <a:r>
                <a:rPr lang="zh-CN" altLang="en-US" sz="1050" dirty="0">
                  <a:solidFill>
                    <a:schemeClr val="tx2">
                      <a:lumMod val="60000"/>
                      <a:lumOff val="40000"/>
                    </a:schemeClr>
                  </a:solidFill>
                  <a:cs typeface="+mn-ea"/>
                  <a:sym typeface="+mn-lt"/>
                </a:rPr>
                <a:t>负责修改，例如删除字段，添加字段等。</a:t>
              </a:r>
              <a:endParaRPr lang="zh-CN" altLang="en-US" sz="1050" dirty="0">
                <a:solidFill>
                  <a:schemeClr val="tx2">
                    <a:lumMod val="60000"/>
                    <a:lumOff val="40000"/>
                  </a:schemeClr>
                </a:solidFill>
                <a:cs typeface="+mn-ea"/>
                <a:sym typeface="+mn-lt"/>
              </a:endParaRPr>
            </a:p>
          </p:txBody>
        </p:sp>
      </p:grpSp>
      <p:sp>
        <p:nvSpPr>
          <p:cNvPr id="78" name="TextBox 70"/>
          <p:cNvSpPr txBox="1"/>
          <p:nvPr/>
        </p:nvSpPr>
        <p:spPr>
          <a:xfrm>
            <a:off x="6970919" y="4748949"/>
            <a:ext cx="3035274" cy="437391"/>
          </a:xfrm>
          <a:prstGeom prst="rect">
            <a:avLst/>
          </a:prstGeom>
          <a:noFill/>
        </p:spPr>
        <p:txBody>
          <a:bodyPr wrap="square" lIns="182843" tIns="91422" rIns="182843" bIns="91422" rtlCol="0">
            <a:spAutoFit/>
          </a:bodyPr>
          <a:lstStyle/>
          <a:p>
            <a:pPr>
              <a:lnSpc>
                <a:spcPct val="130000"/>
              </a:lnSpc>
            </a:pPr>
            <a:r>
              <a:rPr lang="en-US" altLang="zh-CN" sz="1400" dirty="0">
                <a:solidFill>
                  <a:schemeClr val="tx1">
                    <a:lumMod val="85000"/>
                    <a:lumOff val="15000"/>
                  </a:schemeClr>
                </a:solidFill>
                <a:cs typeface="+mn-ea"/>
                <a:sym typeface="+mn-lt"/>
              </a:rPr>
              <a:t>Analyzer / tokenizer  </a:t>
            </a:r>
            <a:r>
              <a:rPr lang="zh-CN" altLang="en-US" sz="1400" dirty="0">
                <a:solidFill>
                  <a:schemeClr val="tx1">
                    <a:lumMod val="85000"/>
                    <a:lumOff val="15000"/>
                  </a:schemeClr>
                </a:solidFill>
                <a:cs typeface="+mn-ea"/>
                <a:sym typeface="+mn-lt"/>
              </a:rPr>
              <a:t>分析器</a:t>
            </a:r>
            <a:endParaRPr lang="zh-CN" altLang="en-US" sz="1400" dirty="0">
              <a:solidFill>
                <a:schemeClr val="tx1">
                  <a:lumMod val="85000"/>
                  <a:lumOff val="15000"/>
                </a:schemeClr>
              </a:solidFill>
              <a:cs typeface="+mn-ea"/>
              <a:sym typeface="+mn-lt"/>
            </a:endParaRPr>
          </a:p>
        </p:txBody>
      </p:sp>
      <p:sp>
        <p:nvSpPr>
          <p:cNvPr id="79" name="TextBox 69"/>
          <p:cNvSpPr txBox="1"/>
          <p:nvPr/>
        </p:nvSpPr>
        <p:spPr>
          <a:xfrm>
            <a:off x="7056127" y="5086056"/>
            <a:ext cx="3884404" cy="491994"/>
          </a:xfrm>
          <a:prstGeom prst="rect">
            <a:avLst/>
          </a:prstGeom>
          <a:noFill/>
        </p:spPr>
        <p:txBody>
          <a:bodyPr wrap="square" rtlCol="0">
            <a:spAutoFit/>
          </a:bodyPr>
          <a:lstStyle/>
          <a:p>
            <a:pPr>
              <a:lnSpc>
                <a:spcPct val="130000"/>
              </a:lnSpc>
            </a:pPr>
            <a:r>
              <a:rPr lang="en-US" altLang="zh-CN" sz="1050" dirty="0">
                <a:solidFill>
                  <a:schemeClr val="tx1">
                    <a:lumMod val="50000"/>
                    <a:lumOff val="50000"/>
                  </a:schemeClr>
                </a:solidFill>
                <a:cs typeface="+mn-ea"/>
                <a:sym typeface="+mn-lt"/>
              </a:rPr>
              <a:t>Lucene</a:t>
            </a:r>
            <a:r>
              <a:rPr lang="zh-CN" altLang="en-US" sz="1050" dirty="0">
                <a:solidFill>
                  <a:schemeClr val="tx1">
                    <a:lumMod val="50000"/>
                    <a:lumOff val="50000"/>
                  </a:schemeClr>
                </a:solidFill>
                <a:cs typeface="+mn-ea"/>
                <a:sym typeface="+mn-lt"/>
              </a:rPr>
              <a:t>以令牌的形式识别数据。 </a:t>
            </a:r>
            <a:r>
              <a:rPr lang="en-US" altLang="zh-CN" sz="1050" dirty="0">
                <a:solidFill>
                  <a:schemeClr val="tx1">
                    <a:lumMod val="50000"/>
                    <a:lumOff val="50000"/>
                  </a:schemeClr>
                </a:solidFill>
                <a:cs typeface="+mn-ea"/>
                <a:sym typeface="+mn-lt"/>
              </a:rPr>
              <a:t>Apache </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分析内容，将其划分为令牌，并将这些令牌传递给</a:t>
            </a:r>
            <a:r>
              <a:rPr lang="en-US" altLang="zh-CN" sz="1050" dirty="0">
                <a:solidFill>
                  <a:schemeClr val="tx1">
                    <a:lumMod val="50000"/>
                    <a:lumOff val="50000"/>
                  </a:schemeClr>
                </a:solidFill>
                <a:cs typeface="+mn-ea"/>
                <a:sym typeface="+mn-lt"/>
              </a:rPr>
              <a:t>Lucene</a:t>
            </a:r>
            <a:r>
              <a:rPr lang="zh-CN" altLang="en-US" sz="1050" dirty="0">
                <a:solidFill>
                  <a:schemeClr val="tx1">
                    <a:lumMod val="50000"/>
                    <a:lumOff val="50000"/>
                  </a:schemeClr>
                </a:solidFill>
                <a:cs typeface="+mn-ea"/>
                <a:sym typeface="+mn-lt"/>
              </a:rPr>
              <a:t>。</a:t>
            </a:r>
            <a:endParaRPr lang="en-US" sz="1050" dirty="0">
              <a:solidFill>
                <a:schemeClr val="tx1">
                  <a:lumMod val="50000"/>
                  <a:lumOff val="50000"/>
                </a:schemeClr>
              </a:solidFill>
              <a:cs typeface="+mn-ea"/>
              <a:sym typeface="+mn-lt"/>
            </a:endParaRPr>
          </a:p>
        </p:txBody>
      </p:sp>
      <p:sp>
        <p:nvSpPr>
          <p:cNvPr id="80" name="TextBox 70"/>
          <p:cNvSpPr txBox="1"/>
          <p:nvPr/>
        </p:nvSpPr>
        <p:spPr>
          <a:xfrm>
            <a:off x="6970919" y="5655922"/>
            <a:ext cx="4201386" cy="437391"/>
          </a:xfrm>
          <a:prstGeom prst="rect">
            <a:avLst/>
          </a:prstGeom>
          <a:noFill/>
        </p:spPr>
        <p:txBody>
          <a:bodyPr wrap="square" lIns="182843" tIns="91422" rIns="182843" bIns="91422" rtlCol="0">
            <a:spAutoFit/>
          </a:bodyPr>
          <a:lstStyle/>
          <a:p>
            <a:pPr>
              <a:lnSpc>
                <a:spcPct val="130000"/>
              </a:lnSpc>
            </a:pPr>
            <a:r>
              <a:rPr lang="en-US" altLang="zh-CN" sz="1400" dirty="0">
                <a:solidFill>
                  <a:schemeClr val="tx1">
                    <a:lumMod val="85000"/>
                    <a:lumOff val="15000"/>
                  </a:schemeClr>
                </a:solidFill>
                <a:cs typeface="+mn-ea"/>
                <a:sym typeface="+mn-lt"/>
              </a:rPr>
              <a:t>Update Request Processor  </a:t>
            </a:r>
            <a:r>
              <a:rPr lang="zh-CN" altLang="en-US" sz="1400" dirty="0">
                <a:solidFill>
                  <a:schemeClr val="tx1">
                    <a:lumMod val="85000"/>
                    <a:lumOff val="15000"/>
                  </a:schemeClr>
                </a:solidFill>
                <a:cs typeface="+mn-ea"/>
                <a:sym typeface="+mn-lt"/>
              </a:rPr>
              <a:t>更新请求处理器</a:t>
            </a:r>
            <a:endParaRPr lang="zh-CN" altLang="en-US" sz="1400" dirty="0">
              <a:solidFill>
                <a:schemeClr val="tx1">
                  <a:lumMod val="85000"/>
                  <a:lumOff val="15000"/>
                </a:schemeClr>
              </a:solidFill>
              <a:cs typeface="+mn-ea"/>
              <a:sym typeface="+mn-lt"/>
            </a:endParaRPr>
          </a:p>
        </p:txBody>
      </p:sp>
      <p:pic>
        <p:nvPicPr>
          <p:cNvPr id="81" name="图片 8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506" y="1784836"/>
            <a:ext cx="6034866" cy="41312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基于</a:t>
            </a: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r>
              <a:rPr lang="zh-CN" altLang="en-US" sz="2800" dirty="0">
                <a:solidFill>
                  <a:srgbClr val="0150A2"/>
                </a:solidFill>
                <a:ea typeface="微软雅黑" panose="020B0503020204020204" pitchFamily="34" charset="-122"/>
                <a:cs typeface="Times New Roman" panose="02020603050405020304" pitchFamily="18" charset="0"/>
                <a:sym typeface="+mn-ea"/>
              </a:rPr>
              <a:t>的搜索引擎搭建</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48" name="Text Box 5"/>
          <p:cNvSpPr txBox="1">
            <a:spLocks noChangeArrowheads="1"/>
          </p:cNvSpPr>
          <p:nvPr/>
        </p:nvSpPr>
        <p:spPr bwMode="auto">
          <a:xfrm>
            <a:off x="1128713" y="1322722"/>
            <a:ext cx="10300278" cy="3655937"/>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err="1">
                <a:ea typeface="微软雅黑" panose="020B0503020204020204" pitchFamily="34" charset="-122"/>
                <a:cs typeface="Times New Roman" panose="02020603050405020304" pitchFamily="18" charset="0"/>
              </a:rPr>
              <a:t>Springboot</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框架</a:t>
            </a:r>
            <a:endParaRPr lang="en-US" altLang="zh-CN" sz="2000" b="0" dirty="0">
              <a:ea typeface="微软雅黑" panose="020B0503020204020204" pitchFamily="34" charset="-122"/>
              <a:cs typeface="Times New Roman" panose="02020603050405020304" pitchFamily="18" charset="0"/>
            </a:endParaRPr>
          </a:p>
          <a:p>
            <a:pPr marL="800100" lvl="4" indent="-342900" algn="just">
              <a:lnSpc>
                <a:spcPct val="130000"/>
              </a:lnSpc>
              <a:buSzPct val="100000"/>
              <a:buFont typeface="Wingdings" panose="05000000000000000000" pitchFamily="2" charset="2"/>
              <a:buChar char="ü"/>
            </a:pPr>
            <a:r>
              <a:rPr lang="en-US" altLang="zh-CN" sz="2000" b="0" dirty="0" err="1">
                <a:ea typeface="微软雅黑" panose="020B0503020204020204" pitchFamily="34" charset="-122"/>
                <a:cs typeface="Times New Roman" panose="02020603050405020304" pitchFamily="18" charset="0"/>
              </a:rPr>
              <a:t>SpringBoot</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是 </a:t>
            </a:r>
            <a:r>
              <a:rPr lang="en-US" altLang="zh-CN" sz="2000" b="0" dirty="0">
                <a:ea typeface="微软雅黑" panose="020B0503020204020204" pitchFamily="34" charset="-122"/>
                <a:cs typeface="Times New Roman" panose="02020603050405020304" pitchFamily="18" charset="0"/>
              </a:rPr>
              <a:t>Spring </a:t>
            </a:r>
            <a:r>
              <a:rPr lang="zh-CN" altLang="en-US" sz="2000" b="0" dirty="0">
                <a:ea typeface="微软雅黑" panose="020B0503020204020204" pitchFamily="34" charset="-122"/>
                <a:cs typeface="Times New Roman" panose="02020603050405020304" pitchFamily="18" charset="0"/>
              </a:rPr>
              <a:t>项目中的一个子工程，简化了基于</a:t>
            </a:r>
            <a:r>
              <a:rPr lang="en-US" altLang="zh-CN" sz="2000" b="0" dirty="0">
                <a:ea typeface="微软雅黑" panose="020B0503020204020204" pitchFamily="34" charset="-122"/>
                <a:cs typeface="Times New Roman" panose="02020603050405020304" pitchFamily="18" charset="0"/>
              </a:rPr>
              <a:t>Spring</a:t>
            </a:r>
            <a:r>
              <a:rPr lang="zh-CN" altLang="en-US" sz="2000" b="0" dirty="0">
                <a:ea typeface="微软雅黑" panose="020B0503020204020204" pitchFamily="34" charset="-122"/>
                <a:cs typeface="Times New Roman" panose="02020603050405020304" pitchFamily="18" charset="0"/>
              </a:rPr>
              <a:t>的应用开发，只需要</a:t>
            </a:r>
            <a:r>
              <a:rPr lang="en-US" altLang="zh-CN" sz="2000" b="0" dirty="0">
                <a:ea typeface="微软雅黑" panose="020B0503020204020204" pitchFamily="34" charset="-122"/>
                <a:cs typeface="Times New Roman" panose="02020603050405020304" pitchFamily="18" charset="0"/>
              </a:rPr>
              <a:t>run</a:t>
            </a:r>
            <a:r>
              <a:rPr lang="zh-CN" altLang="en-US" sz="2000" b="0" dirty="0">
                <a:ea typeface="微软雅黑" panose="020B0503020204020204" pitchFamily="34" charset="-122"/>
                <a:cs typeface="Times New Roman" panose="02020603050405020304" pitchFamily="18" charset="0"/>
              </a:rPr>
              <a:t>就能创建一个独立的、生产级别的 </a:t>
            </a:r>
            <a:r>
              <a:rPr lang="en-US" altLang="zh-CN" sz="2000" b="0" dirty="0">
                <a:ea typeface="微软雅黑" panose="020B0503020204020204" pitchFamily="34" charset="-122"/>
                <a:cs typeface="Times New Roman" panose="02020603050405020304" pitchFamily="18" charset="0"/>
              </a:rPr>
              <a:t>Spring </a:t>
            </a:r>
            <a:r>
              <a:rPr lang="zh-CN" altLang="en-US" sz="2000" b="0" dirty="0">
                <a:ea typeface="微软雅黑" panose="020B0503020204020204" pitchFamily="34" charset="-122"/>
                <a:cs typeface="Times New Roman" panose="02020603050405020304" pitchFamily="18" charset="0"/>
              </a:rPr>
              <a:t>应用。</a:t>
            </a:r>
            <a:endParaRPr lang="zh-CN" altLang="en-US" sz="2000" b="0" dirty="0">
              <a:ea typeface="微软雅黑" panose="020B0503020204020204" pitchFamily="34" charset="-122"/>
              <a:cs typeface="Times New Roman" panose="02020603050405020304" pitchFamily="18" charset="0"/>
            </a:endParaRPr>
          </a:p>
          <a:p>
            <a:pPr marL="800100" lvl="4" indent="-342900" algn="just">
              <a:lnSpc>
                <a:spcPct val="130000"/>
              </a:lnSpc>
              <a:buSzPct val="100000"/>
              <a:buFont typeface="Wingdings" panose="05000000000000000000" pitchFamily="2" charset="2"/>
              <a:buChar char="ü"/>
            </a:pPr>
            <a:r>
              <a:rPr lang="en-US" altLang="zh-CN" sz="2000" b="0" dirty="0">
                <a:ea typeface="微软雅黑" panose="020B0503020204020204" pitchFamily="34" charset="-122"/>
                <a:cs typeface="Times New Roman" panose="02020603050405020304" pitchFamily="18" charset="0"/>
              </a:rPr>
              <a:t>Spring Boot </a:t>
            </a:r>
            <a:r>
              <a:rPr lang="zh-CN" altLang="en-US" sz="2000" b="0" dirty="0">
                <a:ea typeface="微软雅黑" panose="020B0503020204020204" pitchFamily="34" charset="-122"/>
                <a:cs typeface="Times New Roman" panose="02020603050405020304" pitchFamily="18" charset="0"/>
              </a:rPr>
              <a:t>为 </a:t>
            </a:r>
            <a:r>
              <a:rPr lang="en-US" altLang="zh-CN" sz="2000" b="0" dirty="0">
                <a:ea typeface="微软雅黑" panose="020B0503020204020204" pitchFamily="34" charset="-122"/>
                <a:cs typeface="Times New Roman" panose="02020603050405020304" pitchFamily="18" charset="0"/>
              </a:rPr>
              <a:t>Spring </a:t>
            </a:r>
            <a:r>
              <a:rPr lang="zh-CN" altLang="en-US" sz="2000" b="0" dirty="0">
                <a:ea typeface="微软雅黑" panose="020B0503020204020204" pitchFamily="34" charset="-122"/>
                <a:cs typeface="Times New Roman" panose="02020603050405020304" pitchFamily="18" charset="0"/>
              </a:rPr>
              <a:t>平台及第三方库提供</a:t>
            </a:r>
            <a:r>
              <a:rPr lang="zh-CN" altLang="en-US" sz="2000" dirty="0">
                <a:ea typeface="微软雅黑" panose="020B0503020204020204" pitchFamily="34" charset="-122"/>
                <a:cs typeface="Times New Roman" panose="02020603050405020304" pitchFamily="18" charset="0"/>
              </a:rPr>
              <a:t>开箱即用</a:t>
            </a:r>
            <a:r>
              <a:rPr lang="zh-CN" altLang="en-US" sz="2000" b="0" dirty="0">
                <a:ea typeface="微软雅黑" panose="020B0503020204020204" pitchFamily="34" charset="-122"/>
                <a:cs typeface="Times New Roman" panose="02020603050405020304" pitchFamily="18" charset="0"/>
              </a:rPr>
              <a:t>的设置（提供默认设置，存放默认配置的包就是启动器），这样我们就可以简单的开始项目开发。多数 </a:t>
            </a:r>
            <a:r>
              <a:rPr lang="en-US" altLang="zh-CN" sz="2000" b="0" dirty="0">
                <a:ea typeface="微软雅黑" panose="020B0503020204020204" pitchFamily="34" charset="-122"/>
                <a:cs typeface="Times New Roman" panose="02020603050405020304" pitchFamily="18" charset="0"/>
              </a:rPr>
              <a:t>Spring Boot </a:t>
            </a:r>
            <a:r>
              <a:rPr lang="zh-CN" altLang="en-US" sz="2000" b="0" dirty="0">
                <a:ea typeface="微软雅黑" panose="020B0503020204020204" pitchFamily="34" charset="-122"/>
                <a:cs typeface="Times New Roman" panose="02020603050405020304" pitchFamily="18" charset="0"/>
              </a:rPr>
              <a:t>应用只需要很少的</a:t>
            </a:r>
            <a:r>
              <a:rPr lang="en-US" altLang="zh-CN" sz="2000" b="0" dirty="0">
                <a:ea typeface="微软雅黑" panose="020B0503020204020204" pitchFamily="34" charset="-122"/>
                <a:cs typeface="Times New Roman" panose="02020603050405020304" pitchFamily="18" charset="0"/>
              </a:rPr>
              <a:t>Spring</a:t>
            </a:r>
            <a:r>
              <a:rPr lang="zh-CN" altLang="en-US" sz="2000" b="0" dirty="0">
                <a:ea typeface="微软雅黑" panose="020B0503020204020204" pitchFamily="34" charset="-122"/>
                <a:cs typeface="Times New Roman" panose="02020603050405020304" pitchFamily="18" charset="0"/>
              </a:rPr>
              <a:t>配置。</a:t>
            </a:r>
            <a:endParaRPr lang="zh-CN" altLang="en-US" sz="2000" b="0" dirty="0">
              <a:ea typeface="微软雅黑" panose="020B0503020204020204" pitchFamily="34" charset="-122"/>
              <a:cs typeface="Times New Roman" panose="02020603050405020304" pitchFamily="18" charset="0"/>
            </a:endParaRPr>
          </a:p>
          <a:p>
            <a:pPr marL="800100" lvl="4" indent="-342900" algn="just">
              <a:lnSpc>
                <a:spcPct val="130000"/>
              </a:lnSpc>
              <a:buSzPct val="100000"/>
              <a:buFont typeface="Wingdings" panose="05000000000000000000" pitchFamily="2" charset="2"/>
              <a:buChar char="ü"/>
            </a:pPr>
            <a:r>
              <a:rPr lang="en-US" altLang="zh-CN" sz="2000" b="0" dirty="0">
                <a:ea typeface="微软雅黑" panose="020B0503020204020204" pitchFamily="34" charset="-122"/>
                <a:cs typeface="Times New Roman" panose="02020603050405020304" pitchFamily="18" charset="0"/>
              </a:rPr>
              <a:t>Spring Boot </a:t>
            </a:r>
            <a:r>
              <a:rPr lang="zh-CN" altLang="en-US" sz="2000" b="0" dirty="0">
                <a:ea typeface="微软雅黑" panose="020B0503020204020204" pitchFamily="34" charset="-122"/>
                <a:cs typeface="Times New Roman" panose="02020603050405020304" pitchFamily="18" charset="0"/>
              </a:rPr>
              <a:t>提供了一些大型项目中常见的非功能性特性，如内嵌服务器、安全、指标，健康检测、外部化配置等。</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IK </a:t>
            </a:r>
            <a:r>
              <a:rPr lang="zh-CN" altLang="en-US" sz="2800" dirty="0">
                <a:solidFill>
                  <a:srgbClr val="0150A2"/>
                </a:solidFill>
                <a:ea typeface="微软雅黑" panose="020B0503020204020204" pitchFamily="34" charset="-122"/>
                <a:cs typeface="Times New Roman" panose="02020603050405020304" pitchFamily="18" charset="0"/>
                <a:sym typeface="+mn-ea"/>
              </a:rPr>
              <a:t>分词器 </a:t>
            </a:r>
            <a:r>
              <a:rPr lang="en-US" altLang="zh-CN" sz="2800" dirty="0">
                <a:solidFill>
                  <a:srgbClr val="0150A2"/>
                </a:solidFill>
                <a:ea typeface="微软雅黑" panose="020B0503020204020204" pitchFamily="34" charset="-122"/>
                <a:cs typeface="Times New Roman" panose="02020603050405020304" pitchFamily="18" charset="0"/>
                <a:sym typeface="+mn-ea"/>
              </a:rPr>
              <a:t>+ </a:t>
            </a:r>
            <a:r>
              <a:rPr lang="en-US" altLang="zh-CN" sz="2800" dirty="0" err="1">
                <a:solidFill>
                  <a:srgbClr val="0150A2"/>
                </a:solidFill>
                <a:ea typeface="微软雅黑" panose="020B0503020204020204" pitchFamily="34" charset="-122"/>
                <a:cs typeface="Times New Roman" panose="02020603050405020304" pitchFamily="18" charset="0"/>
                <a:sym typeface="+mn-ea"/>
              </a:rPr>
              <a:t>Springboot</a:t>
            </a:r>
            <a:r>
              <a:rPr lang="en-US" altLang="zh-CN" sz="2800" dirty="0">
                <a:solidFill>
                  <a:srgbClr val="0150A2"/>
                </a:solidFill>
                <a:ea typeface="微软雅黑" panose="020B0503020204020204" pitchFamily="34" charset="-122"/>
                <a:cs typeface="Times New Roman" panose="02020603050405020304" pitchFamily="18" charset="0"/>
                <a:sym typeface="+mn-ea"/>
              </a:rPr>
              <a:t> </a:t>
            </a:r>
            <a:r>
              <a:rPr lang="zh-CN" altLang="en-US" sz="2800" dirty="0">
                <a:solidFill>
                  <a:srgbClr val="0150A2"/>
                </a:solidFill>
                <a:ea typeface="微软雅黑" panose="020B0503020204020204" pitchFamily="34" charset="-122"/>
                <a:cs typeface="Times New Roman" panose="02020603050405020304" pitchFamily="18" charset="0"/>
                <a:sym typeface="+mn-ea"/>
              </a:rPr>
              <a:t>结构展示</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pic>
        <p:nvPicPr>
          <p:cNvPr id="15" name="图片 14"/>
          <p:cNvPicPr>
            <a:picLocks noChangeAspect="1"/>
          </p:cNvPicPr>
          <p:nvPr/>
        </p:nvPicPr>
        <p:blipFill>
          <a:blip r:embed="rId3"/>
          <a:stretch>
            <a:fillRect/>
          </a:stretch>
        </p:blipFill>
        <p:spPr>
          <a:xfrm>
            <a:off x="3045560" y="1599861"/>
            <a:ext cx="2270760" cy="3787140"/>
          </a:xfrm>
          <a:prstGeom prst="rect">
            <a:avLst/>
          </a:prstGeom>
        </p:spPr>
      </p:pic>
      <p:pic>
        <p:nvPicPr>
          <p:cNvPr id="16" name="图片 15"/>
          <p:cNvPicPr>
            <a:picLocks noChangeAspect="1"/>
          </p:cNvPicPr>
          <p:nvPr/>
        </p:nvPicPr>
        <p:blipFill>
          <a:blip r:embed="rId4"/>
          <a:stretch>
            <a:fillRect/>
          </a:stretch>
        </p:blipFill>
        <p:spPr>
          <a:xfrm>
            <a:off x="8850630" y="895350"/>
            <a:ext cx="2354580" cy="3985260"/>
          </a:xfrm>
          <a:prstGeom prst="rect">
            <a:avLst/>
          </a:prstGeom>
        </p:spPr>
      </p:pic>
      <p:sp>
        <p:nvSpPr>
          <p:cNvPr id="17" name="文本框 16"/>
          <p:cNvSpPr txBox="1"/>
          <p:nvPr/>
        </p:nvSpPr>
        <p:spPr>
          <a:xfrm>
            <a:off x="680085" y="2871470"/>
            <a:ext cx="2412840" cy="400110"/>
          </a:xfrm>
          <a:prstGeom prst="rect">
            <a:avLst/>
          </a:prstGeom>
          <a:noFill/>
        </p:spPr>
        <p:txBody>
          <a:bodyPr wrap="none" rtlCol="0">
            <a:spAutoFit/>
          </a:bodyPr>
          <a:lstStyle/>
          <a:p>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Springboot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项目结构</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p:cNvSpPr txBox="1"/>
          <p:nvPr/>
        </p:nvSpPr>
        <p:spPr>
          <a:xfrm>
            <a:off x="6419851" y="2575966"/>
            <a:ext cx="2430780" cy="400110"/>
          </a:xfrm>
          <a:prstGeom prst="rect">
            <a:avLst/>
          </a:prstGeom>
          <a:noFill/>
        </p:spPr>
        <p:txBody>
          <a:bodyPr wrap="square" rtlCol="0">
            <a:spAutoFit/>
          </a:bodyPr>
          <a:lstStyle/>
          <a:p>
            <a:r>
              <a:rPr lang="en-US" sz="2000" dirty="0">
                <a:latin typeface="Times New Roman" panose="02020603050405020304" pitchFamily="18" charset="0"/>
                <a:ea typeface="微软雅黑" panose="020B0503020204020204" pitchFamily="34" charset="-122"/>
                <a:cs typeface="Times New Roman" panose="02020603050405020304" pitchFamily="18" charset="0"/>
              </a:rPr>
              <a:t>IK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中文分词器结果</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1" name="图片 20"/>
          <p:cNvPicPr>
            <a:picLocks noChangeAspect="1"/>
          </p:cNvPicPr>
          <p:nvPr/>
        </p:nvPicPr>
        <p:blipFill>
          <a:blip r:embed="rId5"/>
          <a:stretch>
            <a:fillRect/>
          </a:stretch>
        </p:blipFill>
        <p:spPr>
          <a:xfrm>
            <a:off x="6033770" y="4690110"/>
            <a:ext cx="2537460" cy="1295400"/>
          </a:xfrm>
          <a:prstGeom prst="rect">
            <a:avLst/>
          </a:prstGeom>
        </p:spPr>
      </p:pic>
      <p:sp>
        <p:nvSpPr>
          <p:cNvPr id="22" name="文本框 21"/>
          <p:cNvSpPr txBox="1"/>
          <p:nvPr/>
        </p:nvSpPr>
        <p:spPr>
          <a:xfrm>
            <a:off x="5949827" y="4195686"/>
            <a:ext cx="2705346" cy="400110"/>
          </a:xfrm>
          <a:prstGeom prst="rect">
            <a:avLst/>
          </a:prstGeom>
          <a:noFill/>
        </p:spPr>
        <p:txBody>
          <a:bodyPr wrap="square" rtlCol="0">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创建索引及索引管理</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前期测试结果</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pic>
        <p:nvPicPr>
          <p:cNvPr id="23" name="图片 22"/>
          <p:cNvPicPr>
            <a:picLocks noChangeAspect="1"/>
          </p:cNvPicPr>
          <p:nvPr/>
        </p:nvPicPr>
        <p:blipFill>
          <a:blip r:embed="rId3"/>
          <a:stretch>
            <a:fillRect/>
          </a:stretch>
        </p:blipFill>
        <p:spPr>
          <a:xfrm>
            <a:off x="1266939" y="1377832"/>
            <a:ext cx="8085455" cy="4011295"/>
          </a:xfrm>
          <a:prstGeom prst="rect">
            <a:avLst/>
          </a:prstGeom>
        </p:spPr>
      </p:pic>
      <p:pic>
        <p:nvPicPr>
          <p:cNvPr id="24" name="图片 23"/>
          <p:cNvPicPr>
            <a:picLocks noChangeAspect="1"/>
          </p:cNvPicPr>
          <p:nvPr/>
        </p:nvPicPr>
        <p:blipFill>
          <a:blip r:embed="rId4"/>
          <a:stretch>
            <a:fillRect/>
          </a:stretch>
        </p:blipFill>
        <p:spPr>
          <a:xfrm>
            <a:off x="2623299" y="5480168"/>
            <a:ext cx="8907780" cy="838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思路</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3656707"/>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首先，对于一个数据表，如 </a:t>
            </a:r>
            <a:r>
              <a:rPr lang="en-US" altLang="zh-CN" sz="2000" b="0" dirty="0" err="1">
                <a:ea typeface="微软雅黑" panose="020B0503020204020204" pitchFamily="34" charset="-122"/>
                <a:cs typeface="Times New Roman" panose="02020603050405020304" pitchFamily="18" charset="0"/>
              </a:rPr>
              <a:t>gyy_company</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表，首先将表中所有数据读出，对需要进行索引的属性如公司名、公司</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、主营业务等进行索引，将索引存到特定的路径下。</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随后，在对关键词进行查找时，从索引中找到对应的 </a:t>
            </a:r>
            <a:r>
              <a:rPr lang="en-US" altLang="zh-CN" sz="2000" b="0" dirty="0">
                <a:ea typeface="微软雅黑" panose="020B0503020204020204" pitchFamily="34" charset="-122"/>
                <a:cs typeface="Times New Roman" panose="02020603050405020304" pitchFamily="18" charset="0"/>
              </a:rPr>
              <a:t>document </a:t>
            </a:r>
            <a:r>
              <a:rPr lang="zh-CN" altLang="en-US" sz="2000" b="0" dirty="0">
                <a:ea typeface="微软雅黑" panose="020B0503020204020204" pitchFamily="34" charset="-122"/>
                <a:cs typeface="Times New Roman" panose="02020603050405020304" pitchFamily="18" charset="0"/>
              </a:rPr>
              <a:t>对应的公司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，最后从数据库中读取对应的数据</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这种方法在前期使用本地数据库进行查询时效果极佳，响应速度为 </a:t>
            </a:r>
            <a:r>
              <a:rPr lang="en-US" altLang="zh-CN" sz="2000" b="0" dirty="0" err="1">
                <a:ea typeface="微软雅黑" panose="020B0503020204020204" pitchFamily="34" charset="-122"/>
                <a:cs typeface="Times New Roman" panose="02020603050405020304" pitchFamily="18" charset="0"/>
              </a:rPr>
              <a:t>ms</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级。但后期连接到远程数据库时，发现由于本地和远程之间的 </a:t>
            </a:r>
            <a:r>
              <a:rPr lang="en-US" altLang="zh-CN" sz="2000" dirty="0">
                <a:ea typeface="微软雅黑" panose="020B0503020204020204" pitchFamily="34" charset="-122"/>
                <a:cs typeface="Times New Roman" panose="02020603050405020304" pitchFamily="18" charset="0"/>
              </a:rPr>
              <a:t>DNS </a:t>
            </a:r>
            <a:r>
              <a:rPr lang="zh-CN" altLang="en-US" sz="2000" dirty="0">
                <a:ea typeface="微软雅黑" panose="020B0503020204020204" pitchFamily="34" charset="-122"/>
                <a:cs typeface="Times New Roman" panose="02020603050405020304" pitchFamily="18" charset="0"/>
              </a:rPr>
              <a:t>解析</a:t>
            </a:r>
            <a:r>
              <a:rPr lang="zh-CN" altLang="en-US" sz="2000" b="0" dirty="0">
                <a:ea typeface="微软雅黑" panose="020B0503020204020204" pitchFamily="34" charset="-122"/>
                <a:cs typeface="Times New Roman" panose="02020603050405020304" pitchFamily="18" charset="0"/>
              </a:rPr>
              <a:t>等等各种问题，会导致在获取到远程数据库的数据后需要花费大量时间进行数据解析。找了各种方法尝试解决无果后，被迫放弃这种思路。</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至此，前期的 </a:t>
            </a:r>
            <a:r>
              <a:rPr lang="en-US" altLang="zh-CN" sz="2000" b="0" dirty="0">
                <a:ea typeface="微软雅黑" panose="020B0503020204020204" pitchFamily="34" charset="-122"/>
                <a:cs typeface="Times New Roman" panose="02020603050405020304" pitchFamily="18" charset="0"/>
              </a:rPr>
              <a:t>demo </a:t>
            </a:r>
            <a:r>
              <a:rPr lang="zh-CN" altLang="en-US" sz="2000" b="0" dirty="0">
                <a:ea typeface="微软雅黑" panose="020B0503020204020204" pitchFamily="34" charset="-122"/>
                <a:cs typeface="Times New Roman" panose="02020603050405020304" pitchFamily="18" charset="0"/>
              </a:rPr>
              <a:t>项目被放弃，</a:t>
            </a:r>
            <a:r>
              <a:rPr lang="en-US" altLang="zh-CN" sz="2000" b="0" dirty="0">
                <a:ea typeface="微软雅黑" panose="020B0503020204020204" pitchFamily="34" charset="-122"/>
                <a:cs typeface="Times New Roman" panose="02020603050405020304" pitchFamily="18" charset="0"/>
              </a:rPr>
              <a:t>demo </a:t>
            </a:r>
            <a:r>
              <a:rPr lang="zh-CN" altLang="en-US" sz="2000" b="0" dirty="0">
                <a:ea typeface="微软雅黑" panose="020B0503020204020204" pitchFamily="34" charset="-122"/>
                <a:cs typeface="Times New Roman" panose="02020603050405020304" pitchFamily="18" charset="0"/>
              </a:rPr>
              <a:t>项目的核心代码量在 </a:t>
            </a:r>
            <a:r>
              <a:rPr lang="en-US" altLang="zh-CN" sz="2000" b="0" dirty="0">
                <a:ea typeface="微软雅黑" panose="020B0503020204020204" pitchFamily="34" charset="-122"/>
                <a:cs typeface="Times New Roman" panose="02020603050405020304" pitchFamily="18" charset="0"/>
              </a:rPr>
              <a:t>1300 </a:t>
            </a:r>
            <a:r>
              <a:rPr lang="zh-CN" altLang="en-US" sz="2000" b="0" dirty="0">
                <a:ea typeface="微软雅黑" panose="020B0503020204020204" pitchFamily="34" charset="-122"/>
                <a:cs typeface="Times New Roman" panose="02020603050405020304" pitchFamily="18" charset="0"/>
              </a:rPr>
              <a:t>行左右（不含注释）</a:t>
            </a:r>
            <a:endParaRPr lang="zh-CN" altLang="en-US" sz="2000" b="0" dirty="0">
              <a:ea typeface="微软雅黑" panose="020B0503020204020204" pitchFamily="34" charset="-122"/>
              <a:cs typeface="Times New Roman" panose="02020603050405020304" pitchFamily="18" charset="0"/>
            </a:endParaRPr>
          </a:p>
        </p:txBody>
      </p:sp>
      <p:pic>
        <p:nvPicPr>
          <p:cNvPr id="16" name="图片 15"/>
          <p:cNvPicPr>
            <a:picLocks noChangeAspect="1"/>
          </p:cNvPicPr>
          <p:nvPr/>
        </p:nvPicPr>
        <p:blipFill>
          <a:blip r:embed="rId3"/>
          <a:stretch>
            <a:fillRect/>
          </a:stretch>
        </p:blipFill>
        <p:spPr>
          <a:xfrm>
            <a:off x="4597718" y="5158291"/>
            <a:ext cx="2996565" cy="11582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基于</a:t>
            </a: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r>
              <a:rPr lang="zh-CN" altLang="en-US" sz="2800" dirty="0">
                <a:solidFill>
                  <a:srgbClr val="0150A2"/>
                </a:solidFill>
                <a:ea typeface="微软雅黑" panose="020B0503020204020204" pitchFamily="34" charset="-122"/>
                <a:cs typeface="Times New Roman" panose="02020603050405020304" pitchFamily="18" charset="0"/>
                <a:sym typeface="+mn-ea"/>
              </a:rPr>
              <a:t>的搜索引擎搭建</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48" name="Text Box 5"/>
          <p:cNvSpPr txBox="1">
            <a:spLocks noChangeArrowheads="1"/>
          </p:cNvSpPr>
          <p:nvPr/>
        </p:nvSpPr>
        <p:spPr bwMode="auto">
          <a:xfrm>
            <a:off x="1128713" y="1322722"/>
            <a:ext cx="10300278" cy="2456378"/>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err="1">
                <a:ea typeface="微软雅黑" panose="020B0503020204020204" pitchFamily="34" charset="-122"/>
                <a:cs typeface="Times New Roman" panose="02020603050405020304" pitchFamily="18" charset="0"/>
              </a:rPr>
              <a:t>vue</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框架</a:t>
            </a:r>
            <a:endParaRPr lang="en-US" altLang="zh-CN"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en-US" altLang="zh-CN" sz="2000" b="0" dirty="0" err="1">
                <a:ea typeface="微软雅黑" panose="020B0503020204020204" pitchFamily="34" charset="-122"/>
                <a:cs typeface="Times New Roman" panose="02020603050405020304" pitchFamily="18" charset="0"/>
              </a:rPr>
              <a:t>vue</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是一套用于构建用户界面的渐进式框架。与其它大型框架不同的是，</a:t>
            </a:r>
            <a:r>
              <a:rPr lang="en-US" altLang="zh-CN" sz="2000" b="0" dirty="0">
                <a:ea typeface="微软雅黑" panose="020B0503020204020204" pitchFamily="34" charset="-122"/>
                <a:cs typeface="Times New Roman" panose="02020603050405020304" pitchFamily="18" charset="0"/>
              </a:rPr>
              <a:t>Vue </a:t>
            </a:r>
            <a:r>
              <a:rPr lang="zh-CN" altLang="en-US" sz="2000" b="0" dirty="0">
                <a:ea typeface="微软雅黑" panose="020B0503020204020204" pitchFamily="34" charset="-122"/>
                <a:cs typeface="Times New Roman" panose="02020603050405020304" pitchFamily="18" charset="0"/>
              </a:rPr>
              <a:t>被设计为可以自底向上逐层应用。</a:t>
            </a:r>
            <a:endParaRPr lang="en-US" altLang="zh-CN"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en-US" altLang="zh-CN" sz="2000" b="0" dirty="0">
                <a:ea typeface="微软雅黑" panose="020B0503020204020204" pitchFamily="34" charset="-122"/>
                <a:cs typeface="Times New Roman" panose="02020603050405020304" pitchFamily="18" charset="0"/>
              </a:rPr>
              <a:t>Vue </a:t>
            </a:r>
            <a:r>
              <a:rPr lang="zh-CN" altLang="en-US" sz="2000" b="0" dirty="0">
                <a:ea typeface="微软雅黑" panose="020B0503020204020204" pitchFamily="34" charset="-122"/>
                <a:cs typeface="Times New Roman" panose="02020603050405020304" pitchFamily="18" charset="0"/>
              </a:rPr>
              <a:t>的核心库只关注视图层，不仅易于上手，还便于与第三方库或既有项目整合。</a:t>
            </a:r>
            <a:endParaRPr lang="en-US" altLang="zh-CN"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当与现代化的工具链以及各种支持类库结合使用时，</a:t>
            </a:r>
            <a:r>
              <a:rPr lang="en-US" altLang="zh-CN" sz="2000" b="0" dirty="0">
                <a:ea typeface="微软雅黑" panose="020B0503020204020204" pitchFamily="34" charset="-122"/>
                <a:cs typeface="Times New Roman" panose="02020603050405020304" pitchFamily="18" charset="0"/>
              </a:rPr>
              <a:t>Vue </a:t>
            </a:r>
            <a:r>
              <a:rPr lang="zh-CN" altLang="en-US" sz="2000" b="0" dirty="0">
                <a:ea typeface="微软雅黑" panose="020B0503020204020204" pitchFamily="34" charset="-122"/>
                <a:cs typeface="Times New Roman" panose="02020603050405020304" pitchFamily="18" charset="0"/>
              </a:rPr>
              <a:t>也完全能够为复杂的单页应用提供驱动。</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err="1">
                <a:solidFill>
                  <a:srgbClr val="0150A2"/>
                </a:solidFill>
                <a:ea typeface="微软雅黑" panose="020B0503020204020204" pitchFamily="34" charset="-122"/>
                <a:cs typeface="Times New Roman" panose="02020603050405020304" pitchFamily="18" charset="0"/>
                <a:sym typeface="+mn-ea"/>
              </a:rPr>
              <a:t>Springboot</a:t>
            </a:r>
            <a:r>
              <a:rPr lang="en-US" altLang="zh-CN" sz="2800" dirty="0">
                <a:solidFill>
                  <a:srgbClr val="0150A2"/>
                </a:solidFill>
                <a:ea typeface="微软雅黑" panose="020B0503020204020204" pitchFamily="34" charset="-122"/>
                <a:cs typeface="Times New Roman" panose="02020603050405020304" pitchFamily="18" charset="0"/>
                <a:sym typeface="+mn-ea"/>
              </a:rPr>
              <a:t> + </a:t>
            </a:r>
            <a:r>
              <a:rPr lang="en-US" altLang="zh-CN" sz="2800" dirty="0" err="1">
                <a:solidFill>
                  <a:srgbClr val="0150A2"/>
                </a:solidFill>
                <a:ea typeface="微软雅黑" panose="020B0503020204020204" pitchFamily="34" charset="-122"/>
                <a:cs typeface="Times New Roman" panose="02020603050405020304" pitchFamily="18" charset="0"/>
                <a:sym typeface="+mn-ea"/>
              </a:rPr>
              <a:t>vue</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48" name="Text Box 5"/>
          <p:cNvSpPr txBox="1">
            <a:spLocks noChangeArrowheads="1"/>
          </p:cNvSpPr>
          <p:nvPr/>
        </p:nvSpPr>
        <p:spPr bwMode="auto">
          <a:xfrm>
            <a:off x="1128713" y="1322722"/>
            <a:ext cx="10300278" cy="4056816"/>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传统的 </a:t>
            </a:r>
            <a:r>
              <a:rPr lang="en-US" altLang="zh-CN" sz="2000" b="0" dirty="0">
                <a:ea typeface="微软雅黑" panose="020B0503020204020204" pitchFamily="34" charset="-122"/>
                <a:cs typeface="Times New Roman" panose="02020603050405020304" pitchFamily="18" charset="0"/>
              </a:rPr>
              <a:t>Java Web </a:t>
            </a:r>
            <a:r>
              <a:rPr lang="zh-CN" altLang="en-US" sz="2000" b="0" dirty="0">
                <a:ea typeface="微软雅黑" panose="020B0503020204020204" pitchFamily="34" charset="-122"/>
                <a:cs typeface="Times New Roman" panose="02020603050405020304" pitchFamily="18" charset="0"/>
              </a:rPr>
              <a:t>中使用的是 </a:t>
            </a:r>
            <a:r>
              <a:rPr lang="en-US" altLang="zh-CN" sz="2000" b="0" dirty="0">
                <a:ea typeface="微软雅黑" panose="020B0503020204020204" pitchFamily="34" charset="-122"/>
                <a:cs typeface="Times New Roman" panose="02020603050405020304" pitchFamily="18" charset="0"/>
              </a:rPr>
              <a:t>JSP </a:t>
            </a:r>
            <a:r>
              <a:rPr lang="zh-CN" altLang="en-US" sz="2000" b="0" dirty="0">
                <a:ea typeface="微软雅黑" panose="020B0503020204020204" pitchFamily="34" charset="-122"/>
                <a:cs typeface="Times New Roman" panose="02020603050405020304" pitchFamily="18" charset="0"/>
              </a:rPr>
              <a:t>的开发方式，前段使用 </a:t>
            </a:r>
            <a:r>
              <a:rPr lang="en-US" altLang="zh-CN" sz="2000" b="0" dirty="0">
                <a:ea typeface="微软雅黑" panose="020B0503020204020204" pitchFamily="34" charset="-122"/>
                <a:cs typeface="Times New Roman" panose="02020603050405020304" pitchFamily="18" charset="0"/>
              </a:rPr>
              <a:t>JSP </a:t>
            </a:r>
            <a:r>
              <a:rPr lang="zh-CN" altLang="en-US" sz="2000" b="0" dirty="0">
                <a:ea typeface="微软雅黑" panose="020B0503020204020204" pitchFamily="34" charset="-122"/>
                <a:cs typeface="Times New Roman" panose="02020603050405020304" pitchFamily="18" charset="0"/>
              </a:rPr>
              <a:t>页面，后端使用 </a:t>
            </a:r>
            <a:r>
              <a:rPr lang="en-US" altLang="zh-CN" sz="2000" b="0" dirty="0">
                <a:ea typeface="微软雅黑" panose="020B0503020204020204" pitchFamily="34" charset="-122"/>
                <a:cs typeface="Times New Roman" panose="02020603050405020304" pitchFamily="18" charset="0"/>
              </a:rPr>
              <a:t>servlet </a:t>
            </a:r>
            <a:r>
              <a:rPr lang="zh-CN" altLang="en-US" sz="2000" b="0" dirty="0">
                <a:ea typeface="微软雅黑" panose="020B0503020204020204" pitchFamily="34" charset="-122"/>
                <a:cs typeface="Times New Roman" panose="02020603050405020304" pitchFamily="18" charset="0"/>
              </a:rPr>
              <a:t>接收前段的请求，并处理好数据传递给前段的 </a:t>
            </a:r>
            <a:r>
              <a:rPr lang="en-US" altLang="zh-CN" sz="2000" b="0" dirty="0">
                <a:ea typeface="微软雅黑" panose="020B0503020204020204" pitchFamily="34" charset="-122"/>
                <a:cs typeface="Times New Roman" panose="02020603050405020304" pitchFamily="18" charset="0"/>
              </a:rPr>
              <a:t>JSP</a:t>
            </a:r>
            <a:r>
              <a:rPr lang="zh-CN" altLang="en-US" sz="2000" b="0" dirty="0">
                <a:ea typeface="微软雅黑" panose="020B0503020204020204" pitchFamily="34" charset="-122"/>
                <a:cs typeface="Times New Roman" panose="02020603050405020304" pitchFamily="18" charset="0"/>
              </a:rPr>
              <a:t>，这种全后端一体的开发在项目初期较快，但是对于后端工程师来讲不可能精通 </a:t>
            </a:r>
            <a:r>
              <a:rPr lang="en-US" altLang="zh-CN" sz="2000" b="0" dirty="0">
                <a:ea typeface="微软雅黑" panose="020B0503020204020204" pitchFamily="34" charset="-122"/>
                <a:cs typeface="Times New Roman" panose="02020603050405020304" pitchFamily="18" charset="0"/>
              </a:rPr>
              <a:t>HTML</a:t>
            </a:r>
            <a:r>
              <a:rPr lang="zh-CN" altLang="en-US" sz="2000" b="0" dirty="0">
                <a:ea typeface="微软雅黑" panose="020B0503020204020204" pitchFamily="34" charset="-122"/>
                <a:cs typeface="Times New Roman" panose="02020603050405020304" pitchFamily="18" charset="0"/>
              </a:rPr>
              <a:t>、</a:t>
            </a:r>
            <a:r>
              <a:rPr lang="en-US" altLang="zh-CN" sz="2000" b="0" dirty="0" err="1">
                <a:ea typeface="微软雅黑" panose="020B0503020204020204" pitchFamily="34" charset="-122"/>
                <a:cs typeface="Times New Roman" panose="02020603050405020304" pitchFamily="18" charset="0"/>
              </a:rPr>
              <a:t>css</a:t>
            </a:r>
            <a:r>
              <a:rPr lang="zh-CN" altLang="en-US" sz="2000" b="0" dirty="0">
                <a:ea typeface="微软雅黑" panose="020B0503020204020204" pitchFamily="34" charset="-122"/>
                <a:cs typeface="Times New Roman" panose="02020603050405020304" pitchFamily="18" charset="0"/>
              </a:rPr>
              <a:t>、</a:t>
            </a:r>
            <a:r>
              <a:rPr lang="en-US" altLang="zh-CN" sz="2000" b="0" dirty="0" err="1">
                <a:ea typeface="微软雅黑" panose="020B0503020204020204" pitchFamily="34" charset="-122"/>
                <a:cs typeface="Times New Roman" panose="02020603050405020304" pitchFamily="18" charset="0"/>
              </a:rPr>
              <a:t>js</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等语言，导致这种开发方式效率极低，且在开发的过程中出现很多需要前端与后端调节的地方。</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因此，前后端分离是项目开发的必要选择，而 </a:t>
            </a:r>
            <a:r>
              <a:rPr lang="en-US" altLang="zh-CN" sz="2000" b="0" dirty="0" err="1">
                <a:ea typeface="微软雅黑" panose="020B0503020204020204" pitchFamily="34" charset="-122"/>
                <a:cs typeface="Times New Roman" panose="02020603050405020304" pitchFamily="18" charset="0"/>
              </a:rPr>
              <a:t>springboot</a:t>
            </a:r>
            <a:r>
              <a:rPr lang="en-US" altLang="zh-CN" sz="2000" b="0" dirty="0">
                <a:ea typeface="微软雅黑" panose="020B0503020204020204" pitchFamily="34" charset="-122"/>
                <a:cs typeface="Times New Roman" panose="02020603050405020304" pitchFamily="18" charset="0"/>
              </a:rPr>
              <a:t> + </a:t>
            </a:r>
            <a:r>
              <a:rPr lang="en-US" altLang="zh-CN" sz="2000" b="0" dirty="0" err="1">
                <a:ea typeface="微软雅黑" panose="020B0503020204020204" pitchFamily="34" charset="-122"/>
                <a:cs typeface="Times New Roman" panose="02020603050405020304" pitchFamily="18" charset="0"/>
              </a:rPr>
              <a:t>vue</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的框架组合正好可以作为前后端分离开发的良好选择。</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前后端分离之后，后端就不需要在考虑前段的页面变化，只需要提供一个前端页面需要的</a:t>
            </a:r>
            <a:r>
              <a:rPr lang="en-US" altLang="zh-CN" sz="2000" b="0" dirty="0">
                <a:ea typeface="微软雅黑" panose="020B0503020204020204" pitchFamily="34" charset="-122"/>
                <a:cs typeface="Times New Roman" panose="02020603050405020304" pitchFamily="18" charset="0"/>
              </a:rPr>
              <a:t>JSON </a:t>
            </a:r>
            <a:r>
              <a:rPr lang="zh-CN" altLang="en-US" sz="2000" b="0" dirty="0">
                <a:ea typeface="微软雅黑" panose="020B0503020204020204" pitchFamily="34" charset="-122"/>
                <a:cs typeface="Times New Roman" panose="02020603050405020304" pitchFamily="18" charset="0"/>
              </a:rPr>
              <a:t>的数据即可。前端工程师只需要独立编写客户端代码，通过 </a:t>
            </a:r>
            <a:r>
              <a:rPr lang="en-US" altLang="zh-CN" sz="2000" b="0" dirty="0">
                <a:ea typeface="微软雅黑" panose="020B0503020204020204" pitchFamily="34" charset="-122"/>
                <a:cs typeface="Times New Roman" panose="02020603050405020304" pitchFamily="18" charset="0"/>
              </a:rPr>
              <a:t>Ajax </a:t>
            </a:r>
            <a:r>
              <a:rPr lang="zh-CN" altLang="en-US" sz="2000" b="0" dirty="0">
                <a:ea typeface="微软雅黑" panose="020B0503020204020204" pitchFamily="34" charset="-122"/>
                <a:cs typeface="Times New Roman" panose="02020603050405020304" pitchFamily="18" charset="0"/>
              </a:rPr>
              <a:t>请求来访问后端的数据接口，将数据展示到页面即可。前端可以设置一些虚假的数据进行测试，完全不需要依赖于后端，真正实现了前后端应用的解耦合， 极大地提升了开发效率。</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err="1">
                <a:solidFill>
                  <a:srgbClr val="0150A2"/>
                </a:solidFill>
                <a:ea typeface="微软雅黑" panose="020B0503020204020204" pitchFamily="34" charset="-122"/>
                <a:cs typeface="Times New Roman" panose="02020603050405020304" pitchFamily="18" charset="0"/>
                <a:sym typeface="+mn-ea"/>
              </a:rPr>
              <a:t>Springboot</a:t>
            </a:r>
            <a:r>
              <a:rPr lang="en-US" altLang="zh-CN" sz="2800" dirty="0">
                <a:solidFill>
                  <a:srgbClr val="0150A2"/>
                </a:solidFill>
                <a:ea typeface="微软雅黑" panose="020B0503020204020204" pitchFamily="34" charset="-122"/>
                <a:cs typeface="Times New Roman" panose="02020603050405020304" pitchFamily="18" charset="0"/>
                <a:sym typeface="+mn-ea"/>
              </a:rPr>
              <a:t> + </a:t>
            </a:r>
            <a:r>
              <a:rPr lang="en-US" altLang="zh-CN" sz="2800" dirty="0" err="1">
                <a:solidFill>
                  <a:srgbClr val="0150A2"/>
                </a:solidFill>
                <a:ea typeface="微软雅黑" panose="020B0503020204020204" pitchFamily="34" charset="-122"/>
                <a:cs typeface="Times New Roman" panose="02020603050405020304" pitchFamily="18" charset="0"/>
                <a:sym typeface="+mn-ea"/>
              </a:rPr>
              <a:t>vue</a:t>
            </a:r>
            <a:r>
              <a:rPr lang="en-US" altLang="zh-CN" sz="2800" dirty="0">
                <a:solidFill>
                  <a:srgbClr val="0150A2"/>
                </a:solidFill>
                <a:ea typeface="微软雅黑" panose="020B0503020204020204" pitchFamily="34" charset="-122"/>
                <a:cs typeface="Times New Roman" panose="02020603050405020304" pitchFamily="18" charset="0"/>
                <a:sym typeface="+mn-ea"/>
              </a:rPr>
              <a:t> + </a:t>
            </a:r>
            <a:r>
              <a:rPr lang="en-US" altLang="zh-CN" sz="2800" dirty="0" err="1">
                <a:solidFill>
                  <a:srgbClr val="0150A2"/>
                </a:solidFill>
                <a:ea typeface="微软雅黑" panose="020B0503020204020204" pitchFamily="34" charset="-122"/>
                <a:cs typeface="Times New Roman" panose="02020603050405020304" pitchFamily="18" charset="0"/>
                <a:sym typeface="+mn-ea"/>
              </a:rPr>
              <a:t>solrj</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48" name="Text Box 5"/>
          <p:cNvSpPr txBox="1">
            <a:spLocks noChangeArrowheads="1"/>
          </p:cNvSpPr>
          <p:nvPr/>
        </p:nvSpPr>
        <p:spPr bwMode="auto">
          <a:xfrm>
            <a:off x="1128713" y="1322722"/>
            <a:ext cx="10300278" cy="1256049"/>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 在前后端分离的开发环境下，结合前面讲述的 </a:t>
            </a:r>
            <a:r>
              <a:rPr lang="en-US" altLang="zh-CN" sz="2000" b="0" dirty="0" err="1">
                <a:ea typeface="微软雅黑" panose="020B0503020204020204" pitchFamily="34" charset="-122"/>
                <a:cs typeface="Times New Roman" panose="02020603050405020304" pitchFamily="18" charset="0"/>
              </a:rPr>
              <a:t>solr</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开源框架的使用，将 </a:t>
            </a:r>
            <a:r>
              <a:rPr lang="en-US" altLang="zh-CN" sz="2000" b="0" dirty="0" err="1">
                <a:ea typeface="微软雅黑" panose="020B0503020204020204" pitchFamily="34" charset="-122"/>
                <a:cs typeface="Times New Roman" panose="02020603050405020304" pitchFamily="18" charset="0"/>
              </a:rPr>
              <a:t>solrj</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融入到 </a:t>
            </a:r>
            <a:r>
              <a:rPr lang="en-US" altLang="zh-CN" sz="2000" b="0" dirty="0" err="1">
                <a:ea typeface="微软雅黑" panose="020B0503020204020204" pitchFamily="34" charset="-122"/>
                <a:cs typeface="Times New Roman" panose="02020603050405020304" pitchFamily="18" charset="0"/>
              </a:rPr>
              <a:t>springboot</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项目的开发中，在自定义的模块内完成对核心 </a:t>
            </a:r>
            <a:r>
              <a:rPr lang="en-US" altLang="zh-CN" sz="2000" b="0" dirty="0">
                <a:ea typeface="微软雅黑" panose="020B0503020204020204" pitchFamily="34" charset="-122"/>
                <a:cs typeface="Times New Roman" panose="02020603050405020304" pitchFamily="18" charset="0"/>
              </a:rPr>
              <a:t>core </a:t>
            </a:r>
            <a:r>
              <a:rPr lang="zh-CN" altLang="en-US" sz="2000" b="0" dirty="0">
                <a:ea typeface="微软雅黑" panose="020B0503020204020204" pitchFamily="34" charset="-122"/>
                <a:cs typeface="Times New Roman" panose="02020603050405020304" pitchFamily="18" charset="0"/>
              </a:rPr>
              <a:t>的增删改查等操作。在 </a:t>
            </a:r>
            <a:r>
              <a:rPr lang="en-US" altLang="zh-CN" sz="2000" b="0" dirty="0" err="1">
                <a:ea typeface="微软雅黑" panose="020B0503020204020204" pitchFamily="34" charset="-122"/>
                <a:cs typeface="Times New Roman" panose="02020603050405020304" pitchFamily="18" charset="0"/>
              </a:rPr>
              <a:t>springboot</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中使用 </a:t>
            </a:r>
            <a:r>
              <a:rPr lang="en-US" altLang="zh-CN" sz="2000" b="0" dirty="0" err="1">
                <a:ea typeface="微软雅黑" panose="020B0503020204020204" pitchFamily="34" charset="-122"/>
                <a:cs typeface="Times New Roman" panose="02020603050405020304" pitchFamily="18" charset="0"/>
              </a:rPr>
              <a:t>solrj</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只需添加对应的依赖即可，如：</a:t>
            </a:r>
            <a:endParaRPr lang="zh-CN" altLang="en-US" sz="2000" b="0" dirty="0">
              <a:ea typeface="微软雅黑" panose="020B0503020204020204" pitchFamily="34" charset="-122"/>
              <a:cs typeface="Times New Roman" panose="02020603050405020304" pitchFamily="18" charset="0"/>
            </a:endParaRPr>
          </a:p>
        </p:txBody>
      </p:sp>
      <p:sp>
        <p:nvSpPr>
          <p:cNvPr id="15" name="文本框 14"/>
          <p:cNvSpPr txBox="1"/>
          <p:nvPr/>
        </p:nvSpPr>
        <p:spPr>
          <a:xfrm>
            <a:off x="1128713" y="2594699"/>
            <a:ext cx="9729788" cy="1477328"/>
          </a:xfrm>
          <a:prstGeom prst="rect">
            <a:avLst/>
          </a:prstGeom>
          <a:solidFill>
            <a:schemeClr val="bg2"/>
          </a:solidFill>
          <a:ln w="12700">
            <a:solidFill>
              <a:schemeClr val="tx1"/>
            </a:solidFill>
          </a:ln>
        </p:spPr>
        <p:txBody>
          <a:bodyPr wrap="square" rtlCol="0">
            <a:spAutoFit/>
          </a:bodyPr>
          <a:lstStyle/>
          <a:p>
            <a:r>
              <a:rPr lang="en-US" altLang="zh-CN" sz="1800" dirty="0">
                <a:solidFill>
                  <a:srgbClr val="333333"/>
                </a:solidFill>
                <a:effectLst/>
                <a:latin typeface="Lucida Console" panose="020B0609040504020204" pitchFamily="49" charset="0"/>
              </a:rPr>
              <a:t>&lt;dependency&gt; </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            &lt;</a:t>
            </a:r>
            <a:r>
              <a:rPr lang="en-US" altLang="zh-CN" sz="1800" dirty="0" err="1">
                <a:solidFill>
                  <a:srgbClr val="333333"/>
                </a:solidFill>
                <a:effectLst/>
                <a:latin typeface="Lucida Console" panose="020B0609040504020204" pitchFamily="49" charset="0"/>
              </a:rPr>
              <a:t>groupId</a:t>
            </a:r>
            <a:r>
              <a:rPr lang="en-US" altLang="zh-CN" sz="1800" dirty="0">
                <a:solidFill>
                  <a:srgbClr val="333333"/>
                </a:solidFill>
                <a:effectLst/>
                <a:latin typeface="Lucida Console" panose="020B0609040504020204" pitchFamily="49" charset="0"/>
              </a:rPr>
              <a:t>&gt;</a:t>
            </a:r>
            <a:r>
              <a:rPr lang="en-US" altLang="zh-CN" sz="1800" dirty="0" err="1">
                <a:solidFill>
                  <a:srgbClr val="333333"/>
                </a:solidFill>
                <a:effectLst/>
                <a:latin typeface="Lucida Console" panose="020B0609040504020204" pitchFamily="49" charset="0"/>
              </a:rPr>
              <a:t>org.apache.solr</a:t>
            </a:r>
            <a:r>
              <a:rPr lang="en-US" altLang="zh-CN" sz="1800" dirty="0">
                <a:solidFill>
                  <a:srgbClr val="333333"/>
                </a:solidFill>
                <a:effectLst/>
                <a:latin typeface="Lucida Console" panose="020B0609040504020204" pitchFamily="49" charset="0"/>
              </a:rPr>
              <a:t>&lt;/</a:t>
            </a:r>
            <a:r>
              <a:rPr lang="en-US" altLang="zh-CN" sz="1800" dirty="0" err="1">
                <a:solidFill>
                  <a:srgbClr val="333333"/>
                </a:solidFill>
                <a:effectLst/>
                <a:latin typeface="Lucida Console" panose="020B0609040504020204" pitchFamily="49" charset="0"/>
              </a:rPr>
              <a:t>groupId</a:t>
            </a:r>
            <a:r>
              <a:rPr lang="en-US" altLang="zh-CN" sz="1800" dirty="0">
                <a:solidFill>
                  <a:srgbClr val="333333"/>
                </a:solidFill>
                <a:effectLst/>
                <a:latin typeface="Lucida Console" panose="020B0609040504020204" pitchFamily="49" charset="0"/>
              </a:rPr>
              <a:t>&gt;</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            &lt;</a:t>
            </a:r>
            <a:r>
              <a:rPr lang="en-US" altLang="zh-CN" sz="1800" dirty="0" err="1">
                <a:solidFill>
                  <a:srgbClr val="333333"/>
                </a:solidFill>
                <a:effectLst/>
                <a:latin typeface="Lucida Console" panose="020B0609040504020204" pitchFamily="49" charset="0"/>
              </a:rPr>
              <a:t>artifactId</a:t>
            </a:r>
            <a:r>
              <a:rPr lang="en-US" altLang="zh-CN" sz="1800" dirty="0">
                <a:solidFill>
                  <a:srgbClr val="333333"/>
                </a:solidFill>
                <a:effectLst/>
                <a:latin typeface="Lucida Console" panose="020B0609040504020204" pitchFamily="49" charset="0"/>
              </a:rPr>
              <a:t>&gt;</a:t>
            </a:r>
            <a:r>
              <a:rPr lang="en-US" altLang="zh-CN" sz="1800" dirty="0" err="1">
                <a:solidFill>
                  <a:srgbClr val="333333"/>
                </a:solidFill>
                <a:effectLst/>
                <a:latin typeface="Lucida Console" panose="020B0609040504020204" pitchFamily="49" charset="0"/>
              </a:rPr>
              <a:t>solr-solrj</a:t>
            </a:r>
            <a:r>
              <a:rPr lang="en-US" altLang="zh-CN" sz="1800" dirty="0">
                <a:solidFill>
                  <a:srgbClr val="333333"/>
                </a:solidFill>
                <a:effectLst/>
                <a:latin typeface="Lucida Console" panose="020B0609040504020204" pitchFamily="49" charset="0"/>
              </a:rPr>
              <a:t>&lt;/</a:t>
            </a:r>
            <a:r>
              <a:rPr lang="en-US" altLang="zh-CN" sz="1800" dirty="0" err="1">
                <a:solidFill>
                  <a:srgbClr val="333333"/>
                </a:solidFill>
                <a:effectLst/>
                <a:latin typeface="Lucida Console" panose="020B0609040504020204" pitchFamily="49" charset="0"/>
              </a:rPr>
              <a:t>artifactId</a:t>
            </a:r>
            <a:r>
              <a:rPr lang="en-US" altLang="zh-CN" sz="1800" dirty="0">
                <a:solidFill>
                  <a:srgbClr val="333333"/>
                </a:solidFill>
                <a:effectLst/>
                <a:latin typeface="Lucida Console" panose="020B0609040504020204" pitchFamily="49" charset="0"/>
              </a:rPr>
              <a:t>&gt;</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            &lt;version&gt;4.7.2&lt;/version&gt;</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 &lt;/dependency&gt;</a:t>
            </a:r>
            <a:endParaRPr lang="en-US" altLang="zh-CN" sz="1800" dirty="0">
              <a:solidFill>
                <a:srgbClr val="333333"/>
              </a:solidFill>
              <a:effectLst/>
              <a:latin typeface="Lucida Console" panose="020B0609040504020204" pitchFamily="49" charset="0"/>
            </a:endParaRPr>
          </a:p>
        </p:txBody>
      </p:sp>
      <p:sp>
        <p:nvSpPr>
          <p:cNvPr id="16" name="Text Box 5"/>
          <p:cNvSpPr txBox="1">
            <a:spLocks noChangeArrowheads="1"/>
          </p:cNvSpPr>
          <p:nvPr/>
        </p:nvSpPr>
        <p:spPr bwMode="auto">
          <a:xfrm>
            <a:off x="1089913" y="4078954"/>
            <a:ext cx="10300278" cy="455830"/>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要注意的是，</a:t>
            </a:r>
            <a:r>
              <a:rPr lang="en-US" altLang="zh-CN" sz="2000" b="0" dirty="0" err="1">
                <a:ea typeface="微软雅黑" panose="020B0503020204020204" pitchFamily="34" charset="-122"/>
                <a:cs typeface="Times New Roman" panose="02020603050405020304" pitchFamily="18" charset="0"/>
              </a:rPr>
              <a:t>solrj</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的版本需要与 </a:t>
            </a:r>
            <a:r>
              <a:rPr lang="en-US" altLang="zh-CN" sz="2000" b="0" dirty="0" err="1">
                <a:ea typeface="微软雅黑" panose="020B0503020204020204" pitchFamily="34" charset="-122"/>
                <a:cs typeface="Times New Roman" panose="02020603050405020304" pitchFamily="18" charset="0"/>
              </a:rPr>
              <a:t>solr</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版本一致。</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Elasticsearch</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4857035"/>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是一个基于</a:t>
            </a:r>
            <a:r>
              <a:rPr lang="en-US" altLang="zh-CN" sz="2000" b="0" dirty="0">
                <a:ea typeface="微软雅黑" panose="020B0503020204020204" pitchFamily="34" charset="-122"/>
                <a:cs typeface="Times New Roman" panose="02020603050405020304" pitchFamily="18" charset="0"/>
              </a:rPr>
              <a:t>Lucene</a:t>
            </a:r>
            <a:r>
              <a:rPr lang="zh-CN" altLang="en-US" sz="2000" b="0" dirty="0">
                <a:ea typeface="微软雅黑" panose="020B0503020204020204" pitchFamily="34" charset="-122"/>
                <a:cs typeface="Times New Roman" panose="02020603050405020304" pitchFamily="18" charset="0"/>
              </a:rPr>
              <a:t>的实时分布式搜索和分析引擎。用于处理大规模数据集，并提供了快速、可靠的全文搜索功能。以下是一些关于</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的关键特点和功能：</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分布式架构：</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使用分布式架构，可以水平扩展以处理大规模数据和负载。它采用分片和复制机制，在多个节点上存储和索引数据，提供高可用性和容错能力。</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实时性能：</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具有低延迟的实时搜索和分析能力。它使用倒排索引结构和缓存机制，能够快速响应查询请求，并在数据更新时提供即时的索引更新。</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强大的查询语言：</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支持全文搜索、字段匹配、范围查询、模糊搜索等多种查询类型。它还支持聚合操作，可以进行复杂的数据分析和统计。</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多种数据类型支持：</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可以处理包括结构化数据、非结构化文本、地理位置数据等。它提供了各种数据类型的映射和分析功能，以便更好地索引和搜索数据。</a:t>
            </a:r>
            <a:endParaRPr lang="zh-CN" altLang="en-US" sz="2000" b="0" dirty="0">
              <a:ea typeface="微软雅黑" panose="020B0503020204020204" pitchFamily="34" charset="-122"/>
              <a:cs typeface="Times New Roman" panose="02020603050405020304" pitchFamily="18" charset="0"/>
            </a:endParaRPr>
          </a:p>
          <a:p>
            <a:pPr marL="817245" lvl="4" indent="-360045" algn="just">
              <a:lnSpc>
                <a:spcPct val="130000"/>
              </a:lnSpc>
              <a:buSzPct val="100000"/>
              <a:buFont typeface="Wingdings" panose="05000000000000000000" pitchFamily="2" charset="2"/>
              <a:buChar char="ü"/>
            </a:pPr>
            <a:r>
              <a:rPr lang="zh-CN" altLang="en-US" sz="2000" b="0" dirty="0">
                <a:ea typeface="微软雅黑" panose="020B0503020204020204" pitchFamily="34" charset="-122"/>
                <a:cs typeface="Times New Roman" panose="02020603050405020304" pitchFamily="18" charset="0"/>
              </a:rPr>
              <a:t>分布式搜索和聚合：</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支持在多个节点上进行分布式搜索和聚合操作。它可以以并行方式搜索和处理数据，并将结果合并返回给用户。</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Lucene</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a:solidFill>
                  <a:srgbClr val="0150A2"/>
                </a:solidFill>
                <a:ea typeface="微软雅黑" panose="020B0503020204020204" pitchFamily="34" charset="-122"/>
                <a:cs typeface="Times New Roman" panose="02020603050405020304" pitchFamily="18" charset="0"/>
                <a:sym typeface="+mn-ea"/>
              </a:rPr>
              <a:t>Elasticsearch</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2456378"/>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可扩展性和插件生态系统：</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具有良好的可扩展性，可以方便地通过添加插件来扩展其功能。它还与许多其他开源工具和框架集成，如</a:t>
            </a:r>
            <a:r>
              <a:rPr lang="en-US" altLang="zh-CN" sz="2000" b="0" dirty="0">
                <a:ea typeface="微软雅黑" panose="020B0503020204020204" pitchFamily="34" charset="-122"/>
                <a:cs typeface="Times New Roman" panose="02020603050405020304" pitchFamily="18" charset="0"/>
              </a:rPr>
              <a:t>Logstash</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Kibana</a:t>
            </a:r>
            <a:r>
              <a:rPr lang="zh-CN" altLang="en-US" sz="2000" b="0" dirty="0">
                <a:ea typeface="微软雅黑" panose="020B0503020204020204" pitchFamily="34" charset="-122"/>
                <a:cs typeface="Times New Roman" panose="02020603050405020304" pitchFamily="18" charset="0"/>
              </a:rPr>
              <a:t>和</a:t>
            </a:r>
            <a:r>
              <a:rPr lang="en-US" altLang="zh-CN" sz="2000" b="0" dirty="0">
                <a:ea typeface="微软雅黑" panose="020B0503020204020204" pitchFamily="34" charset="-122"/>
                <a:cs typeface="Times New Roman" panose="02020603050405020304" pitchFamily="18" charset="0"/>
              </a:rPr>
              <a:t>Beats</a:t>
            </a:r>
            <a:r>
              <a:rPr lang="zh-CN" altLang="en-US" sz="2000" b="0" dirty="0">
                <a:ea typeface="微软雅黑" panose="020B0503020204020204" pitchFamily="34" charset="-122"/>
                <a:cs typeface="Times New Roman" panose="02020603050405020304" pitchFamily="18" charset="0"/>
              </a:rPr>
              <a:t>，形成了完整的</a:t>
            </a:r>
            <a:r>
              <a:rPr lang="en-US" altLang="zh-CN" sz="2000" b="0" dirty="0">
                <a:ea typeface="微软雅黑" panose="020B0503020204020204" pitchFamily="34" charset="-122"/>
                <a:cs typeface="Times New Roman" panose="02020603050405020304" pitchFamily="18" charset="0"/>
              </a:rPr>
              <a:t>ELK</a:t>
            </a:r>
            <a:r>
              <a:rPr lang="zh-CN" altLang="en-US" sz="2000" b="0" dirty="0">
                <a:ea typeface="微软雅黑" panose="020B0503020204020204" pitchFamily="34" charset="-122"/>
                <a:cs typeface="Times New Roman" panose="02020603050405020304" pitchFamily="18" charset="0"/>
              </a:rPr>
              <a:t>堆栈（</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Logstash</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Kibana</a:t>
            </a:r>
            <a:r>
              <a:rPr lang="zh-CN" altLang="en-US" sz="2000" b="0" dirty="0">
                <a:ea typeface="微软雅黑" panose="020B0503020204020204" pitchFamily="34" charset="-122"/>
                <a:cs typeface="Times New Roman" panose="02020603050405020304" pitchFamily="18" charset="0"/>
              </a:rPr>
              <a:t>）。</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广泛应用于各种场景，包括日志分析、实时监控、电子商务搜索、内容检索等。通过使用</a:t>
            </a:r>
            <a:r>
              <a:rPr lang="en-US" altLang="zh-CN" sz="2000" b="0" dirty="0">
                <a:ea typeface="微软雅黑" panose="020B0503020204020204" pitchFamily="34" charset="-122"/>
                <a:cs typeface="Times New Roman" panose="02020603050405020304" pitchFamily="18" charset="0"/>
              </a:rPr>
              <a:t>Elasticsearch</a:t>
            </a:r>
            <a:r>
              <a:rPr lang="zh-CN" altLang="en-US" sz="2000" b="0" dirty="0">
                <a:ea typeface="微软雅黑" panose="020B0503020204020204" pitchFamily="34" charset="-122"/>
                <a:cs typeface="Times New Roman" panose="02020603050405020304" pitchFamily="18" charset="0"/>
              </a:rPr>
              <a:t>，开发人员可以构建高性能、可伸缩和可定制的搜索和分析应用。</a:t>
            </a:r>
            <a:endParaRPr lang="zh-CN" altLang="en-US" sz="2000" b="0" dirty="0">
              <a:ea typeface="微软雅黑" panose="020B0503020204020204" pitchFamily="34" charset="-122"/>
              <a:cs typeface="Times New Roman" panose="02020603050405020304" pitchFamily="18" charset="0"/>
            </a:endParaRPr>
          </a:p>
        </p:txBody>
      </p:sp>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6830" y="4173836"/>
            <a:ext cx="5358340" cy="18363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搜索框架</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en-US" altLang="zh-CN" sz="2800" dirty="0" err="1">
                <a:solidFill>
                  <a:srgbClr val="0150A2"/>
                </a:solidFill>
                <a:ea typeface="微软雅黑" panose="020B0503020204020204" pitchFamily="34" charset="-122"/>
                <a:cs typeface="Times New Roman" panose="02020603050405020304" pitchFamily="18" charset="0"/>
                <a:sym typeface="+mn-ea"/>
              </a:rPr>
              <a:t>ElasticSearch</a:t>
            </a:r>
            <a:r>
              <a:rPr lang="zh-CN" altLang="en-US" sz="2800" dirty="0">
                <a:solidFill>
                  <a:srgbClr val="0150A2"/>
                </a:solidFill>
                <a:ea typeface="微软雅黑" panose="020B0503020204020204" pitchFamily="34" charset="-122"/>
                <a:cs typeface="Times New Roman" panose="02020603050405020304" pitchFamily="18" charset="0"/>
                <a:sym typeface="+mn-ea"/>
              </a:rPr>
              <a:t>与</a:t>
            </a:r>
            <a:r>
              <a:rPr lang="en-US" altLang="zh-CN" sz="2800" dirty="0" err="1">
                <a:solidFill>
                  <a:srgbClr val="0150A2"/>
                </a:solidFill>
                <a:ea typeface="微软雅黑" panose="020B0503020204020204" pitchFamily="34" charset="-122"/>
                <a:cs typeface="Times New Roman" panose="02020603050405020304" pitchFamily="18" charset="0"/>
                <a:sym typeface="+mn-ea"/>
              </a:rPr>
              <a:t>Solr</a:t>
            </a:r>
            <a:r>
              <a:rPr lang="zh-CN" altLang="en-US" sz="2800" dirty="0">
                <a:solidFill>
                  <a:srgbClr val="0150A2"/>
                </a:solidFill>
                <a:ea typeface="微软雅黑" panose="020B0503020204020204" pitchFamily="34" charset="-122"/>
                <a:cs typeface="Times New Roman" panose="02020603050405020304" pitchFamily="18" charset="0"/>
                <a:sym typeface="+mn-ea"/>
              </a:rPr>
              <a:t>比较</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4" name="组合 3"/>
          <p:cNvGrpSpPr/>
          <p:nvPr/>
        </p:nvGrpSpPr>
        <p:grpSpPr>
          <a:xfrm>
            <a:off x="1725940" y="1466544"/>
            <a:ext cx="8740120" cy="4873716"/>
            <a:chOff x="2084597" y="1339164"/>
            <a:chExt cx="8740120" cy="4873716"/>
          </a:xfrm>
        </p:grpSpPr>
        <p:sp>
          <p:nvSpPr>
            <p:cNvPr id="34" name="TextBox 8"/>
            <p:cNvSpPr txBox="1"/>
            <p:nvPr/>
          </p:nvSpPr>
          <p:spPr>
            <a:xfrm>
              <a:off x="3145374" y="2711504"/>
              <a:ext cx="2648971" cy="1029834"/>
            </a:xfrm>
            <a:prstGeom prst="rect">
              <a:avLst/>
            </a:prstGeom>
            <a:noFill/>
          </p:spPr>
          <p:txBody>
            <a:bodyPr wrap="square" lIns="0" tIns="0" rIns="0" bIns="0" rtlCol="0" anchor="t">
              <a:spAutoFit/>
            </a:bodyPr>
            <a:lstStyle/>
            <a:p>
              <a:pPr>
                <a:lnSpc>
                  <a:spcPct val="130000"/>
                </a:lnSpc>
              </a:pPr>
              <a:r>
                <a:rPr lang="en-US" altLang="zh-CN" sz="1050" dirty="0">
                  <a:solidFill>
                    <a:schemeClr val="tx1">
                      <a:lumMod val="50000"/>
                      <a:lumOff val="50000"/>
                    </a:schemeClr>
                  </a:solidFill>
                  <a:cs typeface="+mn-ea"/>
                  <a:sym typeface="+mn-lt"/>
                </a:rPr>
                <a:t>1. </a:t>
              </a:r>
              <a:r>
                <a:rPr lang="en-US" altLang="zh-CN" sz="1050" dirty="0" err="1">
                  <a:solidFill>
                    <a:schemeClr val="tx1">
                      <a:lumMod val="50000"/>
                      <a:lumOff val="50000"/>
                    </a:schemeClr>
                  </a:solidFill>
                  <a:cs typeface="+mn-ea"/>
                  <a:sym typeface="+mn-lt"/>
                </a:rPr>
                <a:t>ElasticSearch</a:t>
              </a:r>
              <a:r>
                <a:rPr lang="en-US" altLang="zh-CN" sz="1050" dirty="0">
                  <a:solidFill>
                    <a:schemeClr val="tx1">
                      <a:lumMod val="50000"/>
                      <a:lumOff val="50000"/>
                    </a:schemeClr>
                  </a:solidFill>
                  <a:cs typeface="+mn-ea"/>
                  <a:sym typeface="+mn-lt"/>
                </a:rPr>
                <a:t> </a:t>
              </a:r>
              <a:r>
                <a:rPr lang="zh-CN" altLang="en-US" sz="1050" dirty="0">
                  <a:solidFill>
                    <a:schemeClr val="tx1">
                      <a:lumMod val="50000"/>
                      <a:lumOff val="50000"/>
                    </a:schemeClr>
                  </a:solidFill>
                  <a:cs typeface="+mn-ea"/>
                  <a:sym typeface="+mn-lt"/>
                </a:rPr>
                <a:t>是分布式的。不需要其他组件，自身带有分布式协调管理功能。</a:t>
              </a:r>
              <a:endParaRPr lang="en-US" altLang="zh-CN" sz="1050" dirty="0">
                <a:solidFill>
                  <a:schemeClr val="tx1">
                    <a:lumMod val="50000"/>
                    <a:lumOff val="50000"/>
                  </a:schemeClr>
                </a:solidFill>
                <a:cs typeface="+mn-ea"/>
                <a:sym typeface="+mn-lt"/>
              </a:endParaRPr>
            </a:p>
            <a:p>
              <a:pPr>
                <a:lnSpc>
                  <a:spcPct val="130000"/>
                </a:lnSpc>
              </a:pPr>
              <a:r>
                <a:rPr lang="en-US" altLang="zh-CN" sz="1050" dirty="0">
                  <a:solidFill>
                    <a:schemeClr val="tx1">
                      <a:lumMod val="50000"/>
                      <a:lumOff val="50000"/>
                    </a:schemeClr>
                  </a:solidFill>
                  <a:cs typeface="+mn-ea"/>
                  <a:sym typeface="+mn-lt"/>
                </a:rPr>
                <a:t>2. </a:t>
              </a:r>
              <a:r>
                <a:rPr lang="en-US" altLang="zh-CN" sz="1050" dirty="0" err="1">
                  <a:solidFill>
                    <a:schemeClr val="tx1">
                      <a:lumMod val="50000"/>
                      <a:lumOff val="50000"/>
                    </a:schemeClr>
                  </a:solidFill>
                  <a:cs typeface="+mn-ea"/>
                  <a:sym typeface="+mn-lt"/>
                </a:rPr>
                <a:t>ElasticSearch</a:t>
              </a:r>
              <a:r>
                <a:rPr lang="zh-CN" altLang="en-US" sz="1050" dirty="0">
                  <a:solidFill>
                    <a:schemeClr val="tx1">
                      <a:lumMod val="50000"/>
                      <a:lumOff val="50000"/>
                    </a:schemeClr>
                  </a:solidFill>
                  <a:cs typeface="+mn-ea"/>
                  <a:sym typeface="+mn-lt"/>
                </a:rPr>
                <a:t>有</a:t>
              </a:r>
              <a:r>
                <a:rPr lang="en-US" altLang="zh-CN" sz="1050" dirty="0">
                  <a:solidFill>
                    <a:schemeClr val="tx1">
                      <a:lumMod val="50000"/>
                      <a:lumOff val="50000"/>
                    </a:schemeClr>
                  </a:solidFill>
                  <a:cs typeface="+mn-ea"/>
                  <a:sym typeface="+mn-lt"/>
                </a:rPr>
                <a:t>Query DSL</a:t>
              </a:r>
              <a:r>
                <a:rPr lang="zh-CN" altLang="en-US" sz="1050" dirty="0">
                  <a:solidFill>
                    <a:schemeClr val="tx1">
                      <a:lumMod val="50000"/>
                      <a:lumOff val="50000"/>
                    </a:schemeClr>
                  </a:solidFill>
                  <a:cs typeface="+mn-ea"/>
                  <a:sym typeface="+mn-lt"/>
                </a:rPr>
                <a:t>，能够支持更加高级和复杂的查询语法，而且可以以此扩展实现类</a:t>
              </a:r>
              <a:r>
                <a:rPr lang="en-US" altLang="zh-CN" sz="1050" dirty="0">
                  <a:solidFill>
                    <a:schemeClr val="tx1">
                      <a:lumMod val="50000"/>
                      <a:lumOff val="50000"/>
                    </a:schemeClr>
                  </a:solidFill>
                  <a:cs typeface="+mn-ea"/>
                  <a:sym typeface="+mn-lt"/>
                </a:rPr>
                <a:t>SQL</a:t>
              </a:r>
              <a:r>
                <a:rPr lang="zh-CN" altLang="en-US" sz="1050" dirty="0">
                  <a:solidFill>
                    <a:schemeClr val="tx1">
                      <a:lumMod val="50000"/>
                      <a:lumOff val="50000"/>
                    </a:schemeClr>
                  </a:solidFill>
                  <a:cs typeface="+mn-ea"/>
                  <a:sym typeface="+mn-lt"/>
                </a:rPr>
                <a:t>语法的查询。</a:t>
              </a:r>
              <a:endParaRPr lang="en-US" altLang="zh-CN" sz="1050" dirty="0">
                <a:solidFill>
                  <a:schemeClr val="tx1">
                    <a:lumMod val="50000"/>
                    <a:lumOff val="50000"/>
                  </a:schemeClr>
                </a:solidFill>
                <a:cs typeface="+mn-ea"/>
                <a:sym typeface="+mn-lt"/>
              </a:endParaRPr>
            </a:p>
          </p:txBody>
        </p:sp>
        <p:sp>
          <p:nvSpPr>
            <p:cNvPr id="35" name="Rectangular Callout 28"/>
            <p:cNvSpPr>
              <a:spLocks noChangeAspect="1"/>
            </p:cNvSpPr>
            <p:nvPr/>
          </p:nvSpPr>
          <p:spPr>
            <a:xfrm flipH="1">
              <a:off x="2084597" y="2807705"/>
              <a:ext cx="738829" cy="717676"/>
            </a:xfrm>
            <a:prstGeom prst="wedgeRectCallout">
              <a:avLst/>
            </a:prstGeom>
            <a:solidFill>
              <a:srgbClr val="BA8F2D"/>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30000"/>
                </a:lnSpc>
              </a:pPr>
              <a:r>
                <a:rPr lang="zh-CN" altLang="en-US" sz="2000" dirty="0">
                  <a:solidFill>
                    <a:schemeClr val="bg1"/>
                  </a:solidFill>
                  <a:cs typeface="+mn-ea"/>
                  <a:sym typeface="+mn-lt"/>
                </a:rPr>
                <a:t>优点</a:t>
              </a:r>
              <a:endParaRPr lang="en-US" sz="2000" b="1" dirty="0">
                <a:solidFill>
                  <a:schemeClr val="bg1"/>
                </a:solidFill>
                <a:cs typeface="+mn-ea"/>
                <a:sym typeface="+mn-lt"/>
              </a:endParaRPr>
            </a:p>
          </p:txBody>
        </p:sp>
        <p:sp>
          <p:nvSpPr>
            <p:cNvPr id="36" name="Rectangular Callout 32"/>
            <p:cNvSpPr>
              <a:spLocks noChangeAspect="1"/>
            </p:cNvSpPr>
            <p:nvPr/>
          </p:nvSpPr>
          <p:spPr>
            <a:xfrm flipH="1">
              <a:off x="2084597" y="4191879"/>
              <a:ext cx="738829" cy="717678"/>
            </a:xfrm>
            <a:prstGeom prst="wedgeRectCallout">
              <a:avLst/>
            </a:prstGeom>
            <a:solidFill>
              <a:srgbClr val="2A324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2000" dirty="0">
                  <a:solidFill>
                    <a:schemeClr val="bg1"/>
                  </a:solidFill>
                  <a:cs typeface="+mn-ea"/>
                  <a:sym typeface="+mn-lt"/>
                </a:rPr>
                <a:t>缺点</a:t>
              </a:r>
              <a:endParaRPr lang="en-US" sz="2000" dirty="0">
                <a:cs typeface="+mn-ea"/>
                <a:sym typeface="+mn-lt"/>
              </a:endParaRPr>
            </a:p>
          </p:txBody>
        </p:sp>
        <p:sp>
          <p:nvSpPr>
            <p:cNvPr id="37" name="TextBox 8"/>
            <p:cNvSpPr txBox="1"/>
            <p:nvPr/>
          </p:nvSpPr>
          <p:spPr>
            <a:xfrm>
              <a:off x="3145375" y="4220797"/>
              <a:ext cx="2648970" cy="580672"/>
            </a:xfrm>
            <a:prstGeom prst="rect">
              <a:avLst/>
            </a:prstGeom>
            <a:noFill/>
          </p:spPr>
          <p:txBody>
            <a:bodyPr wrap="square" lIns="0" tIns="0" rIns="0" bIns="0" rtlCol="0" anchor="t">
              <a:spAutoFit/>
            </a:bodyPr>
            <a:lstStyle/>
            <a:p>
              <a:pPr algn="just">
                <a:lnSpc>
                  <a:spcPct val="130000"/>
                </a:lnSpc>
              </a:pPr>
              <a:r>
                <a:rPr lang="en-US" altLang="zh-CN" sz="1000" dirty="0">
                  <a:solidFill>
                    <a:schemeClr val="tx1">
                      <a:lumMod val="50000"/>
                      <a:lumOff val="50000"/>
                    </a:schemeClr>
                  </a:solidFill>
                  <a:cs typeface="+mn-ea"/>
                  <a:sym typeface="+mn-lt"/>
                </a:rPr>
                <a:t>1.  </a:t>
              </a:r>
              <a:r>
                <a:rPr lang="en-US" altLang="zh-CN" sz="1000" dirty="0" err="1">
                  <a:solidFill>
                    <a:schemeClr val="tx1">
                      <a:lumMod val="50000"/>
                      <a:lumOff val="50000"/>
                    </a:schemeClr>
                  </a:solidFill>
                  <a:cs typeface="+mn-ea"/>
                  <a:sym typeface="+mn-lt"/>
                </a:rPr>
                <a:t>ElasticSearch</a:t>
              </a:r>
              <a:r>
                <a:rPr lang="en-US" altLang="zh-CN" sz="1000" dirty="0">
                  <a:solidFill>
                    <a:schemeClr val="tx1">
                      <a:lumMod val="50000"/>
                      <a:lumOff val="50000"/>
                    </a:schemeClr>
                  </a:solidFill>
                  <a:cs typeface="+mn-ea"/>
                  <a:sym typeface="+mn-lt"/>
                </a:rPr>
                <a:t> </a:t>
              </a:r>
              <a:r>
                <a:rPr lang="zh-CN" altLang="en-US" sz="1000" dirty="0">
                  <a:solidFill>
                    <a:schemeClr val="tx1">
                      <a:lumMod val="50000"/>
                      <a:lumOff val="50000"/>
                    </a:schemeClr>
                  </a:solidFill>
                  <a:cs typeface="+mn-ea"/>
                  <a:sym typeface="+mn-lt"/>
                </a:rPr>
                <a:t>仅支持</a:t>
              </a:r>
              <a:r>
                <a:rPr lang="en-US" altLang="zh-CN" sz="1000" dirty="0">
                  <a:solidFill>
                    <a:schemeClr val="tx1">
                      <a:lumMod val="50000"/>
                      <a:lumOff val="50000"/>
                    </a:schemeClr>
                  </a:solidFill>
                  <a:cs typeface="+mn-ea"/>
                  <a:sym typeface="+mn-lt"/>
                </a:rPr>
                <a:t>JSON</a:t>
              </a:r>
              <a:r>
                <a:rPr lang="zh-CN" altLang="en-US" sz="1000" dirty="0">
                  <a:solidFill>
                    <a:schemeClr val="tx1">
                      <a:lumMod val="50000"/>
                      <a:lumOff val="50000"/>
                    </a:schemeClr>
                  </a:solidFill>
                  <a:cs typeface="+mn-ea"/>
                  <a:sym typeface="+mn-lt"/>
                </a:rPr>
                <a:t>文件格式。</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2.  </a:t>
              </a:r>
              <a:r>
                <a:rPr lang="zh-CN" altLang="en-US" sz="1000" dirty="0">
                  <a:solidFill>
                    <a:schemeClr val="tx1">
                      <a:lumMod val="50000"/>
                      <a:lumOff val="50000"/>
                    </a:schemeClr>
                  </a:solidFill>
                  <a:cs typeface="+mn-ea"/>
                  <a:sym typeface="+mn-lt"/>
                </a:rPr>
                <a:t>当前</a:t>
              </a:r>
              <a:r>
                <a:rPr lang="en-US" altLang="zh-CN" sz="1000" dirty="0" err="1">
                  <a:solidFill>
                    <a:schemeClr val="tx1">
                      <a:lumMod val="50000"/>
                      <a:lumOff val="50000"/>
                    </a:schemeClr>
                  </a:solidFill>
                  <a:cs typeface="+mn-ea"/>
                  <a:sym typeface="+mn-lt"/>
                </a:rPr>
                <a:t>ElasticSearch</a:t>
              </a:r>
              <a:r>
                <a:rPr lang="en-US" altLang="zh-CN" sz="1000" dirty="0">
                  <a:solidFill>
                    <a:schemeClr val="tx1">
                      <a:lumMod val="50000"/>
                      <a:lumOff val="50000"/>
                    </a:schemeClr>
                  </a:solidFill>
                  <a:cs typeface="+mn-ea"/>
                  <a:sym typeface="+mn-lt"/>
                </a:rPr>
                <a:t> </a:t>
              </a:r>
              <a:r>
                <a:rPr lang="zh-CN" altLang="en-US" sz="1000" dirty="0">
                  <a:solidFill>
                    <a:schemeClr val="tx1">
                      <a:lumMod val="50000"/>
                      <a:lumOff val="50000"/>
                    </a:schemeClr>
                  </a:solidFill>
                  <a:cs typeface="+mn-ea"/>
                  <a:sym typeface="+mn-lt"/>
                </a:rPr>
                <a:t>社区活跃度相对偏少。</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3.  </a:t>
              </a:r>
              <a:r>
                <a:rPr lang="zh-CN" altLang="en-US" sz="1000" dirty="0">
                  <a:solidFill>
                    <a:schemeClr val="tx1">
                      <a:lumMod val="50000"/>
                      <a:lumOff val="50000"/>
                    </a:schemeClr>
                  </a:solidFill>
                  <a:cs typeface="+mn-ea"/>
                  <a:sym typeface="+mn-lt"/>
                </a:rPr>
                <a:t>在传统搜索应用中，是搜索效率较低。</a:t>
              </a:r>
              <a:endParaRPr lang="en-US" altLang="zh-CN" sz="1000" dirty="0">
                <a:solidFill>
                  <a:schemeClr val="tx1">
                    <a:lumMod val="50000"/>
                    <a:lumOff val="50000"/>
                  </a:schemeClr>
                </a:solidFill>
                <a:cs typeface="+mn-ea"/>
                <a:sym typeface="+mn-lt"/>
              </a:endParaRPr>
            </a:p>
          </p:txBody>
        </p:sp>
        <p:sp>
          <p:nvSpPr>
            <p:cNvPr id="38" name="TextBox 8"/>
            <p:cNvSpPr txBox="1"/>
            <p:nvPr/>
          </p:nvSpPr>
          <p:spPr>
            <a:xfrm>
              <a:off x="7633556" y="2847989"/>
              <a:ext cx="3191161" cy="630173"/>
            </a:xfrm>
            <a:prstGeom prst="rect">
              <a:avLst/>
            </a:prstGeom>
            <a:noFill/>
          </p:spPr>
          <p:txBody>
            <a:bodyPr wrap="square" lIns="0" tIns="0" rIns="0" bIns="0" rtlCol="0" anchor="t">
              <a:spAutoFit/>
            </a:bodyPr>
            <a:lstStyle/>
            <a:p>
              <a:pPr>
                <a:lnSpc>
                  <a:spcPct val="130000"/>
                </a:lnSpc>
              </a:pPr>
              <a:r>
                <a:rPr lang="en-US" altLang="zh-CN" sz="1050" dirty="0">
                  <a:solidFill>
                    <a:schemeClr val="tx1">
                      <a:lumMod val="50000"/>
                      <a:lumOff val="50000"/>
                    </a:schemeClr>
                  </a:solidFill>
                  <a:cs typeface="+mn-ea"/>
                  <a:sym typeface="+mn-lt"/>
                </a:rPr>
                <a:t>1. </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使用 </a:t>
              </a:r>
              <a:r>
                <a:rPr lang="en-US" altLang="zh-CN" sz="1050" dirty="0">
                  <a:solidFill>
                    <a:schemeClr val="tx1">
                      <a:lumMod val="50000"/>
                      <a:lumOff val="50000"/>
                    </a:schemeClr>
                  </a:solidFill>
                  <a:cs typeface="+mn-ea"/>
                  <a:sym typeface="+mn-lt"/>
                </a:rPr>
                <a:t>Zookeeper </a:t>
              </a:r>
              <a:r>
                <a:rPr lang="zh-CN" altLang="en-US" sz="1050" dirty="0">
                  <a:solidFill>
                    <a:schemeClr val="tx1">
                      <a:lumMod val="50000"/>
                      <a:lumOff val="50000"/>
                    </a:schemeClr>
                  </a:solidFill>
                  <a:cs typeface="+mn-ea"/>
                  <a:sym typeface="+mn-lt"/>
                </a:rPr>
                <a:t>进行分布式管理。</a:t>
              </a:r>
              <a:endParaRPr lang="en-US" altLang="zh-CN" sz="1050" dirty="0">
                <a:solidFill>
                  <a:schemeClr val="tx2">
                    <a:lumMod val="60000"/>
                    <a:lumOff val="40000"/>
                  </a:schemeClr>
                </a:solidFill>
                <a:cs typeface="+mn-ea"/>
                <a:sym typeface="+mn-lt"/>
              </a:endParaRPr>
            </a:p>
            <a:p>
              <a:pPr algn="just">
                <a:lnSpc>
                  <a:spcPct val="130000"/>
                </a:lnSpc>
              </a:pPr>
              <a:r>
                <a:rPr lang="en-US" altLang="zh-CN" sz="1050" dirty="0">
                  <a:solidFill>
                    <a:schemeClr val="tx1">
                      <a:lumMod val="50000"/>
                      <a:lumOff val="50000"/>
                    </a:schemeClr>
                  </a:solidFill>
                  <a:cs typeface="+mn-ea"/>
                  <a:sym typeface="+mn-lt"/>
                </a:rPr>
                <a:t>2. </a:t>
              </a:r>
              <a:r>
                <a:rPr lang="en-US" altLang="zh-CN" sz="1050" dirty="0" err="1">
                  <a:solidFill>
                    <a:schemeClr val="tx1">
                      <a:lumMod val="50000"/>
                      <a:lumOff val="50000"/>
                    </a:schemeClr>
                  </a:solidFill>
                  <a:cs typeface="+mn-ea"/>
                  <a:sym typeface="+mn-lt"/>
                </a:rPr>
                <a:t>Solr</a:t>
              </a:r>
              <a:r>
                <a:rPr lang="zh-CN" altLang="en-US" sz="1050" dirty="0">
                  <a:solidFill>
                    <a:schemeClr val="tx1">
                      <a:lumMod val="50000"/>
                      <a:lumOff val="50000"/>
                    </a:schemeClr>
                  </a:solidFill>
                  <a:cs typeface="+mn-ea"/>
                  <a:sym typeface="+mn-lt"/>
                </a:rPr>
                <a:t>没有</a:t>
              </a:r>
              <a:r>
                <a:rPr lang="en-US" altLang="zh-CN" sz="1050" dirty="0">
                  <a:solidFill>
                    <a:schemeClr val="tx1">
                      <a:lumMod val="50000"/>
                      <a:lumOff val="50000"/>
                    </a:schemeClr>
                  </a:solidFill>
                  <a:cs typeface="+mn-ea"/>
                  <a:sym typeface="+mn-lt"/>
                </a:rPr>
                <a:t>SQL</a:t>
              </a:r>
              <a:r>
                <a:rPr lang="zh-CN" altLang="en-US" sz="1050" dirty="0">
                  <a:solidFill>
                    <a:schemeClr val="tx1">
                      <a:lumMod val="50000"/>
                      <a:lumOff val="50000"/>
                    </a:schemeClr>
                  </a:solidFill>
                  <a:cs typeface="+mn-ea"/>
                  <a:sym typeface="+mn-lt"/>
                </a:rPr>
                <a:t>语法查询，但提供更多、更完备的现有查询功能。</a:t>
              </a:r>
              <a:endParaRPr lang="en-US" altLang="zh-CN" sz="1050" dirty="0">
                <a:solidFill>
                  <a:schemeClr val="tx1">
                    <a:lumMod val="50000"/>
                    <a:lumOff val="50000"/>
                  </a:schemeClr>
                </a:solidFill>
                <a:cs typeface="+mn-ea"/>
                <a:sym typeface="+mn-lt"/>
              </a:endParaRPr>
            </a:p>
          </p:txBody>
        </p:sp>
        <p:sp>
          <p:nvSpPr>
            <p:cNvPr id="61" name="TextBox 8"/>
            <p:cNvSpPr txBox="1"/>
            <p:nvPr/>
          </p:nvSpPr>
          <p:spPr>
            <a:xfrm>
              <a:off x="7633556" y="4159505"/>
              <a:ext cx="2840480" cy="980781"/>
            </a:xfrm>
            <a:prstGeom prst="rect">
              <a:avLst/>
            </a:prstGeom>
            <a:noFill/>
          </p:spPr>
          <p:txBody>
            <a:bodyPr wrap="square" lIns="0" tIns="0" rIns="0" bIns="0" rtlCol="0" anchor="t">
              <a:spAutoFit/>
            </a:bodyPr>
            <a:lstStyle/>
            <a:p>
              <a:pPr algn="just">
                <a:lnSpc>
                  <a:spcPct val="130000"/>
                </a:lnSpc>
              </a:pPr>
              <a:r>
                <a:rPr lang="en-US" altLang="zh-CN" sz="1000" dirty="0">
                  <a:solidFill>
                    <a:schemeClr val="tx1">
                      <a:lumMod val="50000"/>
                      <a:lumOff val="50000"/>
                    </a:schemeClr>
                  </a:solidFill>
                  <a:cs typeface="+mn-ea"/>
                  <a:sym typeface="+mn-lt"/>
                </a:rPr>
                <a:t>1. </a:t>
              </a:r>
              <a:r>
                <a:rPr lang="en-US" altLang="zh-CN" sz="1000" dirty="0" err="1">
                  <a:solidFill>
                    <a:schemeClr val="tx1">
                      <a:lumMod val="50000"/>
                      <a:lumOff val="50000"/>
                    </a:schemeClr>
                  </a:solidFill>
                  <a:cs typeface="+mn-ea"/>
                  <a:sym typeface="+mn-lt"/>
                </a:rPr>
                <a:t>Solr</a:t>
              </a:r>
              <a:r>
                <a:rPr lang="zh-CN" altLang="en-US" sz="1000" dirty="0">
                  <a:solidFill>
                    <a:schemeClr val="tx1">
                      <a:lumMod val="50000"/>
                      <a:lumOff val="50000"/>
                    </a:schemeClr>
                  </a:solidFill>
                  <a:cs typeface="+mn-ea"/>
                  <a:sym typeface="+mn-lt"/>
                </a:rPr>
                <a:t>支持</a:t>
              </a:r>
              <a:r>
                <a:rPr lang="en-US" altLang="zh-CN" sz="1000" dirty="0">
                  <a:solidFill>
                    <a:schemeClr val="tx1">
                      <a:lumMod val="50000"/>
                      <a:lumOff val="50000"/>
                    </a:schemeClr>
                  </a:solidFill>
                  <a:cs typeface="+mn-ea"/>
                  <a:sym typeface="+mn-lt"/>
                </a:rPr>
                <a:t>HTML</a:t>
              </a:r>
              <a:r>
                <a:rPr lang="zh-CN" altLang="en-US" sz="1000" dirty="0">
                  <a:solidFill>
                    <a:schemeClr val="tx1">
                      <a:lumMod val="50000"/>
                      <a:lumOff val="50000"/>
                    </a:schemeClr>
                  </a:solidFill>
                  <a:cs typeface="+mn-ea"/>
                  <a:sym typeface="+mn-lt"/>
                </a:rPr>
                <a:t>、</a:t>
              </a:r>
              <a:r>
                <a:rPr lang="en-US" altLang="zh-CN" sz="1000" dirty="0">
                  <a:solidFill>
                    <a:schemeClr val="tx1">
                      <a:lumMod val="50000"/>
                      <a:lumOff val="50000"/>
                    </a:schemeClr>
                  </a:solidFill>
                  <a:cs typeface="+mn-ea"/>
                  <a:sym typeface="+mn-lt"/>
                </a:rPr>
                <a:t>PDF</a:t>
              </a:r>
              <a:r>
                <a:rPr lang="zh-CN" altLang="en-US" sz="1000" dirty="0">
                  <a:solidFill>
                    <a:schemeClr val="tx1">
                      <a:lumMod val="50000"/>
                      <a:lumOff val="50000"/>
                    </a:schemeClr>
                  </a:solidFill>
                  <a:cs typeface="+mn-ea"/>
                  <a:sym typeface="+mn-lt"/>
                </a:rPr>
                <a:t>、微软 </a:t>
              </a:r>
              <a:r>
                <a:rPr lang="en-US" altLang="zh-CN" sz="1000" dirty="0">
                  <a:solidFill>
                    <a:schemeClr val="tx1">
                      <a:lumMod val="50000"/>
                      <a:lumOff val="50000"/>
                    </a:schemeClr>
                  </a:solidFill>
                  <a:cs typeface="+mn-ea"/>
                  <a:sym typeface="+mn-lt"/>
                </a:rPr>
                <a:t>Office </a:t>
              </a:r>
              <a:r>
                <a:rPr lang="zh-CN" altLang="en-US" sz="1000" dirty="0">
                  <a:solidFill>
                    <a:schemeClr val="tx1">
                      <a:lumMod val="50000"/>
                      <a:lumOff val="50000"/>
                    </a:schemeClr>
                  </a:solidFill>
                  <a:cs typeface="+mn-ea"/>
                  <a:sym typeface="+mn-lt"/>
                </a:rPr>
                <a:t>系列软件格式以及 </a:t>
              </a:r>
              <a:r>
                <a:rPr lang="en-US" altLang="zh-CN" sz="1000" dirty="0">
                  <a:solidFill>
                    <a:schemeClr val="tx1">
                      <a:lumMod val="50000"/>
                      <a:lumOff val="50000"/>
                    </a:schemeClr>
                  </a:solidFill>
                  <a:cs typeface="+mn-ea"/>
                  <a:sym typeface="+mn-lt"/>
                </a:rPr>
                <a:t>JSON</a:t>
              </a:r>
              <a:r>
                <a:rPr lang="zh-CN" altLang="en-US" sz="1000" dirty="0">
                  <a:solidFill>
                    <a:schemeClr val="tx1">
                      <a:lumMod val="50000"/>
                      <a:lumOff val="50000"/>
                    </a:schemeClr>
                  </a:solidFill>
                  <a:cs typeface="+mn-ea"/>
                  <a:sym typeface="+mn-lt"/>
                </a:rPr>
                <a:t>、</a:t>
              </a:r>
              <a:r>
                <a:rPr lang="en-US" altLang="zh-CN" sz="1000" dirty="0">
                  <a:solidFill>
                    <a:schemeClr val="tx1">
                      <a:lumMod val="50000"/>
                      <a:lumOff val="50000"/>
                    </a:schemeClr>
                  </a:solidFill>
                  <a:cs typeface="+mn-ea"/>
                  <a:sym typeface="+mn-lt"/>
                </a:rPr>
                <a:t>XML</a:t>
              </a:r>
              <a:r>
                <a:rPr lang="zh-CN" altLang="en-US" sz="1000" dirty="0">
                  <a:solidFill>
                    <a:schemeClr val="tx1">
                      <a:lumMod val="50000"/>
                      <a:lumOff val="50000"/>
                    </a:schemeClr>
                  </a:solidFill>
                  <a:cs typeface="+mn-ea"/>
                  <a:sym typeface="+mn-lt"/>
                </a:rPr>
                <a:t>、</a:t>
              </a:r>
              <a:r>
                <a:rPr lang="en-US" altLang="zh-CN" sz="1000" dirty="0">
                  <a:solidFill>
                    <a:schemeClr val="tx1">
                      <a:lumMod val="50000"/>
                      <a:lumOff val="50000"/>
                    </a:schemeClr>
                  </a:solidFill>
                  <a:cs typeface="+mn-ea"/>
                  <a:sym typeface="+mn-lt"/>
                </a:rPr>
                <a:t>CSV </a:t>
              </a:r>
              <a:r>
                <a:rPr lang="zh-CN" altLang="en-US" sz="1000" dirty="0">
                  <a:solidFill>
                    <a:schemeClr val="tx1">
                      <a:lumMod val="50000"/>
                      <a:lumOff val="50000"/>
                    </a:schemeClr>
                  </a:solidFill>
                  <a:cs typeface="+mn-ea"/>
                  <a:sym typeface="+mn-lt"/>
                </a:rPr>
                <a:t>等纯文本格式。</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2. </a:t>
              </a:r>
              <a:r>
                <a:rPr lang="en-US" altLang="zh-CN" sz="1000" dirty="0" err="1">
                  <a:solidFill>
                    <a:schemeClr val="tx1">
                      <a:lumMod val="50000"/>
                      <a:lumOff val="50000"/>
                    </a:schemeClr>
                  </a:solidFill>
                  <a:cs typeface="+mn-ea"/>
                  <a:sym typeface="+mn-lt"/>
                </a:rPr>
                <a:t>Solr</a:t>
              </a:r>
              <a:r>
                <a:rPr lang="zh-CN" altLang="en-US" sz="1000" dirty="0">
                  <a:solidFill>
                    <a:schemeClr val="tx1">
                      <a:lumMod val="50000"/>
                      <a:lumOff val="50000"/>
                    </a:schemeClr>
                  </a:solidFill>
                  <a:cs typeface="+mn-ea"/>
                  <a:sym typeface="+mn-lt"/>
                </a:rPr>
                <a:t>有更加成熟稳定的用户贡献者社区。</a:t>
              </a:r>
              <a:endParaRPr lang="en-US" altLang="zh-CN" sz="1000" dirty="0">
                <a:solidFill>
                  <a:schemeClr val="tx1">
                    <a:lumMod val="50000"/>
                    <a:lumOff val="50000"/>
                  </a:schemeClr>
                </a:solidFill>
                <a:cs typeface="+mn-ea"/>
                <a:sym typeface="+mn-lt"/>
              </a:endParaRPr>
            </a:p>
            <a:p>
              <a:pPr algn="just">
                <a:lnSpc>
                  <a:spcPct val="130000"/>
                </a:lnSpc>
              </a:pPr>
              <a:r>
                <a:rPr lang="en-US" altLang="zh-CN" sz="1000" dirty="0">
                  <a:solidFill>
                    <a:schemeClr val="tx1">
                      <a:lumMod val="50000"/>
                      <a:lumOff val="50000"/>
                    </a:schemeClr>
                  </a:solidFill>
                  <a:cs typeface="+mn-ea"/>
                  <a:sym typeface="+mn-lt"/>
                </a:rPr>
                <a:t>3. </a:t>
              </a:r>
              <a:r>
                <a:rPr lang="zh-CN" altLang="en-US" sz="1000" dirty="0">
                  <a:solidFill>
                    <a:schemeClr val="tx1">
                      <a:lumMod val="50000"/>
                      <a:lumOff val="50000"/>
                    </a:schemeClr>
                  </a:solidFill>
                  <a:cs typeface="+mn-ea"/>
                  <a:sym typeface="+mn-lt"/>
                </a:rPr>
                <a:t>不考虑建索引的同时进行搜索，搜索速度更快。</a:t>
              </a:r>
              <a:endParaRPr lang="en-US" altLang="zh-CN" sz="800" dirty="0">
                <a:solidFill>
                  <a:schemeClr val="tx1">
                    <a:lumMod val="50000"/>
                    <a:lumOff val="50000"/>
                  </a:schemeClr>
                </a:solidFill>
                <a:cs typeface="+mn-ea"/>
                <a:sym typeface="+mn-lt"/>
              </a:endParaRPr>
            </a:p>
            <a:p>
              <a:pPr>
                <a:lnSpc>
                  <a:spcPct val="130000"/>
                </a:lnSpc>
              </a:pPr>
              <a:endParaRPr lang="en-US" altLang="zh-CN" sz="1000" dirty="0">
                <a:solidFill>
                  <a:schemeClr val="tx1">
                    <a:lumMod val="50000"/>
                    <a:lumOff val="50000"/>
                  </a:schemeClr>
                </a:solidFill>
                <a:cs typeface="+mn-ea"/>
                <a:sym typeface="+mn-lt"/>
              </a:endParaRPr>
            </a:p>
          </p:txBody>
        </p:sp>
        <p:sp>
          <p:nvSpPr>
            <p:cNvPr id="62" name="Freeform 7"/>
            <p:cNvSpPr/>
            <p:nvPr/>
          </p:nvSpPr>
          <p:spPr bwMode="auto">
            <a:xfrm>
              <a:off x="5989501" y="3071490"/>
              <a:ext cx="1207060" cy="221977"/>
            </a:xfrm>
            <a:custGeom>
              <a:avLst/>
              <a:gdLst>
                <a:gd name="T0" fmla="*/ 0 w 7631"/>
                <a:gd name="T1" fmla="*/ 374 h 997"/>
                <a:gd name="T2" fmla="*/ 6883 w 7631"/>
                <a:gd name="T3" fmla="*/ 374 h 997"/>
                <a:gd name="T4" fmla="*/ 6765 w 7631"/>
                <a:gd name="T5" fmla="*/ 0 h 997"/>
                <a:gd name="T6" fmla="*/ 7631 w 7631"/>
                <a:gd name="T7" fmla="*/ 498 h 997"/>
                <a:gd name="T8" fmla="*/ 6765 w 7631"/>
                <a:gd name="T9" fmla="*/ 997 h 997"/>
                <a:gd name="T10" fmla="*/ 6883 w 7631"/>
                <a:gd name="T11" fmla="*/ 622 h 997"/>
                <a:gd name="T12" fmla="*/ 0 w 7631"/>
                <a:gd name="T13" fmla="*/ 622 h 997"/>
                <a:gd name="T14" fmla="*/ 0 w 7631"/>
                <a:gd name="T15" fmla="*/ 374 h 9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31" h="997">
                  <a:moveTo>
                    <a:pt x="0" y="374"/>
                  </a:moveTo>
                  <a:lnTo>
                    <a:pt x="6883" y="374"/>
                  </a:lnTo>
                  <a:lnTo>
                    <a:pt x="6765" y="0"/>
                  </a:lnTo>
                  <a:lnTo>
                    <a:pt x="7631" y="498"/>
                  </a:lnTo>
                  <a:lnTo>
                    <a:pt x="6765" y="997"/>
                  </a:lnTo>
                  <a:lnTo>
                    <a:pt x="6883" y="622"/>
                  </a:lnTo>
                  <a:lnTo>
                    <a:pt x="0" y="622"/>
                  </a:lnTo>
                  <a:lnTo>
                    <a:pt x="0" y="374"/>
                  </a:lnTo>
                  <a:close/>
                </a:path>
              </a:pathLst>
            </a:custGeom>
            <a:solidFill>
              <a:schemeClr val="tx1">
                <a:lumMod val="65000"/>
                <a:lumOff val="35000"/>
              </a:schemeClr>
            </a:solidFill>
            <a:ln>
              <a:noFill/>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a:lnSpc>
                  <a:spcPct val="130000"/>
                </a:lnSpc>
              </a:pPr>
              <a:endParaRPr lang="zh-CN" altLang="en-US" dirty="0">
                <a:cs typeface="+mn-ea"/>
                <a:sym typeface="+mn-lt"/>
              </a:endParaRPr>
            </a:p>
          </p:txBody>
        </p:sp>
        <p:sp>
          <p:nvSpPr>
            <p:cNvPr id="63" name="Freeform 7"/>
            <p:cNvSpPr/>
            <p:nvPr/>
          </p:nvSpPr>
          <p:spPr bwMode="auto">
            <a:xfrm>
              <a:off x="5989501" y="4468402"/>
              <a:ext cx="1207060" cy="221977"/>
            </a:xfrm>
            <a:custGeom>
              <a:avLst/>
              <a:gdLst>
                <a:gd name="T0" fmla="*/ 0 w 7631"/>
                <a:gd name="T1" fmla="*/ 374 h 997"/>
                <a:gd name="T2" fmla="*/ 6883 w 7631"/>
                <a:gd name="T3" fmla="*/ 374 h 997"/>
                <a:gd name="T4" fmla="*/ 6765 w 7631"/>
                <a:gd name="T5" fmla="*/ 0 h 997"/>
                <a:gd name="T6" fmla="*/ 7631 w 7631"/>
                <a:gd name="T7" fmla="*/ 498 h 997"/>
                <a:gd name="T8" fmla="*/ 6765 w 7631"/>
                <a:gd name="T9" fmla="*/ 997 h 997"/>
                <a:gd name="T10" fmla="*/ 6883 w 7631"/>
                <a:gd name="T11" fmla="*/ 622 h 997"/>
                <a:gd name="T12" fmla="*/ 0 w 7631"/>
                <a:gd name="T13" fmla="*/ 622 h 997"/>
                <a:gd name="T14" fmla="*/ 0 w 7631"/>
                <a:gd name="T15" fmla="*/ 374 h 9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31" h="997">
                  <a:moveTo>
                    <a:pt x="0" y="374"/>
                  </a:moveTo>
                  <a:lnTo>
                    <a:pt x="6883" y="374"/>
                  </a:lnTo>
                  <a:lnTo>
                    <a:pt x="6765" y="0"/>
                  </a:lnTo>
                  <a:lnTo>
                    <a:pt x="7631" y="498"/>
                  </a:lnTo>
                  <a:lnTo>
                    <a:pt x="6765" y="997"/>
                  </a:lnTo>
                  <a:lnTo>
                    <a:pt x="6883" y="622"/>
                  </a:lnTo>
                  <a:lnTo>
                    <a:pt x="0" y="622"/>
                  </a:lnTo>
                  <a:lnTo>
                    <a:pt x="0" y="374"/>
                  </a:lnTo>
                  <a:close/>
                </a:path>
              </a:pathLst>
            </a:custGeom>
            <a:solidFill>
              <a:schemeClr val="tx1">
                <a:lumMod val="65000"/>
                <a:lumOff val="35000"/>
              </a:schemeClr>
            </a:solidFill>
            <a:ln>
              <a:noFill/>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a:lnSpc>
                  <a:spcPct val="130000"/>
                </a:lnSpc>
              </a:pPr>
              <a:endParaRPr lang="zh-CN" altLang="en-US" dirty="0">
                <a:cs typeface="+mn-ea"/>
                <a:sym typeface="+mn-lt"/>
              </a:endParaRPr>
            </a:p>
          </p:txBody>
        </p:sp>
        <p:sp>
          <p:nvSpPr>
            <p:cNvPr id="64" name="圆角矩形 40"/>
            <p:cNvSpPr/>
            <p:nvPr/>
          </p:nvSpPr>
          <p:spPr>
            <a:xfrm>
              <a:off x="3713118" y="5739928"/>
              <a:ext cx="5087431" cy="472951"/>
            </a:xfrm>
            <a:prstGeom prst="roundRect">
              <a:avLst>
                <a:gd name="adj" fmla="val 50000"/>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65" name="Round Same Side Corner Rectangle 10"/>
            <p:cNvSpPr/>
            <p:nvPr/>
          </p:nvSpPr>
          <p:spPr>
            <a:xfrm rot="5400000">
              <a:off x="3945735" y="5507316"/>
              <a:ext cx="472950" cy="938177"/>
            </a:xfrm>
            <a:prstGeom prst="round2SameRect">
              <a:avLst>
                <a:gd name="adj1" fmla="val 50000"/>
                <a:gd name="adj2" fmla="val 0"/>
              </a:avLst>
            </a:prstGeom>
            <a:solidFill>
              <a:srgbClr val="2A324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dirty="0">
                <a:cs typeface="+mn-ea"/>
                <a:sym typeface="+mn-lt"/>
              </a:endParaRPr>
            </a:p>
          </p:txBody>
        </p:sp>
        <p:sp>
          <p:nvSpPr>
            <p:cNvPr id="66" name="TextBox 42"/>
            <p:cNvSpPr txBox="1"/>
            <p:nvPr/>
          </p:nvSpPr>
          <p:spPr>
            <a:xfrm>
              <a:off x="3801412" y="5785774"/>
              <a:ext cx="1005403" cy="381258"/>
            </a:xfrm>
            <a:prstGeom prst="rect">
              <a:avLst/>
            </a:prstGeom>
            <a:noFill/>
          </p:spPr>
          <p:txBody>
            <a:bodyPr wrap="square" rtlCol="0">
              <a:spAutoFit/>
            </a:bodyPr>
            <a:lstStyle/>
            <a:p>
              <a:pPr>
                <a:lnSpc>
                  <a:spcPct val="130000"/>
                </a:lnSpc>
              </a:pPr>
              <a:r>
                <a:rPr lang="zh-CN" altLang="en-US" sz="2400" baseline="-3000" dirty="0">
                  <a:solidFill>
                    <a:schemeClr val="bg1"/>
                  </a:solidFill>
                  <a:cs typeface="+mn-ea"/>
                  <a:sym typeface="+mn-lt"/>
                </a:rPr>
                <a:t>总结</a:t>
              </a:r>
              <a:endParaRPr lang="zh-CN" altLang="en-US" sz="2400" baseline="-3000" dirty="0">
                <a:solidFill>
                  <a:schemeClr val="bg1"/>
                </a:solidFill>
                <a:cs typeface="+mn-ea"/>
                <a:sym typeface="+mn-lt"/>
              </a:endParaRPr>
            </a:p>
          </p:txBody>
        </p:sp>
        <p:sp>
          <p:nvSpPr>
            <p:cNvPr id="67" name="TextBox 43"/>
            <p:cNvSpPr txBox="1"/>
            <p:nvPr/>
          </p:nvSpPr>
          <p:spPr>
            <a:xfrm>
              <a:off x="4651299" y="5813501"/>
              <a:ext cx="4339592" cy="308995"/>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cs typeface="+mn-ea"/>
                  <a:sym typeface="+mn-lt"/>
                </a:rPr>
                <a:t>当单纯的对已有数据进行搜索时，</a:t>
              </a:r>
              <a:r>
                <a:rPr lang="en-US" altLang="zh-CN" sz="1200" dirty="0" err="1">
                  <a:solidFill>
                    <a:schemeClr val="tx1">
                      <a:lumMod val="50000"/>
                      <a:lumOff val="50000"/>
                    </a:schemeClr>
                  </a:solidFill>
                  <a:cs typeface="+mn-ea"/>
                  <a:sym typeface="+mn-lt"/>
                </a:rPr>
                <a:t>Solr</a:t>
              </a:r>
              <a:r>
                <a:rPr lang="zh-CN" altLang="en-US" sz="1200" dirty="0">
                  <a:solidFill>
                    <a:schemeClr val="tx1">
                      <a:lumMod val="50000"/>
                      <a:lumOff val="50000"/>
                    </a:schemeClr>
                  </a:solidFill>
                  <a:cs typeface="+mn-ea"/>
                  <a:sym typeface="+mn-lt"/>
                </a:rPr>
                <a:t>具有更高的搜索效率。</a:t>
              </a:r>
              <a:endParaRPr lang="en-US" altLang="zh-CN" sz="1200" dirty="0">
                <a:solidFill>
                  <a:schemeClr val="tx1">
                    <a:lumMod val="50000"/>
                    <a:lumOff val="50000"/>
                  </a:schemeClr>
                </a:solidFill>
                <a:cs typeface="+mn-ea"/>
                <a:sym typeface="+mn-lt"/>
              </a:endParaRPr>
            </a:p>
          </p:txBody>
        </p:sp>
        <p:pic>
          <p:nvPicPr>
            <p:cNvPr id="68" name="图片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1536" y="1339164"/>
              <a:ext cx="4208927" cy="1313832"/>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相关数据处理</a:t>
            </a:r>
            <a:endParaRPr lang="zh-CN" altLang="en-US" sz="2800" dirty="0">
              <a:solidFill>
                <a:srgbClr val="0150A2"/>
              </a:solidFill>
              <a:ea typeface="微软雅黑" panose="020B0503020204020204" pitchFamily="34" charset="-122"/>
              <a:cs typeface="Times New Roman" panose="02020603050405020304" pitchFamily="18" charset="0"/>
            </a:endParaRPr>
          </a:p>
        </p:txBody>
      </p:sp>
      <p:sp>
        <p:nvSpPr>
          <p:cNvPr id="15" name="Text Box 5"/>
          <p:cNvSpPr txBox="1">
            <a:spLocks noChangeArrowheads="1"/>
          </p:cNvSpPr>
          <p:nvPr/>
        </p:nvSpPr>
        <p:spPr bwMode="auto">
          <a:xfrm>
            <a:off x="1128713" y="1322722"/>
            <a:ext cx="10300278" cy="3256597"/>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由于数据库中的 </a:t>
            </a:r>
            <a:r>
              <a:rPr lang="en-US" altLang="zh-CN" sz="2000" b="0" dirty="0" err="1">
                <a:ea typeface="微软雅黑" panose="020B0503020204020204" pitchFamily="34" charset="-122"/>
                <a:cs typeface="Times New Roman" panose="02020603050405020304" pitchFamily="18" charset="0"/>
              </a:rPr>
              <a:t>gyy_area</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表内的地区之间的层级关系的记录方式为通过属性 </a:t>
            </a:r>
            <a:r>
              <a:rPr lang="en-US" altLang="zh-CN" sz="2000" b="0" dirty="0" err="1">
                <a:ea typeface="微软雅黑" panose="020B0503020204020204" pitchFamily="34" charset="-122"/>
                <a:cs typeface="Times New Roman" panose="02020603050405020304" pitchFamily="18" charset="0"/>
              </a:rPr>
              <a:t>arrparentid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和 </a:t>
            </a:r>
            <a:r>
              <a:rPr lang="en-US" altLang="zh-CN" sz="2000" b="0" dirty="0" err="1">
                <a:ea typeface="微软雅黑" panose="020B0503020204020204" pitchFamily="34" charset="-122"/>
                <a:cs typeface="Times New Roman" panose="02020603050405020304" pitchFamily="18" charset="0"/>
              </a:rPr>
              <a:t>arrchildid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来分别进行保存，且 </a:t>
            </a:r>
            <a:r>
              <a:rPr lang="en-US" altLang="zh-CN" sz="2000" b="0" dirty="0" err="1">
                <a:ea typeface="微软雅黑" panose="020B0503020204020204" pitchFamily="34" charset="-122"/>
                <a:cs typeface="Times New Roman" panose="02020603050405020304" pitchFamily="18" charset="0"/>
              </a:rPr>
              <a:t>parentid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属性中只保存了上级地区的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，如下图所示。</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在观察了龙智造官网的地区限制后发现，对于地区的查询只需要 省</a:t>
            </a:r>
            <a:r>
              <a:rPr lang="en-US" altLang="zh-CN" sz="2000" b="0" dirty="0">
                <a:ea typeface="微软雅黑" panose="020B0503020204020204" pitchFamily="34" charset="-122"/>
                <a:cs typeface="Times New Roman" panose="02020603050405020304" pitchFamily="18" charset="0"/>
              </a:rPr>
              <a:t>/</a:t>
            </a:r>
            <a:r>
              <a:rPr lang="zh-CN" altLang="en-US" sz="2000" b="0" dirty="0">
                <a:ea typeface="微软雅黑" panose="020B0503020204020204" pitchFamily="34" charset="-122"/>
                <a:cs typeface="Times New Roman" panose="02020603050405020304" pitchFamily="18" charset="0"/>
              </a:rPr>
              <a:t>直辖市 对应的 </a:t>
            </a:r>
            <a:r>
              <a:rPr lang="en-US" altLang="zh-CN" sz="2000" b="0" dirty="0">
                <a:ea typeface="微软雅黑" panose="020B0503020204020204" pitchFamily="34" charset="-122"/>
                <a:cs typeface="Times New Roman" panose="02020603050405020304" pitchFamily="18" charset="0"/>
              </a:rPr>
              <a:t>id </a:t>
            </a:r>
            <a:r>
              <a:rPr lang="zh-CN" altLang="en-US" sz="2000" b="0" dirty="0">
                <a:ea typeface="微软雅黑" panose="020B0503020204020204" pitchFamily="34" charset="-122"/>
                <a:cs typeface="Times New Roman" panose="02020603050405020304" pitchFamily="18" charset="0"/>
              </a:rPr>
              <a:t>即可，但在 </a:t>
            </a:r>
            <a:r>
              <a:rPr lang="en-US" altLang="zh-CN" sz="2000" b="0" dirty="0" err="1">
                <a:ea typeface="微软雅黑" panose="020B0503020204020204" pitchFamily="34" charset="-122"/>
                <a:cs typeface="Times New Roman" panose="02020603050405020304" pitchFamily="18" charset="0"/>
              </a:rPr>
              <a:t>gyy_area</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表中并没有可以直接体现一个 </a:t>
            </a:r>
            <a:r>
              <a:rPr lang="en-US" altLang="zh-CN" sz="2000" b="0" dirty="0" err="1">
                <a:ea typeface="微软雅黑" panose="020B0503020204020204" pitchFamily="34" charset="-122"/>
                <a:cs typeface="Times New Roman" panose="02020603050405020304" pitchFamily="18" charset="0"/>
              </a:rPr>
              <a:t>areaid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对应的地区的最上层省</a:t>
            </a:r>
            <a:r>
              <a:rPr lang="en-US" altLang="zh-CN" sz="2000" b="0" dirty="0">
                <a:ea typeface="微软雅黑" panose="020B0503020204020204" pitchFamily="34" charset="-122"/>
                <a:cs typeface="Times New Roman" panose="02020603050405020304" pitchFamily="18" charset="0"/>
              </a:rPr>
              <a:t>/</a:t>
            </a:r>
            <a:r>
              <a:rPr lang="zh-CN" altLang="en-US" sz="2000" b="0" dirty="0">
                <a:ea typeface="微软雅黑" panose="020B0503020204020204" pitchFamily="34" charset="-122"/>
                <a:cs typeface="Times New Roman" panose="02020603050405020304" pitchFamily="18" charset="0"/>
              </a:rPr>
              <a:t>直辖市 的直观信息，因此对 </a:t>
            </a:r>
            <a:r>
              <a:rPr lang="en-US" altLang="zh-CN" sz="2000" b="0" dirty="0" err="1">
                <a:ea typeface="微软雅黑" panose="020B0503020204020204" pitchFamily="34" charset="-122"/>
                <a:cs typeface="Times New Roman" panose="02020603050405020304" pitchFamily="18" charset="0"/>
              </a:rPr>
              <a:t>gyy_area</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表进行了数据处理，将 </a:t>
            </a:r>
            <a:r>
              <a:rPr lang="en-US" altLang="zh-CN" sz="2000" b="0" dirty="0" err="1">
                <a:ea typeface="微软雅黑" panose="020B0503020204020204" pitchFamily="34" charset="-122"/>
                <a:cs typeface="Times New Roman" panose="02020603050405020304" pitchFamily="18" charset="0"/>
              </a:rPr>
              <a:t>parentid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统一存储为最上层的 省</a:t>
            </a:r>
            <a:r>
              <a:rPr lang="en-US" altLang="zh-CN" sz="2000" b="0" dirty="0">
                <a:ea typeface="微软雅黑" panose="020B0503020204020204" pitchFamily="34" charset="-122"/>
                <a:cs typeface="Times New Roman" panose="02020603050405020304" pitchFamily="18" charset="0"/>
              </a:rPr>
              <a:t>/</a:t>
            </a:r>
            <a:r>
              <a:rPr lang="zh-CN" altLang="en-US" sz="2000" b="0" dirty="0">
                <a:ea typeface="微软雅黑" panose="020B0503020204020204" pitchFamily="34" charset="-122"/>
                <a:cs typeface="Times New Roman" panose="02020603050405020304" pitchFamily="18" charset="0"/>
              </a:rPr>
              <a:t>直辖市 的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，省</a:t>
            </a:r>
            <a:r>
              <a:rPr lang="en-US" altLang="zh-CN" sz="2000" b="0" dirty="0">
                <a:ea typeface="微软雅黑" panose="020B0503020204020204" pitchFamily="34" charset="-122"/>
                <a:cs typeface="Times New Roman" panose="02020603050405020304" pitchFamily="18" charset="0"/>
              </a:rPr>
              <a:t>/</a:t>
            </a:r>
            <a:r>
              <a:rPr lang="zh-CN" altLang="en-US" sz="2000" b="0" dirty="0">
                <a:ea typeface="微软雅黑" panose="020B0503020204020204" pitchFamily="34" charset="-122"/>
                <a:cs typeface="Times New Roman" panose="02020603050405020304" pitchFamily="18" charset="0"/>
              </a:rPr>
              <a:t>直辖市 的 </a:t>
            </a:r>
            <a:r>
              <a:rPr lang="en-US" altLang="zh-CN" sz="2000" b="0" dirty="0" err="1">
                <a:ea typeface="微软雅黑" panose="020B0503020204020204" pitchFamily="34" charset="-122"/>
                <a:cs typeface="Times New Roman" panose="02020603050405020304" pitchFamily="18" charset="0"/>
              </a:rPr>
              <a:t>parentid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同一为自身。这样处理之后，在用户限制查询某一个地区的商品时，可以直接根据 </a:t>
            </a:r>
            <a:r>
              <a:rPr lang="en-US" altLang="zh-CN" sz="2000" b="0" dirty="0" err="1">
                <a:ea typeface="微软雅黑" panose="020B0503020204020204" pitchFamily="34" charset="-122"/>
                <a:cs typeface="Times New Roman" panose="02020603050405020304" pitchFamily="18" charset="0"/>
              </a:rPr>
              <a:t>parentid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进行查询，省去了根据  </a:t>
            </a:r>
            <a:r>
              <a:rPr lang="en-US" altLang="zh-CN" sz="2000" b="0" dirty="0" err="1">
                <a:ea typeface="微软雅黑" panose="020B0503020204020204" pitchFamily="34" charset="-122"/>
                <a:cs typeface="Times New Roman" panose="02020603050405020304" pitchFamily="18" charset="0"/>
              </a:rPr>
              <a:t>arrparentid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和 </a:t>
            </a:r>
            <a:r>
              <a:rPr lang="en-US" altLang="zh-CN" sz="2000" b="0" dirty="0" err="1">
                <a:ea typeface="微软雅黑" panose="020B0503020204020204" pitchFamily="34" charset="-122"/>
                <a:cs typeface="Times New Roman" panose="02020603050405020304" pitchFamily="18" charset="0"/>
              </a:rPr>
              <a:t>arrchildid</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分别向上和向下寻找子级的过程。</a:t>
            </a:r>
            <a:endParaRPr lang="zh-CN" altLang="en-US" sz="2000" b="0" dirty="0">
              <a:ea typeface="微软雅黑" panose="020B0503020204020204" pitchFamily="34" charset="-122"/>
              <a:cs typeface="Times New Roman" panose="02020603050405020304" pitchFamily="18" charset="0"/>
            </a:endParaRPr>
          </a:p>
        </p:txBody>
      </p:sp>
      <p:pic>
        <p:nvPicPr>
          <p:cNvPr id="16" name="图片 15"/>
          <p:cNvPicPr>
            <a:picLocks noChangeAspect="1"/>
          </p:cNvPicPr>
          <p:nvPr/>
        </p:nvPicPr>
        <p:blipFill>
          <a:blip r:embed="rId3"/>
          <a:stretch>
            <a:fillRect/>
          </a:stretch>
        </p:blipFill>
        <p:spPr>
          <a:xfrm>
            <a:off x="2349840" y="4757702"/>
            <a:ext cx="7492321" cy="147609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相关处理函数和数据表截图</a:t>
            </a:r>
            <a:endParaRPr lang="zh-CN" altLang="en-US" sz="2800" dirty="0">
              <a:solidFill>
                <a:srgbClr val="0150A2"/>
              </a:solidFill>
              <a:ea typeface="微软雅黑" panose="020B0503020204020204" pitchFamily="34" charset="-122"/>
              <a:cs typeface="Times New Roman" panose="02020603050405020304" pitchFamily="18" charset="0"/>
            </a:endParaRPr>
          </a:p>
        </p:txBody>
      </p:sp>
      <p:pic>
        <p:nvPicPr>
          <p:cNvPr id="17" name="图片 16"/>
          <p:cNvPicPr>
            <a:picLocks noChangeAspect="1"/>
          </p:cNvPicPr>
          <p:nvPr/>
        </p:nvPicPr>
        <p:blipFill>
          <a:blip r:embed="rId3"/>
          <a:stretch>
            <a:fillRect/>
          </a:stretch>
        </p:blipFill>
        <p:spPr>
          <a:xfrm>
            <a:off x="838727" y="1451723"/>
            <a:ext cx="8154670" cy="3573780"/>
          </a:xfrm>
          <a:prstGeom prst="rect">
            <a:avLst/>
          </a:prstGeom>
        </p:spPr>
      </p:pic>
      <p:pic>
        <p:nvPicPr>
          <p:cNvPr id="18" name="图片 17"/>
          <p:cNvPicPr>
            <a:picLocks noChangeAspect="1"/>
          </p:cNvPicPr>
          <p:nvPr/>
        </p:nvPicPr>
        <p:blipFill>
          <a:blip r:embed="rId4"/>
          <a:stretch>
            <a:fillRect/>
          </a:stretch>
        </p:blipFill>
        <p:spPr>
          <a:xfrm>
            <a:off x="6088693" y="2397923"/>
            <a:ext cx="5105400" cy="39547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单条件查询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10798510" y="1507128"/>
            <a:ext cx="479700" cy="4604972"/>
            <a:chOff x="10994103" y="1484783"/>
            <a:chExt cx="502571" cy="4824537"/>
          </a:xfrm>
        </p:grpSpPr>
        <p:sp>
          <p:nvSpPr>
            <p:cNvPr id="1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1" name="直接连接符 20"/>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3"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4" name="直接连接符 23"/>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970794" y="1525948"/>
            <a:ext cx="5154903" cy="695624"/>
            <a:chOff x="695325" y="1484784"/>
            <a:chExt cx="5400675" cy="728790"/>
          </a:xfrm>
          <a:solidFill>
            <a:srgbClr val="BA8F2D"/>
          </a:solidFill>
          <a:effectLst>
            <a:outerShdw blurRad="254000" dist="63500" dir="2700000" algn="tl" rotWithShape="0">
              <a:prstClr val="black">
                <a:alpha val="30000"/>
              </a:prstClr>
            </a:outerShdw>
          </a:effectLst>
        </p:grpSpPr>
        <p:sp>
          <p:nvSpPr>
            <p:cNvPr id="26"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7" name="TextBox 19"/>
            <p:cNvSpPr txBox="1"/>
            <p:nvPr/>
          </p:nvSpPr>
          <p:spPr>
            <a:xfrm>
              <a:off x="1973998" y="1513245"/>
              <a:ext cx="2843328"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单条件查询</a:t>
              </a:r>
              <a:endParaRPr lang="zh-CN" altLang="en-US" sz="2800" dirty="0">
                <a:solidFill>
                  <a:schemeClr val="bg1">
                    <a:lumMod val="95000"/>
                  </a:schemeClr>
                </a:solidFill>
                <a:cs typeface="+mn-ea"/>
                <a:sym typeface="+mn-lt"/>
              </a:endParaRPr>
            </a:p>
          </p:txBody>
        </p:sp>
      </p:grpSp>
      <p:grpSp>
        <p:nvGrpSpPr>
          <p:cNvPr id="28" name="组合 27"/>
          <p:cNvGrpSpPr/>
          <p:nvPr/>
        </p:nvGrpSpPr>
        <p:grpSpPr>
          <a:xfrm>
            <a:off x="6123307" y="1514240"/>
            <a:ext cx="5154903" cy="695624"/>
            <a:chOff x="6212764" y="1588075"/>
            <a:chExt cx="5400675" cy="728790"/>
          </a:xfrm>
          <a:solidFill>
            <a:srgbClr val="2A3246"/>
          </a:solidFill>
          <a:effectLst>
            <a:outerShdw blurRad="254000" dist="63500" dir="2700000" algn="tl" rotWithShape="0">
              <a:prstClr val="black">
                <a:alpha val="30000"/>
              </a:prstClr>
            </a:outerShdw>
          </a:effectLst>
        </p:grpSpPr>
        <p:sp>
          <p:nvSpPr>
            <p:cNvPr id="29"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30" name="TextBox 19"/>
            <p:cNvSpPr txBox="1"/>
            <p:nvPr/>
          </p:nvSpPr>
          <p:spPr>
            <a:xfrm>
              <a:off x="7450315" y="1616536"/>
              <a:ext cx="2925572"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查询结果</a:t>
              </a:r>
              <a:endParaRPr lang="zh-CN" altLang="en-US" sz="2800" dirty="0">
                <a:solidFill>
                  <a:schemeClr val="bg1">
                    <a:lumMod val="95000"/>
                  </a:schemeClr>
                </a:solidFill>
                <a:cs typeface="+mn-ea"/>
                <a:sym typeface="+mn-lt"/>
              </a:endParaRPr>
            </a:p>
          </p:txBody>
        </p:sp>
      </p:grpSp>
      <p:sp>
        <p:nvSpPr>
          <p:cNvPr id="31" name="TextBox 106"/>
          <p:cNvSpPr txBox="1"/>
          <p:nvPr/>
        </p:nvSpPr>
        <p:spPr>
          <a:xfrm>
            <a:off x="1550124" y="2609522"/>
            <a:ext cx="3544390" cy="532838"/>
          </a:xfrm>
          <a:prstGeom prst="rect">
            <a:avLst/>
          </a:prstGeom>
          <a:noFill/>
        </p:spPr>
        <p:txBody>
          <a:bodyPr wrap="square" lIns="0" tIns="0" rIns="0" bIns="0" rtlCol="0">
            <a:spAutoFit/>
          </a:bodyPr>
          <a:lstStyle/>
          <a:p>
            <a:pPr>
              <a:lnSpc>
                <a:spcPct val="130000"/>
              </a:lnSpc>
            </a:pPr>
            <a:r>
              <a:rPr lang="zh-CN" altLang="en-US" sz="1400" dirty="0">
                <a:solidFill>
                  <a:schemeClr val="tx1">
                    <a:lumMod val="50000"/>
                    <a:lumOff val="50000"/>
                  </a:schemeClr>
                </a:solidFill>
                <a:cs typeface="+mn-ea"/>
                <a:sym typeface="+mn-lt"/>
              </a:rPr>
              <a:t>检索包含关键字“螺丝”的全部上商品信息</a:t>
            </a:r>
            <a:br>
              <a:rPr lang="zh-CN" altLang="en-US" sz="1400" dirty="0">
                <a:solidFill>
                  <a:schemeClr val="tx1">
                    <a:lumMod val="50000"/>
                    <a:lumOff val="50000"/>
                  </a:schemeClr>
                </a:solidFill>
                <a:cs typeface="+mn-ea"/>
                <a:sym typeface="+mn-lt"/>
              </a:rPr>
            </a:br>
            <a:endParaRPr lang="en-US" altLang="zh-CN" sz="1400" dirty="0">
              <a:solidFill>
                <a:schemeClr val="tx1">
                  <a:lumMod val="50000"/>
                  <a:lumOff val="50000"/>
                </a:schemeClr>
              </a:solidFill>
              <a:cs typeface="+mn-ea"/>
              <a:sym typeface="+mn-lt"/>
            </a:endParaRPr>
          </a:p>
        </p:txBody>
      </p:sp>
      <p:pic>
        <p:nvPicPr>
          <p:cNvPr id="32" name="图片 31"/>
          <p:cNvPicPr>
            <a:picLocks noChangeAspect="1"/>
          </p:cNvPicPr>
          <p:nvPr/>
        </p:nvPicPr>
        <p:blipFill>
          <a:blip r:embed="rId3"/>
          <a:stretch>
            <a:fillRect/>
          </a:stretch>
        </p:blipFill>
        <p:spPr>
          <a:xfrm>
            <a:off x="1419960" y="3100505"/>
            <a:ext cx="4850531" cy="2534676"/>
          </a:xfrm>
          <a:prstGeom prst="rect">
            <a:avLst/>
          </a:prstGeom>
        </p:spPr>
      </p:pic>
      <p:pic>
        <p:nvPicPr>
          <p:cNvPr id="3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753" y="2271606"/>
            <a:ext cx="4312767" cy="4053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单条件查询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34" name="组合 33"/>
          <p:cNvGrpSpPr/>
          <p:nvPr/>
        </p:nvGrpSpPr>
        <p:grpSpPr>
          <a:xfrm>
            <a:off x="10798510" y="1507128"/>
            <a:ext cx="479700" cy="4604972"/>
            <a:chOff x="10994103" y="1484783"/>
            <a:chExt cx="502571" cy="4824537"/>
          </a:xfrm>
        </p:grpSpPr>
        <p:sp>
          <p:nvSpPr>
            <p:cNvPr id="35"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36" name="直接连接符 35"/>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38"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39" name="直接连接符 38"/>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970915" y="1525905"/>
            <a:ext cx="3383280" cy="695325"/>
            <a:chOff x="695325" y="1484784"/>
            <a:chExt cx="5400675" cy="728790"/>
          </a:xfrm>
          <a:solidFill>
            <a:srgbClr val="BA8F2D"/>
          </a:solidFill>
          <a:effectLst>
            <a:outerShdw blurRad="254000" dist="63500" dir="2700000" algn="tl" rotWithShape="0">
              <a:prstClr val="black">
                <a:alpha val="30000"/>
              </a:prstClr>
            </a:outerShdw>
          </a:effectLst>
        </p:grpSpPr>
        <p:sp>
          <p:nvSpPr>
            <p:cNvPr id="41"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42" name="TextBox 19"/>
            <p:cNvSpPr txBox="1"/>
            <p:nvPr/>
          </p:nvSpPr>
          <p:spPr>
            <a:xfrm>
              <a:off x="1973998" y="1513245"/>
              <a:ext cx="2843328"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响应时间</a:t>
              </a:r>
              <a:endParaRPr lang="zh-CN" altLang="en-US" sz="2800" dirty="0">
                <a:solidFill>
                  <a:schemeClr val="bg1">
                    <a:lumMod val="95000"/>
                  </a:schemeClr>
                </a:solidFill>
                <a:cs typeface="+mn-ea"/>
                <a:sym typeface="+mn-lt"/>
              </a:endParaRPr>
            </a:p>
          </p:txBody>
        </p:sp>
      </p:grpSp>
      <p:grpSp>
        <p:nvGrpSpPr>
          <p:cNvPr id="43" name="组合 42"/>
          <p:cNvGrpSpPr/>
          <p:nvPr/>
        </p:nvGrpSpPr>
        <p:grpSpPr>
          <a:xfrm>
            <a:off x="4658360" y="1506855"/>
            <a:ext cx="6619875" cy="695325"/>
            <a:chOff x="6212764" y="1588075"/>
            <a:chExt cx="5400675" cy="728790"/>
          </a:xfrm>
          <a:solidFill>
            <a:srgbClr val="2A3246"/>
          </a:solidFill>
          <a:effectLst>
            <a:outerShdw blurRad="254000" dist="63500" dir="2700000" algn="tl" rotWithShape="0">
              <a:prstClr val="black">
                <a:alpha val="30000"/>
              </a:prstClr>
            </a:outerShdw>
          </a:effectLst>
        </p:grpSpPr>
        <p:sp>
          <p:nvSpPr>
            <p:cNvPr id="44"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45" name="TextBox 19"/>
            <p:cNvSpPr txBox="1"/>
            <p:nvPr/>
          </p:nvSpPr>
          <p:spPr>
            <a:xfrm>
              <a:off x="7450315" y="1616536"/>
              <a:ext cx="2925572"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前端结果</a:t>
              </a:r>
              <a:endParaRPr lang="zh-CN" altLang="en-US" sz="2800" dirty="0">
                <a:solidFill>
                  <a:schemeClr val="bg1">
                    <a:lumMod val="95000"/>
                  </a:schemeClr>
                </a:solidFill>
                <a:cs typeface="+mn-ea"/>
                <a:sym typeface="+mn-lt"/>
              </a:endParaRPr>
            </a:p>
          </p:txBody>
        </p:sp>
      </p:grpSp>
      <p:pic>
        <p:nvPicPr>
          <p:cNvPr id="46" name="图片 45"/>
          <p:cNvPicPr>
            <a:picLocks noChangeAspect="1"/>
          </p:cNvPicPr>
          <p:nvPr/>
        </p:nvPicPr>
        <p:blipFill>
          <a:blip r:embed="rId3"/>
          <a:stretch>
            <a:fillRect/>
          </a:stretch>
        </p:blipFill>
        <p:spPr>
          <a:xfrm>
            <a:off x="4658360" y="2559685"/>
            <a:ext cx="6619875" cy="3284220"/>
          </a:xfrm>
          <a:prstGeom prst="rect">
            <a:avLst/>
          </a:prstGeom>
        </p:spPr>
      </p:pic>
      <p:pic>
        <p:nvPicPr>
          <p:cNvPr id="47" name="图片 46"/>
          <p:cNvPicPr>
            <a:picLocks noChangeAspect="1"/>
          </p:cNvPicPr>
          <p:nvPr/>
        </p:nvPicPr>
        <p:blipFill>
          <a:blip r:embed="rId4"/>
          <a:stretch>
            <a:fillRect/>
          </a:stretch>
        </p:blipFill>
        <p:spPr>
          <a:xfrm>
            <a:off x="970915" y="2700655"/>
            <a:ext cx="3383280" cy="30022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多条件查询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25" name="组合 24"/>
          <p:cNvGrpSpPr/>
          <p:nvPr/>
        </p:nvGrpSpPr>
        <p:grpSpPr>
          <a:xfrm>
            <a:off x="10798510" y="1507128"/>
            <a:ext cx="479700" cy="4604972"/>
            <a:chOff x="10994103" y="1484783"/>
            <a:chExt cx="502571" cy="4824537"/>
          </a:xfrm>
        </p:grpSpPr>
        <p:sp>
          <p:nvSpPr>
            <p:cNvPr id="2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7" name="直接连接符 26"/>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9"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30" name="直接连接符 29"/>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970794" y="1525948"/>
            <a:ext cx="5154903" cy="695624"/>
            <a:chOff x="695325" y="1484784"/>
            <a:chExt cx="5400675" cy="728790"/>
          </a:xfrm>
          <a:solidFill>
            <a:srgbClr val="BA8F2D"/>
          </a:solidFill>
          <a:effectLst>
            <a:outerShdw blurRad="254000" dist="63500" dir="2700000" algn="tl" rotWithShape="0">
              <a:prstClr val="black">
                <a:alpha val="30000"/>
              </a:prstClr>
            </a:outerShdw>
          </a:effectLst>
        </p:grpSpPr>
        <p:sp>
          <p:nvSpPr>
            <p:cNvPr id="32"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33" name="TextBox 19"/>
            <p:cNvSpPr txBox="1"/>
            <p:nvPr/>
          </p:nvSpPr>
          <p:spPr>
            <a:xfrm>
              <a:off x="1973998" y="1513245"/>
              <a:ext cx="2843328"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多条件查询</a:t>
              </a:r>
              <a:endParaRPr lang="zh-CN" altLang="en-US" sz="2800" dirty="0">
                <a:solidFill>
                  <a:schemeClr val="bg1">
                    <a:lumMod val="95000"/>
                  </a:schemeClr>
                </a:solidFill>
                <a:cs typeface="+mn-ea"/>
                <a:sym typeface="+mn-lt"/>
              </a:endParaRPr>
            </a:p>
          </p:txBody>
        </p:sp>
      </p:grpSp>
      <p:grpSp>
        <p:nvGrpSpPr>
          <p:cNvPr id="48" name="组合 47"/>
          <p:cNvGrpSpPr/>
          <p:nvPr/>
        </p:nvGrpSpPr>
        <p:grpSpPr>
          <a:xfrm>
            <a:off x="6123307" y="1514240"/>
            <a:ext cx="5154903" cy="695624"/>
            <a:chOff x="6212764" y="1588075"/>
            <a:chExt cx="5400675" cy="728790"/>
          </a:xfrm>
          <a:solidFill>
            <a:srgbClr val="2A3246"/>
          </a:solidFill>
          <a:effectLst>
            <a:outerShdw blurRad="254000" dist="63500" dir="2700000" algn="tl" rotWithShape="0">
              <a:prstClr val="black">
                <a:alpha val="30000"/>
              </a:prstClr>
            </a:outerShdw>
          </a:effectLst>
        </p:grpSpPr>
        <p:sp>
          <p:nvSpPr>
            <p:cNvPr id="49"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50" name="TextBox 19"/>
            <p:cNvSpPr txBox="1"/>
            <p:nvPr/>
          </p:nvSpPr>
          <p:spPr>
            <a:xfrm>
              <a:off x="7450315" y="1616536"/>
              <a:ext cx="2925572"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查询结果</a:t>
              </a:r>
              <a:endParaRPr lang="zh-CN" altLang="en-US" sz="2800" dirty="0">
                <a:solidFill>
                  <a:schemeClr val="bg1">
                    <a:lumMod val="95000"/>
                  </a:schemeClr>
                </a:solidFill>
                <a:cs typeface="+mn-ea"/>
                <a:sym typeface="+mn-lt"/>
              </a:endParaRPr>
            </a:p>
          </p:txBody>
        </p:sp>
      </p:grpSp>
      <p:sp>
        <p:nvSpPr>
          <p:cNvPr id="51" name="TextBox 106"/>
          <p:cNvSpPr txBox="1"/>
          <p:nvPr/>
        </p:nvSpPr>
        <p:spPr>
          <a:xfrm>
            <a:off x="1550123" y="2609522"/>
            <a:ext cx="4312763" cy="812915"/>
          </a:xfrm>
          <a:prstGeom prst="rect">
            <a:avLst/>
          </a:prstGeom>
          <a:noFill/>
        </p:spPr>
        <p:txBody>
          <a:bodyPr wrap="square" lIns="0" tIns="0" rIns="0" bIns="0" rtlCol="0">
            <a:spAutoFit/>
          </a:bodyPr>
          <a:lstStyle/>
          <a:p>
            <a:pPr>
              <a:lnSpc>
                <a:spcPct val="130000"/>
              </a:lnSpc>
            </a:pPr>
            <a:r>
              <a:rPr lang="zh-CN" altLang="en-US" sz="1400" dirty="0">
                <a:solidFill>
                  <a:schemeClr val="tx1">
                    <a:lumMod val="50000"/>
                    <a:lumOff val="50000"/>
                  </a:schemeClr>
                </a:solidFill>
                <a:cs typeface="+mn-ea"/>
                <a:sym typeface="+mn-lt"/>
              </a:rPr>
              <a:t>检索关键字“螺丝”和地区 </a:t>
            </a:r>
            <a:r>
              <a:rPr lang="en-US" altLang="zh-CN" sz="1400" dirty="0">
                <a:solidFill>
                  <a:schemeClr val="tx1">
                    <a:lumMod val="50000"/>
                    <a:lumOff val="50000"/>
                  </a:schemeClr>
                </a:solidFill>
                <a:cs typeface="+mn-ea"/>
                <a:sym typeface="+mn-lt"/>
              </a:rPr>
              <a:t>id = 22 </a:t>
            </a:r>
            <a:r>
              <a:rPr lang="zh-CN" altLang="en-US" sz="1400" dirty="0">
                <a:solidFill>
                  <a:schemeClr val="tx1">
                    <a:lumMod val="50000"/>
                    <a:lumOff val="50000"/>
                  </a:schemeClr>
                </a:solidFill>
                <a:cs typeface="+mn-ea"/>
                <a:sym typeface="+mn-lt"/>
              </a:rPr>
              <a:t>以及只返回 </a:t>
            </a:r>
            <a:r>
              <a:rPr lang="en-US" altLang="zh-CN" sz="1400" dirty="0" err="1">
                <a:solidFill>
                  <a:schemeClr val="tx1">
                    <a:lumMod val="50000"/>
                    <a:lumOff val="50000"/>
                  </a:schemeClr>
                </a:solidFill>
                <a:cs typeface="+mn-ea"/>
                <a:sym typeface="+mn-lt"/>
              </a:rPr>
              <a:t>vip</a:t>
            </a:r>
            <a:r>
              <a:rPr lang="en-US" altLang="zh-CN" sz="1400" dirty="0">
                <a:solidFill>
                  <a:schemeClr val="tx1">
                    <a:lumMod val="50000"/>
                    <a:lumOff val="50000"/>
                  </a:schemeClr>
                </a:solidFill>
                <a:cs typeface="+mn-ea"/>
                <a:sym typeface="+mn-lt"/>
              </a:rPr>
              <a:t> </a:t>
            </a:r>
            <a:r>
              <a:rPr lang="zh-CN" altLang="en-US" sz="1400" dirty="0">
                <a:solidFill>
                  <a:schemeClr val="tx1">
                    <a:lumMod val="50000"/>
                    <a:lumOff val="50000"/>
                  </a:schemeClr>
                </a:solidFill>
                <a:cs typeface="+mn-ea"/>
                <a:sym typeface="+mn-lt"/>
              </a:rPr>
              <a:t>结果作为限制条件</a:t>
            </a:r>
            <a:br>
              <a:rPr lang="zh-CN" altLang="en-US" sz="1400" dirty="0">
                <a:solidFill>
                  <a:schemeClr val="tx1">
                    <a:lumMod val="50000"/>
                    <a:lumOff val="50000"/>
                  </a:schemeClr>
                </a:solidFill>
                <a:cs typeface="+mn-ea"/>
                <a:sym typeface="+mn-lt"/>
              </a:rPr>
            </a:br>
            <a:endParaRPr lang="en-US" altLang="zh-CN" sz="1400" dirty="0">
              <a:solidFill>
                <a:schemeClr val="tx1">
                  <a:lumMod val="50000"/>
                  <a:lumOff val="50000"/>
                </a:schemeClr>
              </a:solidFill>
              <a:cs typeface="+mn-ea"/>
              <a:sym typeface="+mn-lt"/>
            </a:endParaRPr>
          </a:p>
        </p:txBody>
      </p:sp>
      <p:pic>
        <p:nvPicPr>
          <p:cNvPr id="52" name="图片 51"/>
          <p:cNvPicPr>
            <a:picLocks noChangeAspect="1"/>
          </p:cNvPicPr>
          <p:nvPr/>
        </p:nvPicPr>
        <p:blipFill>
          <a:blip r:embed="rId3"/>
          <a:stretch>
            <a:fillRect/>
          </a:stretch>
        </p:blipFill>
        <p:spPr>
          <a:xfrm>
            <a:off x="1500778" y="3279669"/>
            <a:ext cx="5056975" cy="2539022"/>
          </a:xfrm>
          <a:prstGeom prst="rect">
            <a:avLst/>
          </a:prstGeom>
        </p:spPr>
      </p:pic>
      <p:pic>
        <p:nvPicPr>
          <p:cNvPr id="5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5661" y="2237030"/>
            <a:ext cx="3440038" cy="4143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多条件查询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34" name="组合 33"/>
          <p:cNvGrpSpPr/>
          <p:nvPr/>
        </p:nvGrpSpPr>
        <p:grpSpPr>
          <a:xfrm>
            <a:off x="10798510" y="1507128"/>
            <a:ext cx="479700" cy="4604972"/>
            <a:chOff x="10994103" y="1484783"/>
            <a:chExt cx="502571" cy="4824537"/>
          </a:xfrm>
        </p:grpSpPr>
        <p:sp>
          <p:nvSpPr>
            <p:cNvPr id="35"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36" name="直接连接符 35"/>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38"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39" name="直接连接符 38"/>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970915" y="1525905"/>
            <a:ext cx="3383280" cy="695325"/>
            <a:chOff x="695325" y="1484784"/>
            <a:chExt cx="5400675" cy="728790"/>
          </a:xfrm>
          <a:solidFill>
            <a:srgbClr val="BA8F2D"/>
          </a:solidFill>
          <a:effectLst>
            <a:outerShdw blurRad="254000" dist="63500" dir="2700000" algn="tl" rotWithShape="0">
              <a:prstClr val="black">
                <a:alpha val="30000"/>
              </a:prstClr>
            </a:outerShdw>
          </a:effectLst>
        </p:grpSpPr>
        <p:sp>
          <p:nvSpPr>
            <p:cNvPr id="41"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42" name="TextBox 19"/>
            <p:cNvSpPr txBox="1"/>
            <p:nvPr/>
          </p:nvSpPr>
          <p:spPr>
            <a:xfrm>
              <a:off x="1973998" y="1513245"/>
              <a:ext cx="2843328"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响应时间</a:t>
              </a:r>
              <a:endParaRPr lang="zh-CN" altLang="en-US" sz="2800" dirty="0">
                <a:solidFill>
                  <a:schemeClr val="bg1">
                    <a:lumMod val="95000"/>
                  </a:schemeClr>
                </a:solidFill>
                <a:cs typeface="+mn-ea"/>
                <a:sym typeface="+mn-lt"/>
              </a:endParaRPr>
            </a:p>
          </p:txBody>
        </p:sp>
      </p:grpSp>
      <p:grpSp>
        <p:nvGrpSpPr>
          <p:cNvPr id="43" name="组合 42"/>
          <p:cNvGrpSpPr/>
          <p:nvPr/>
        </p:nvGrpSpPr>
        <p:grpSpPr>
          <a:xfrm>
            <a:off x="4658360" y="1506855"/>
            <a:ext cx="6619875" cy="695325"/>
            <a:chOff x="6212764" y="1588075"/>
            <a:chExt cx="5400675" cy="728790"/>
          </a:xfrm>
          <a:solidFill>
            <a:srgbClr val="2A3246"/>
          </a:solidFill>
          <a:effectLst>
            <a:outerShdw blurRad="254000" dist="63500" dir="2700000" algn="tl" rotWithShape="0">
              <a:prstClr val="black">
                <a:alpha val="30000"/>
              </a:prstClr>
            </a:outerShdw>
          </a:effectLst>
        </p:grpSpPr>
        <p:sp>
          <p:nvSpPr>
            <p:cNvPr id="44"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45" name="TextBox 19"/>
            <p:cNvSpPr txBox="1"/>
            <p:nvPr/>
          </p:nvSpPr>
          <p:spPr>
            <a:xfrm>
              <a:off x="7450315" y="1616536"/>
              <a:ext cx="2925572"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前端结果</a:t>
              </a:r>
              <a:endParaRPr lang="zh-CN" altLang="en-US" sz="2800" dirty="0">
                <a:solidFill>
                  <a:schemeClr val="bg1">
                    <a:lumMod val="95000"/>
                  </a:schemeClr>
                </a:solidFill>
                <a:cs typeface="+mn-ea"/>
                <a:sym typeface="+mn-lt"/>
              </a:endParaRPr>
            </a:p>
          </p:txBody>
        </p:sp>
      </p:grpSp>
      <p:pic>
        <p:nvPicPr>
          <p:cNvPr id="46" name="图片 45"/>
          <p:cNvPicPr>
            <a:picLocks noChangeAspect="1"/>
          </p:cNvPicPr>
          <p:nvPr/>
        </p:nvPicPr>
        <p:blipFill>
          <a:blip r:embed="rId3"/>
          <a:stretch>
            <a:fillRect/>
          </a:stretch>
        </p:blipFill>
        <p:spPr>
          <a:xfrm>
            <a:off x="4762500" y="2646680"/>
            <a:ext cx="6515735" cy="3232150"/>
          </a:xfrm>
          <a:prstGeom prst="rect">
            <a:avLst/>
          </a:prstGeom>
        </p:spPr>
      </p:pic>
      <p:pic>
        <p:nvPicPr>
          <p:cNvPr id="47" name="图片 46"/>
          <p:cNvPicPr>
            <a:picLocks noChangeAspect="1"/>
          </p:cNvPicPr>
          <p:nvPr/>
        </p:nvPicPr>
        <p:blipFill>
          <a:blip r:embed="rId4"/>
          <a:stretch>
            <a:fillRect/>
          </a:stretch>
        </p:blipFill>
        <p:spPr>
          <a:xfrm>
            <a:off x="1176655" y="2757805"/>
            <a:ext cx="2971800" cy="30099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多表联合查询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10798510" y="1507128"/>
            <a:ext cx="479700" cy="4604972"/>
            <a:chOff x="10994103" y="1484783"/>
            <a:chExt cx="502571" cy="4824537"/>
          </a:xfrm>
        </p:grpSpPr>
        <p:sp>
          <p:nvSpPr>
            <p:cNvPr id="1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17" name="直接连接符 16"/>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1"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2" name="直接连接符 21"/>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970794" y="1525948"/>
            <a:ext cx="5154903" cy="695624"/>
            <a:chOff x="695325" y="1484784"/>
            <a:chExt cx="5400675" cy="728790"/>
          </a:xfrm>
          <a:solidFill>
            <a:srgbClr val="BA8F2D"/>
          </a:solidFill>
          <a:effectLst>
            <a:outerShdw blurRad="254000" dist="63500" dir="2700000" algn="tl" rotWithShape="0">
              <a:prstClr val="black">
                <a:alpha val="30000"/>
              </a:prstClr>
            </a:outerShdw>
          </a:effectLst>
        </p:grpSpPr>
        <p:sp>
          <p:nvSpPr>
            <p:cNvPr id="24"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5" name="TextBox 19"/>
            <p:cNvSpPr txBox="1"/>
            <p:nvPr/>
          </p:nvSpPr>
          <p:spPr>
            <a:xfrm>
              <a:off x="1973998" y="1513245"/>
              <a:ext cx="2843328"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多表联合查询</a:t>
              </a:r>
              <a:endParaRPr lang="zh-CN" altLang="en-US" sz="2800" dirty="0">
                <a:solidFill>
                  <a:schemeClr val="bg1">
                    <a:lumMod val="95000"/>
                  </a:schemeClr>
                </a:solidFill>
                <a:cs typeface="+mn-ea"/>
                <a:sym typeface="+mn-lt"/>
              </a:endParaRPr>
            </a:p>
          </p:txBody>
        </p:sp>
      </p:grpSp>
      <p:grpSp>
        <p:nvGrpSpPr>
          <p:cNvPr id="26" name="组合 25"/>
          <p:cNvGrpSpPr/>
          <p:nvPr/>
        </p:nvGrpSpPr>
        <p:grpSpPr>
          <a:xfrm>
            <a:off x="6123307" y="1514240"/>
            <a:ext cx="5154903" cy="695624"/>
            <a:chOff x="6212764" y="1588075"/>
            <a:chExt cx="5400675" cy="728790"/>
          </a:xfrm>
          <a:solidFill>
            <a:srgbClr val="2A3246"/>
          </a:solidFill>
          <a:effectLst>
            <a:outerShdw blurRad="254000" dist="63500" dir="2700000" algn="tl" rotWithShape="0">
              <a:prstClr val="black">
                <a:alpha val="30000"/>
              </a:prstClr>
            </a:outerShdw>
          </a:effectLst>
        </p:grpSpPr>
        <p:sp>
          <p:nvSpPr>
            <p:cNvPr id="27"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8" name="TextBox 19"/>
            <p:cNvSpPr txBox="1"/>
            <p:nvPr/>
          </p:nvSpPr>
          <p:spPr>
            <a:xfrm>
              <a:off x="7450315" y="1616536"/>
              <a:ext cx="2925572"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查询结果</a:t>
              </a:r>
              <a:endParaRPr lang="zh-CN" altLang="en-US" sz="2800" dirty="0">
                <a:solidFill>
                  <a:schemeClr val="bg1">
                    <a:lumMod val="95000"/>
                  </a:schemeClr>
                </a:solidFill>
                <a:cs typeface="+mn-ea"/>
                <a:sym typeface="+mn-lt"/>
              </a:endParaRPr>
            </a:p>
          </p:txBody>
        </p:sp>
      </p:grpSp>
      <p:sp>
        <p:nvSpPr>
          <p:cNvPr id="29" name="TextBox 106"/>
          <p:cNvSpPr txBox="1"/>
          <p:nvPr/>
        </p:nvSpPr>
        <p:spPr>
          <a:xfrm>
            <a:off x="1530895" y="2559838"/>
            <a:ext cx="4364445" cy="812915"/>
          </a:xfrm>
          <a:prstGeom prst="rect">
            <a:avLst/>
          </a:prstGeom>
          <a:noFill/>
        </p:spPr>
        <p:txBody>
          <a:bodyPr wrap="square" lIns="0" tIns="0" rIns="0" bIns="0" rtlCol="0">
            <a:spAutoFit/>
          </a:bodyPr>
          <a:lstStyle/>
          <a:p>
            <a:pPr>
              <a:lnSpc>
                <a:spcPct val="130000"/>
              </a:lnSpc>
            </a:pPr>
            <a:r>
              <a:rPr lang="zh-CN" altLang="en-US" sz="1400" dirty="0">
                <a:solidFill>
                  <a:schemeClr val="tx1">
                    <a:lumMod val="50000"/>
                    <a:lumOff val="50000"/>
                  </a:schemeClr>
                </a:solidFill>
                <a:cs typeface="+mn-ea"/>
                <a:sym typeface="+mn-lt"/>
              </a:rPr>
              <a:t>通过查询条件“</a:t>
            </a:r>
            <a:r>
              <a:rPr lang="en-US" altLang="zh-CN" sz="1400" dirty="0" err="1">
                <a:solidFill>
                  <a:schemeClr val="tx1">
                    <a:lumMod val="50000"/>
                    <a:lumOff val="50000"/>
                  </a:schemeClr>
                </a:solidFill>
                <a:cs typeface="+mn-ea"/>
                <a:sym typeface="+mn-lt"/>
              </a:rPr>
              <a:t>mall_title</a:t>
            </a:r>
            <a:r>
              <a:rPr lang="en-US" altLang="zh-CN" sz="1400" dirty="0">
                <a:solidFill>
                  <a:schemeClr val="tx1">
                    <a:lumMod val="50000"/>
                    <a:lumOff val="50000"/>
                  </a:schemeClr>
                </a:solidFill>
                <a:cs typeface="+mn-ea"/>
                <a:sym typeface="+mn-lt"/>
              </a:rPr>
              <a:t> = </a:t>
            </a:r>
            <a:r>
              <a:rPr lang="zh-CN" altLang="en-US" sz="1400" dirty="0">
                <a:solidFill>
                  <a:schemeClr val="tx1">
                    <a:lumMod val="50000"/>
                    <a:lumOff val="50000"/>
                  </a:schemeClr>
                </a:solidFill>
                <a:cs typeface="+mn-ea"/>
                <a:sym typeface="+mn-lt"/>
              </a:rPr>
              <a:t>玻璃”得到的结果集中商品的 </a:t>
            </a:r>
            <a:r>
              <a:rPr lang="en-US" altLang="zh-CN" sz="1400" dirty="0" err="1">
                <a:solidFill>
                  <a:schemeClr val="tx1">
                    <a:lumMod val="50000"/>
                    <a:lumOff val="50000"/>
                  </a:schemeClr>
                </a:solidFill>
                <a:cs typeface="+mn-ea"/>
                <a:sym typeface="+mn-lt"/>
              </a:rPr>
              <a:t>areaid</a:t>
            </a:r>
            <a:r>
              <a:rPr lang="zh-CN" altLang="en-US" sz="1400" dirty="0">
                <a:solidFill>
                  <a:schemeClr val="tx1">
                    <a:lumMod val="50000"/>
                    <a:lumOff val="50000"/>
                  </a:schemeClr>
                </a:solidFill>
                <a:cs typeface="+mn-ea"/>
                <a:sym typeface="+mn-lt"/>
              </a:rPr>
              <a:t>，查询 </a:t>
            </a:r>
            <a:r>
              <a:rPr lang="en-US" altLang="zh-CN" sz="1400" dirty="0">
                <a:solidFill>
                  <a:schemeClr val="tx1">
                    <a:lumMod val="50000"/>
                    <a:lumOff val="50000"/>
                  </a:schemeClr>
                </a:solidFill>
                <a:cs typeface="+mn-ea"/>
                <a:sym typeface="+mn-lt"/>
              </a:rPr>
              <a:t>area </a:t>
            </a:r>
            <a:r>
              <a:rPr lang="zh-CN" altLang="en-US" sz="1400" dirty="0">
                <a:solidFill>
                  <a:schemeClr val="tx1">
                    <a:lumMod val="50000"/>
                    <a:lumOff val="50000"/>
                  </a:schemeClr>
                </a:solidFill>
                <a:cs typeface="+mn-ea"/>
                <a:sym typeface="+mn-lt"/>
              </a:rPr>
              <a:t>表中城市相关信息</a:t>
            </a:r>
            <a:br>
              <a:rPr lang="zh-CN" altLang="en-US" sz="1400" dirty="0">
                <a:solidFill>
                  <a:schemeClr val="tx1">
                    <a:lumMod val="50000"/>
                    <a:lumOff val="50000"/>
                  </a:schemeClr>
                </a:solidFill>
                <a:cs typeface="+mn-ea"/>
                <a:sym typeface="+mn-lt"/>
              </a:rPr>
            </a:br>
            <a:endParaRPr lang="en-US" altLang="zh-CN" sz="1400" dirty="0">
              <a:solidFill>
                <a:schemeClr val="tx1">
                  <a:lumMod val="50000"/>
                  <a:lumOff val="50000"/>
                </a:schemeClr>
              </a:solidFill>
              <a:cs typeface="+mn-ea"/>
              <a:sym typeface="+mn-lt"/>
            </a:endParaRPr>
          </a:p>
        </p:txBody>
      </p:sp>
      <p:pic>
        <p:nvPicPr>
          <p:cNvPr id="30" name="图片 29"/>
          <p:cNvPicPr>
            <a:picLocks noChangeAspect="1"/>
          </p:cNvPicPr>
          <p:nvPr/>
        </p:nvPicPr>
        <p:blipFill>
          <a:blip r:embed="rId3"/>
          <a:stretch>
            <a:fillRect/>
          </a:stretch>
        </p:blipFill>
        <p:spPr>
          <a:xfrm>
            <a:off x="1436011" y="3092848"/>
            <a:ext cx="4899505" cy="2540717"/>
          </a:xfrm>
          <a:prstGeom prst="rect">
            <a:avLst/>
          </a:prstGeom>
        </p:spPr>
      </p:pic>
      <p:pic>
        <p:nvPicPr>
          <p:cNvPr id="31" name="图片 30"/>
          <p:cNvPicPr>
            <a:picLocks noChangeAspect="1"/>
          </p:cNvPicPr>
          <p:nvPr/>
        </p:nvPicPr>
        <p:blipFill>
          <a:blip r:embed="rId4"/>
          <a:stretch>
            <a:fillRect/>
          </a:stretch>
        </p:blipFill>
        <p:spPr>
          <a:xfrm>
            <a:off x="6807974" y="2365677"/>
            <a:ext cx="3708647" cy="399505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多表联合查询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10798510" y="1507128"/>
            <a:ext cx="479700" cy="4604972"/>
            <a:chOff x="10994103" y="1484783"/>
            <a:chExt cx="502571" cy="4824537"/>
          </a:xfrm>
        </p:grpSpPr>
        <p:sp>
          <p:nvSpPr>
            <p:cNvPr id="1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17" name="直接连接符 16"/>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1"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2" name="直接连接符 21"/>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970794" y="1525948"/>
            <a:ext cx="5154903" cy="695624"/>
            <a:chOff x="695325" y="1484784"/>
            <a:chExt cx="5400675" cy="728790"/>
          </a:xfrm>
          <a:solidFill>
            <a:srgbClr val="BA8F2D"/>
          </a:solidFill>
          <a:effectLst>
            <a:outerShdw blurRad="254000" dist="63500" dir="2700000" algn="tl" rotWithShape="0">
              <a:prstClr val="black">
                <a:alpha val="30000"/>
              </a:prstClr>
            </a:outerShdw>
          </a:effectLst>
        </p:grpSpPr>
        <p:sp>
          <p:nvSpPr>
            <p:cNvPr id="24"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5" name="TextBox 19"/>
            <p:cNvSpPr txBox="1"/>
            <p:nvPr/>
          </p:nvSpPr>
          <p:spPr>
            <a:xfrm>
              <a:off x="1973998" y="1513245"/>
              <a:ext cx="2843328" cy="681907"/>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价格排序</a:t>
              </a:r>
              <a:endParaRPr lang="zh-CN" altLang="en-US" sz="2800" dirty="0">
                <a:solidFill>
                  <a:schemeClr val="bg1">
                    <a:lumMod val="95000"/>
                  </a:schemeClr>
                </a:solidFill>
                <a:cs typeface="+mn-ea"/>
                <a:sym typeface="+mn-lt"/>
              </a:endParaRPr>
            </a:p>
          </p:txBody>
        </p:sp>
      </p:grpSp>
      <p:grpSp>
        <p:nvGrpSpPr>
          <p:cNvPr id="26" name="组合 25"/>
          <p:cNvGrpSpPr/>
          <p:nvPr/>
        </p:nvGrpSpPr>
        <p:grpSpPr>
          <a:xfrm>
            <a:off x="6123307" y="1514240"/>
            <a:ext cx="5154903" cy="695624"/>
            <a:chOff x="6212764" y="1588075"/>
            <a:chExt cx="5400675" cy="728790"/>
          </a:xfrm>
          <a:solidFill>
            <a:srgbClr val="2A3246"/>
          </a:solidFill>
          <a:effectLst>
            <a:outerShdw blurRad="254000" dist="63500" dir="2700000" algn="tl" rotWithShape="0">
              <a:prstClr val="black">
                <a:alpha val="30000"/>
              </a:prstClr>
            </a:outerShdw>
          </a:effectLst>
        </p:grpSpPr>
        <p:sp>
          <p:nvSpPr>
            <p:cNvPr id="27"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8" name="TextBox 19"/>
            <p:cNvSpPr txBox="1"/>
            <p:nvPr/>
          </p:nvSpPr>
          <p:spPr>
            <a:xfrm>
              <a:off x="7450315" y="1616536"/>
              <a:ext cx="2925572" cy="626429"/>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查询结果</a:t>
              </a:r>
              <a:endParaRPr lang="zh-CN" altLang="en-US" sz="2800" dirty="0">
                <a:solidFill>
                  <a:schemeClr val="bg1">
                    <a:lumMod val="95000"/>
                  </a:schemeClr>
                </a:solidFill>
                <a:cs typeface="+mn-ea"/>
                <a:sym typeface="+mn-lt"/>
              </a:endParaRPr>
            </a:p>
          </p:txBody>
        </p:sp>
      </p:grpSp>
      <p:sp>
        <p:nvSpPr>
          <p:cNvPr id="29" name="TextBox 106"/>
          <p:cNvSpPr txBox="1"/>
          <p:nvPr/>
        </p:nvSpPr>
        <p:spPr>
          <a:xfrm>
            <a:off x="1550123" y="2609522"/>
            <a:ext cx="4312763" cy="558800"/>
          </a:xfrm>
          <a:prstGeom prst="rect">
            <a:avLst/>
          </a:prstGeom>
          <a:noFill/>
        </p:spPr>
        <p:txBody>
          <a:bodyPr wrap="square" lIns="0" tIns="0" rIns="0" bIns="0" rtlCol="0">
            <a:spAutoFit/>
          </a:bodyPr>
          <a:lstStyle/>
          <a:p>
            <a:pPr>
              <a:lnSpc>
                <a:spcPct val="130000"/>
              </a:lnSpc>
            </a:pPr>
            <a:r>
              <a:rPr lang="zh-CN" altLang="en-US" sz="1400" dirty="0">
                <a:solidFill>
                  <a:schemeClr val="tx1">
                    <a:lumMod val="50000"/>
                    <a:lumOff val="50000"/>
                  </a:schemeClr>
                </a:solidFill>
                <a:cs typeface="+mn-ea"/>
                <a:sym typeface="+mn-lt"/>
              </a:rPr>
              <a:t>检索关键字“玻璃”</a:t>
            </a:r>
            <a:r>
              <a:rPr lang="zh-CN" sz="1400" dirty="0">
                <a:solidFill>
                  <a:schemeClr val="tx1">
                    <a:lumMod val="50000"/>
                    <a:lumOff val="50000"/>
                  </a:schemeClr>
                </a:solidFill>
                <a:cs typeface="+mn-ea"/>
                <a:sym typeface="+mn-lt"/>
              </a:rPr>
              <a:t>，限定价格降序</a:t>
            </a:r>
            <a:br>
              <a:rPr lang="zh-CN" altLang="en-US" sz="1400" dirty="0">
                <a:solidFill>
                  <a:schemeClr val="tx1">
                    <a:lumMod val="50000"/>
                    <a:lumOff val="50000"/>
                  </a:schemeClr>
                </a:solidFill>
                <a:cs typeface="+mn-ea"/>
                <a:sym typeface="+mn-lt"/>
              </a:rPr>
            </a:br>
            <a:endParaRPr lang="en-US" altLang="zh-CN" sz="1400" dirty="0">
              <a:solidFill>
                <a:schemeClr val="tx1">
                  <a:lumMod val="50000"/>
                  <a:lumOff val="50000"/>
                </a:schemeClr>
              </a:solidFill>
              <a:cs typeface="+mn-ea"/>
              <a:sym typeface="+mn-lt"/>
            </a:endParaRPr>
          </a:p>
        </p:txBody>
      </p:sp>
      <p:pic>
        <p:nvPicPr>
          <p:cNvPr id="30" name="图片 29"/>
          <p:cNvPicPr>
            <a:picLocks noChangeAspect="1"/>
          </p:cNvPicPr>
          <p:nvPr/>
        </p:nvPicPr>
        <p:blipFill>
          <a:blip r:embed="rId3"/>
          <a:stretch>
            <a:fillRect/>
          </a:stretch>
        </p:blipFill>
        <p:spPr>
          <a:xfrm>
            <a:off x="2302510" y="3199765"/>
            <a:ext cx="2491740" cy="2263140"/>
          </a:xfrm>
          <a:prstGeom prst="rect">
            <a:avLst/>
          </a:prstGeom>
        </p:spPr>
      </p:pic>
      <p:pic>
        <p:nvPicPr>
          <p:cNvPr id="31" name="图片 30"/>
          <p:cNvPicPr>
            <a:picLocks noChangeAspect="1"/>
          </p:cNvPicPr>
          <p:nvPr/>
        </p:nvPicPr>
        <p:blipFill>
          <a:blip r:embed="rId4"/>
          <a:stretch>
            <a:fillRect/>
          </a:stretch>
        </p:blipFill>
        <p:spPr>
          <a:xfrm>
            <a:off x="6445250" y="2433955"/>
            <a:ext cx="4511040" cy="37947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多表联合查询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10798510" y="1507128"/>
            <a:ext cx="479700" cy="4604972"/>
            <a:chOff x="10994103" y="1484783"/>
            <a:chExt cx="502571" cy="4824537"/>
          </a:xfrm>
        </p:grpSpPr>
        <p:sp>
          <p:nvSpPr>
            <p:cNvPr id="1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17" name="直接连接符 16"/>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1"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2" name="直接连接符 21"/>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970915" y="1525905"/>
            <a:ext cx="3383280" cy="695325"/>
            <a:chOff x="695325" y="1484784"/>
            <a:chExt cx="5400675" cy="728790"/>
          </a:xfrm>
          <a:solidFill>
            <a:srgbClr val="BA8F2D"/>
          </a:solidFill>
          <a:effectLst>
            <a:outerShdw blurRad="254000" dist="63500" dir="2700000" algn="tl" rotWithShape="0">
              <a:prstClr val="black">
                <a:alpha val="30000"/>
              </a:prstClr>
            </a:outerShdw>
          </a:effectLst>
        </p:grpSpPr>
        <p:sp>
          <p:nvSpPr>
            <p:cNvPr id="24"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5" name="TextBox 19"/>
            <p:cNvSpPr txBox="1"/>
            <p:nvPr/>
          </p:nvSpPr>
          <p:spPr>
            <a:xfrm>
              <a:off x="1973998" y="1513245"/>
              <a:ext cx="2843328"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响应时间</a:t>
              </a:r>
              <a:endParaRPr lang="zh-CN" altLang="en-US" sz="2800" dirty="0">
                <a:solidFill>
                  <a:schemeClr val="bg1">
                    <a:lumMod val="95000"/>
                  </a:schemeClr>
                </a:solidFill>
                <a:cs typeface="+mn-ea"/>
                <a:sym typeface="+mn-lt"/>
              </a:endParaRPr>
            </a:p>
          </p:txBody>
        </p:sp>
      </p:grpSp>
      <p:grpSp>
        <p:nvGrpSpPr>
          <p:cNvPr id="26" name="组合 25"/>
          <p:cNvGrpSpPr/>
          <p:nvPr/>
        </p:nvGrpSpPr>
        <p:grpSpPr>
          <a:xfrm>
            <a:off x="4658360" y="1506855"/>
            <a:ext cx="6619875" cy="695325"/>
            <a:chOff x="6212764" y="1588075"/>
            <a:chExt cx="5400675" cy="728790"/>
          </a:xfrm>
          <a:solidFill>
            <a:srgbClr val="2A3246"/>
          </a:solidFill>
          <a:effectLst>
            <a:outerShdw blurRad="254000" dist="63500" dir="2700000" algn="tl" rotWithShape="0">
              <a:prstClr val="black">
                <a:alpha val="30000"/>
              </a:prstClr>
            </a:outerShdw>
          </a:effectLst>
        </p:grpSpPr>
        <p:sp>
          <p:nvSpPr>
            <p:cNvPr id="27"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8" name="TextBox 19"/>
            <p:cNvSpPr txBox="1"/>
            <p:nvPr/>
          </p:nvSpPr>
          <p:spPr>
            <a:xfrm>
              <a:off x="7450315" y="1616536"/>
              <a:ext cx="2925572"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前端结果</a:t>
              </a:r>
              <a:endParaRPr lang="zh-CN" altLang="en-US" sz="2800" dirty="0">
                <a:solidFill>
                  <a:schemeClr val="bg1">
                    <a:lumMod val="95000"/>
                  </a:schemeClr>
                </a:solidFill>
                <a:cs typeface="+mn-ea"/>
                <a:sym typeface="+mn-lt"/>
              </a:endParaRPr>
            </a:p>
          </p:txBody>
        </p:sp>
      </p:grpSp>
      <p:pic>
        <p:nvPicPr>
          <p:cNvPr id="29" name="图片 28"/>
          <p:cNvPicPr>
            <a:picLocks noChangeAspect="1"/>
          </p:cNvPicPr>
          <p:nvPr/>
        </p:nvPicPr>
        <p:blipFill>
          <a:blip r:embed="rId3"/>
          <a:stretch>
            <a:fillRect/>
          </a:stretch>
        </p:blipFill>
        <p:spPr>
          <a:xfrm>
            <a:off x="1332865" y="2933065"/>
            <a:ext cx="2659380" cy="2537460"/>
          </a:xfrm>
          <a:prstGeom prst="rect">
            <a:avLst/>
          </a:prstGeom>
        </p:spPr>
      </p:pic>
      <p:pic>
        <p:nvPicPr>
          <p:cNvPr id="30" name="图片 29"/>
          <p:cNvPicPr>
            <a:picLocks noChangeAspect="1"/>
          </p:cNvPicPr>
          <p:nvPr/>
        </p:nvPicPr>
        <p:blipFill>
          <a:blip r:embed="rId4"/>
          <a:stretch>
            <a:fillRect/>
          </a:stretch>
        </p:blipFill>
        <p:spPr>
          <a:xfrm>
            <a:off x="4821555" y="2644140"/>
            <a:ext cx="6294120" cy="311594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多表联合查询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10798510" y="1507128"/>
            <a:ext cx="479700" cy="4604972"/>
            <a:chOff x="10994103" y="1484783"/>
            <a:chExt cx="502571" cy="4824537"/>
          </a:xfrm>
        </p:grpSpPr>
        <p:sp>
          <p:nvSpPr>
            <p:cNvPr id="1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17" name="直接连接符 16"/>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1"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2" name="直接连接符 21"/>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970915" y="1525905"/>
            <a:ext cx="3823970" cy="695325"/>
            <a:chOff x="695325" y="1484784"/>
            <a:chExt cx="5400675" cy="728790"/>
          </a:xfrm>
          <a:solidFill>
            <a:srgbClr val="BA8F2D"/>
          </a:solidFill>
          <a:effectLst>
            <a:outerShdw blurRad="254000" dist="63500" dir="2700000" algn="tl" rotWithShape="0">
              <a:prstClr val="black">
                <a:alpha val="30000"/>
              </a:prstClr>
            </a:outerShdw>
          </a:effectLst>
        </p:grpSpPr>
        <p:sp>
          <p:nvSpPr>
            <p:cNvPr id="24"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5" name="TextBox 19"/>
            <p:cNvSpPr txBox="1"/>
            <p:nvPr/>
          </p:nvSpPr>
          <p:spPr>
            <a:xfrm>
              <a:off x="1973998" y="1513245"/>
              <a:ext cx="2843328"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价格区间</a:t>
              </a:r>
              <a:endParaRPr lang="zh-CN" altLang="en-US" sz="2800" dirty="0">
                <a:solidFill>
                  <a:schemeClr val="bg1">
                    <a:lumMod val="95000"/>
                  </a:schemeClr>
                </a:solidFill>
                <a:cs typeface="+mn-ea"/>
                <a:sym typeface="+mn-lt"/>
              </a:endParaRPr>
            </a:p>
          </p:txBody>
        </p:sp>
      </p:grpSp>
      <p:grpSp>
        <p:nvGrpSpPr>
          <p:cNvPr id="26" name="组合 25"/>
          <p:cNvGrpSpPr/>
          <p:nvPr/>
        </p:nvGrpSpPr>
        <p:grpSpPr>
          <a:xfrm>
            <a:off x="5513705" y="1508760"/>
            <a:ext cx="5764530" cy="695325"/>
            <a:chOff x="6212764" y="1588075"/>
            <a:chExt cx="5400675" cy="728790"/>
          </a:xfrm>
          <a:solidFill>
            <a:srgbClr val="2A3246"/>
          </a:solidFill>
          <a:effectLst>
            <a:outerShdw blurRad="254000" dist="63500" dir="2700000" algn="tl" rotWithShape="0">
              <a:prstClr val="black">
                <a:alpha val="30000"/>
              </a:prstClr>
            </a:outerShdw>
          </a:effectLst>
        </p:grpSpPr>
        <p:sp>
          <p:nvSpPr>
            <p:cNvPr id="27"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8" name="TextBox 19"/>
            <p:cNvSpPr txBox="1"/>
            <p:nvPr/>
          </p:nvSpPr>
          <p:spPr>
            <a:xfrm>
              <a:off x="7450315" y="1616536"/>
              <a:ext cx="2925572"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查询结果</a:t>
              </a:r>
              <a:endParaRPr lang="zh-CN" altLang="en-US" sz="2800" dirty="0">
                <a:solidFill>
                  <a:schemeClr val="bg1">
                    <a:lumMod val="95000"/>
                  </a:schemeClr>
                </a:solidFill>
                <a:cs typeface="+mn-ea"/>
                <a:sym typeface="+mn-lt"/>
              </a:endParaRPr>
            </a:p>
          </p:txBody>
        </p:sp>
      </p:grpSp>
      <p:sp>
        <p:nvSpPr>
          <p:cNvPr id="29" name="TextBox 106"/>
          <p:cNvSpPr txBox="1"/>
          <p:nvPr/>
        </p:nvSpPr>
        <p:spPr>
          <a:xfrm>
            <a:off x="1550123" y="2609522"/>
            <a:ext cx="4312763" cy="558800"/>
          </a:xfrm>
          <a:prstGeom prst="rect">
            <a:avLst/>
          </a:prstGeom>
          <a:noFill/>
        </p:spPr>
        <p:txBody>
          <a:bodyPr wrap="square" lIns="0" tIns="0" rIns="0" bIns="0" rtlCol="0">
            <a:spAutoFit/>
          </a:bodyPr>
          <a:lstStyle/>
          <a:p>
            <a:pPr>
              <a:lnSpc>
                <a:spcPct val="130000"/>
              </a:lnSpc>
            </a:pPr>
            <a:r>
              <a:rPr lang="zh-CN" altLang="en-US" sz="1400" dirty="0">
                <a:solidFill>
                  <a:schemeClr val="tx1">
                    <a:lumMod val="50000"/>
                    <a:lumOff val="50000"/>
                  </a:schemeClr>
                </a:solidFill>
                <a:cs typeface="+mn-ea"/>
                <a:sym typeface="+mn-lt"/>
              </a:rPr>
              <a:t>查询价格区间在</a:t>
            </a:r>
            <a:r>
              <a:rPr lang="en-US" altLang="zh-CN" sz="1400" dirty="0">
                <a:solidFill>
                  <a:schemeClr val="tx1">
                    <a:lumMod val="50000"/>
                    <a:lumOff val="50000"/>
                  </a:schemeClr>
                </a:solidFill>
                <a:cs typeface="+mn-ea"/>
                <a:sym typeface="+mn-lt"/>
              </a:rPr>
              <a:t> 4-1000 </a:t>
            </a:r>
            <a:r>
              <a:rPr lang="zh-CN" altLang="en-US" sz="1400" dirty="0">
                <a:solidFill>
                  <a:schemeClr val="tx1">
                    <a:lumMod val="50000"/>
                    <a:lumOff val="50000"/>
                  </a:schemeClr>
                </a:solidFill>
                <a:cs typeface="+mn-ea"/>
                <a:sym typeface="+mn-lt"/>
              </a:rPr>
              <a:t>内的全部商品</a:t>
            </a:r>
            <a:br>
              <a:rPr lang="zh-CN" altLang="en-US" sz="1400" dirty="0">
                <a:solidFill>
                  <a:schemeClr val="tx1">
                    <a:lumMod val="50000"/>
                    <a:lumOff val="50000"/>
                  </a:schemeClr>
                </a:solidFill>
                <a:cs typeface="+mn-ea"/>
                <a:sym typeface="+mn-lt"/>
              </a:rPr>
            </a:br>
            <a:endParaRPr lang="en-US" altLang="zh-CN" sz="1400" dirty="0">
              <a:solidFill>
                <a:schemeClr val="tx1">
                  <a:lumMod val="50000"/>
                  <a:lumOff val="50000"/>
                </a:schemeClr>
              </a:solidFill>
              <a:cs typeface="+mn-ea"/>
              <a:sym typeface="+mn-lt"/>
            </a:endParaRPr>
          </a:p>
        </p:txBody>
      </p:sp>
      <p:pic>
        <p:nvPicPr>
          <p:cNvPr id="30" name="图片 29"/>
          <p:cNvPicPr>
            <a:picLocks noChangeAspect="1"/>
          </p:cNvPicPr>
          <p:nvPr/>
        </p:nvPicPr>
        <p:blipFill>
          <a:blip r:embed="rId3"/>
          <a:stretch>
            <a:fillRect/>
          </a:stretch>
        </p:blipFill>
        <p:spPr>
          <a:xfrm>
            <a:off x="1637030" y="3199765"/>
            <a:ext cx="2491740" cy="2263140"/>
          </a:xfrm>
          <a:prstGeom prst="rect">
            <a:avLst/>
          </a:prstGeom>
        </p:spPr>
      </p:pic>
      <p:pic>
        <p:nvPicPr>
          <p:cNvPr id="31" name="图片 30"/>
          <p:cNvPicPr>
            <a:picLocks noChangeAspect="1"/>
          </p:cNvPicPr>
          <p:nvPr/>
        </p:nvPicPr>
        <p:blipFill>
          <a:blip r:embed="rId4"/>
          <a:stretch>
            <a:fillRect/>
          </a:stretch>
        </p:blipFill>
        <p:spPr>
          <a:xfrm>
            <a:off x="5513070" y="2550795"/>
            <a:ext cx="5646420" cy="34975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多表联合查询</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10798510" y="1507128"/>
            <a:ext cx="479700" cy="4604972"/>
            <a:chOff x="10994103" y="1484783"/>
            <a:chExt cx="502571" cy="4824537"/>
          </a:xfrm>
        </p:grpSpPr>
        <p:sp>
          <p:nvSpPr>
            <p:cNvPr id="16" name="等腰三角形 6"/>
            <p:cNvSpPr/>
            <p:nvPr/>
          </p:nvSpPr>
          <p:spPr>
            <a:xfrm rot="16200000" flipH="1">
              <a:off x="10693937"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17" name="直接连接符 16"/>
            <p:cNvCxnSpPr/>
            <p:nvPr/>
          </p:nvCxnSpPr>
          <p:spPr>
            <a:xfrm flipH="1">
              <a:off x="11001690" y="2578162"/>
              <a:ext cx="1"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970794" y="1507128"/>
            <a:ext cx="479700" cy="4604972"/>
            <a:chOff x="695325" y="1484783"/>
            <a:chExt cx="502571" cy="4824537"/>
          </a:xfrm>
          <a:effectLst>
            <a:outerShdw blurRad="254000" dist="63500" dir="2700000" algn="tl" rotWithShape="0">
              <a:prstClr val="black">
                <a:alpha val="30000"/>
              </a:prstClr>
            </a:outerShdw>
          </a:effectLst>
        </p:grpSpPr>
        <p:sp>
          <p:nvSpPr>
            <p:cNvPr id="21" name="等腰三角形 6"/>
            <p:cNvSpPr/>
            <p:nvPr/>
          </p:nvSpPr>
          <p:spPr>
            <a:xfrm rot="5400000">
              <a:off x="395159" y="1784949"/>
              <a:ext cx="1102903" cy="502571"/>
            </a:xfrm>
            <a:custGeom>
              <a:avLst/>
              <a:gdLst>
                <a:gd name="connsiteX0" fmla="*/ 0 w 693325"/>
                <a:gd name="connsiteY0" fmla="*/ 728790 h 728790"/>
                <a:gd name="connsiteX1" fmla="*/ 693325 w 693325"/>
                <a:gd name="connsiteY1" fmla="*/ 0 h 728790"/>
                <a:gd name="connsiteX2" fmla="*/ 693325 w 693325"/>
                <a:gd name="connsiteY2" fmla="*/ 728790 h 728790"/>
                <a:gd name="connsiteX3" fmla="*/ 0 w 693325"/>
                <a:gd name="connsiteY3" fmla="*/ 728790 h 728790"/>
                <a:gd name="connsiteX0-1" fmla="*/ 0 w 1102903"/>
                <a:gd name="connsiteY0-2" fmla="*/ 500190 h 500190"/>
                <a:gd name="connsiteX1-3" fmla="*/ 1102903 w 1102903"/>
                <a:gd name="connsiteY1-4" fmla="*/ 0 h 500190"/>
                <a:gd name="connsiteX2-5" fmla="*/ 693325 w 1102903"/>
                <a:gd name="connsiteY2-6" fmla="*/ 500190 h 500190"/>
                <a:gd name="connsiteX3-7" fmla="*/ 0 w 1102903"/>
                <a:gd name="connsiteY3-8" fmla="*/ 500190 h 500190"/>
                <a:gd name="connsiteX0-9" fmla="*/ 0 w 1102903"/>
                <a:gd name="connsiteY0-10" fmla="*/ 500190 h 502571"/>
                <a:gd name="connsiteX1-11" fmla="*/ 1102903 w 1102903"/>
                <a:gd name="connsiteY1-12" fmla="*/ 0 h 502571"/>
                <a:gd name="connsiteX2-13" fmla="*/ 729047 w 1102903"/>
                <a:gd name="connsiteY2-14" fmla="*/ 502571 h 502571"/>
                <a:gd name="connsiteX3-15" fmla="*/ 0 w 1102903"/>
                <a:gd name="connsiteY3-16" fmla="*/ 500190 h 502571"/>
              </a:gdLst>
              <a:ahLst/>
              <a:cxnLst>
                <a:cxn ang="0">
                  <a:pos x="connsiteX0-1" y="connsiteY0-2"/>
                </a:cxn>
                <a:cxn ang="0">
                  <a:pos x="connsiteX1-3" y="connsiteY1-4"/>
                </a:cxn>
                <a:cxn ang="0">
                  <a:pos x="connsiteX2-5" y="connsiteY2-6"/>
                </a:cxn>
                <a:cxn ang="0">
                  <a:pos x="connsiteX3-7" y="connsiteY3-8"/>
                </a:cxn>
              </a:cxnLst>
              <a:rect l="l" t="t" r="r" b="b"/>
              <a:pathLst>
                <a:path w="1102903" h="502571">
                  <a:moveTo>
                    <a:pt x="0" y="500190"/>
                  </a:moveTo>
                  <a:lnTo>
                    <a:pt x="1102903" y="0"/>
                  </a:lnTo>
                  <a:lnTo>
                    <a:pt x="729047" y="502571"/>
                  </a:lnTo>
                  <a:lnTo>
                    <a:pt x="0" y="5001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cxnSp>
          <p:nvCxnSpPr>
            <p:cNvPr id="22" name="直接连接符 21"/>
            <p:cNvCxnSpPr/>
            <p:nvPr/>
          </p:nvCxnSpPr>
          <p:spPr>
            <a:xfrm>
              <a:off x="1190309" y="2578162"/>
              <a:ext cx="0" cy="3731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970915" y="1525905"/>
            <a:ext cx="3383280" cy="695325"/>
            <a:chOff x="695325" y="1484784"/>
            <a:chExt cx="5400675" cy="728790"/>
          </a:xfrm>
          <a:solidFill>
            <a:srgbClr val="BA8F2D"/>
          </a:solidFill>
          <a:effectLst>
            <a:outerShdw blurRad="254000" dist="63500" dir="2700000" algn="tl" rotWithShape="0">
              <a:prstClr val="black">
                <a:alpha val="30000"/>
              </a:prstClr>
            </a:outerShdw>
          </a:effectLst>
        </p:grpSpPr>
        <p:sp>
          <p:nvSpPr>
            <p:cNvPr id="24" name="五边形 42"/>
            <p:cNvSpPr/>
            <p:nvPr/>
          </p:nvSpPr>
          <p:spPr>
            <a:xfrm>
              <a:off x="695325" y="1484784"/>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5" name="TextBox 19"/>
            <p:cNvSpPr txBox="1"/>
            <p:nvPr/>
          </p:nvSpPr>
          <p:spPr>
            <a:xfrm>
              <a:off x="1973998" y="1513245"/>
              <a:ext cx="2843328"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响应时间</a:t>
              </a:r>
              <a:endParaRPr lang="zh-CN" altLang="en-US" sz="2800" dirty="0">
                <a:solidFill>
                  <a:schemeClr val="bg1">
                    <a:lumMod val="95000"/>
                  </a:schemeClr>
                </a:solidFill>
                <a:cs typeface="+mn-ea"/>
                <a:sym typeface="+mn-lt"/>
              </a:endParaRPr>
            </a:p>
          </p:txBody>
        </p:sp>
      </p:grpSp>
      <p:grpSp>
        <p:nvGrpSpPr>
          <p:cNvPr id="26" name="组合 25"/>
          <p:cNvGrpSpPr/>
          <p:nvPr/>
        </p:nvGrpSpPr>
        <p:grpSpPr>
          <a:xfrm>
            <a:off x="4658360" y="1506855"/>
            <a:ext cx="6619875" cy="695325"/>
            <a:chOff x="6212764" y="1588075"/>
            <a:chExt cx="5400675" cy="728790"/>
          </a:xfrm>
          <a:solidFill>
            <a:srgbClr val="2A3246"/>
          </a:solidFill>
          <a:effectLst>
            <a:outerShdw blurRad="254000" dist="63500" dir="2700000" algn="tl" rotWithShape="0">
              <a:prstClr val="black">
                <a:alpha val="30000"/>
              </a:prstClr>
            </a:outerShdw>
          </a:effectLst>
        </p:grpSpPr>
        <p:sp>
          <p:nvSpPr>
            <p:cNvPr id="27" name="五边形 45"/>
            <p:cNvSpPr/>
            <p:nvPr/>
          </p:nvSpPr>
          <p:spPr>
            <a:xfrm flipH="1">
              <a:off x="6212764" y="1588075"/>
              <a:ext cx="5400675" cy="728790"/>
            </a:xfrm>
            <a:prstGeom prst="homePlat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lnSpc>
                  <a:spcPct val="130000"/>
                </a:lnSpc>
              </a:pPr>
              <a:endParaRPr lang="zh-CN" altLang="en-US" dirty="0">
                <a:cs typeface="+mn-ea"/>
                <a:sym typeface="+mn-lt"/>
              </a:endParaRPr>
            </a:p>
          </p:txBody>
        </p:sp>
        <p:sp>
          <p:nvSpPr>
            <p:cNvPr id="28" name="TextBox 19"/>
            <p:cNvSpPr txBox="1"/>
            <p:nvPr/>
          </p:nvSpPr>
          <p:spPr>
            <a:xfrm>
              <a:off x="7450315" y="1616536"/>
              <a:ext cx="2925572" cy="682201"/>
            </a:xfrm>
            <a:prstGeom prst="rect">
              <a:avLst/>
            </a:prstGeom>
            <a:grpFill/>
          </p:spPr>
          <p:txBody>
            <a:bodyPr wrap="square" rtlCol="0">
              <a:spAutoFit/>
            </a:bodyPr>
            <a:lstStyle/>
            <a:p>
              <a:pPr algn="ctr">
                <a:lnSpc>
                  <a:spcPct val="130000"/>
                </a:lnSpc>
              </a:pPr>
              <a:r>
                <a:rPr lang="zh-CN" altLang="en-US" sz="2800" dirty="0">
                  <a:solidFill>
                    <a:schemeClr val="bg1">
                      <a:lumMod val="95000"/>
                    </a:schemeClr>
                  </a:solidFill>
                  <a:cs typeface="+mn-ea"/>
                  <a:sym typeface="+mn-lt"/>
                </a:rPr>
                <a:t>前端结果</a:t>
              </a:r>
              <a:endParaRPr lang="zh-CN" altLang="en-US" sz="2800" dirty="0">
                <a:solidFill>
                  <a:schemeClr val="bg1">
                    <a:lumMod val="95000"/>
                  </a:schemeClr>
                </a:solidFill>
                <a:cs typeface="+mn-ea"/>
                <a:sym typeface="+mn-lt"/>
              </a:endParaRPr>
            </a:p>
          </p:txBody>
        </p:sp>
      </p:grpSp>
      <p:pic>
        <p:nvPicPr>
          <p:cNvPr id="29" name="图片 28"/>
          <p:cNvPicPr>
            <a:picLocks noChangeAspect="1"/>
          </p:cNvPicPr>
          <p:nvPr/>
        </p:nvPicPr>
        <p:blipFill>
          <a:blip r:embed="rId3"/>
          <a:stretch>
            <a:fillRect/>
          </a:stretch>
        </p:blipFill>
        <p:spPr>
          <a:xfrm>
            <a:off x="4658360" y="2559685"/>
            <a:ext cx="6620510" cy="3284220"/>
          </a:xfrm>
          <a:prstGeom prst="rect">
            <a:avLst/>
          </a:prstGeom>
        </p:spPr>
      </p:pic>
      <p:pic>
        <p:nvPicPr>
          <p:cNvPr id="30" name="图片 29"/>
          <p:cNvPicPr>
            <a:picLocks noChangeAspect="1"/>
          </p:cNvPicPr>
          <p:nvPr/>
        </p:nvPicPr>
        <p:blipFill>
          <a:blip r:embed="rId4"/>
          <a:stretch>
            <a:fillRect/>
          </a:stretch>
        </p:blipFill>
        <p:spPr>
          <a:xfrm>
            <a:off x="1218565" y="2914015"/>
            <a:ext cx="2887980" cy="25755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需求分析</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1656159"/>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 用户在进行搜索时，根据用户所在公司的主营业务，对反馈的结果进行重排序，将与公司业务更相关的结果排在前面。</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对普通用户，记录其行为习惯，产生用户画像，根据用户画像进行结果重排序。</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根据用户信息构建用户画像，搜集用户行为，挖掘用户历史数据，优化检索结果。</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创建公司</a:t>
            </a:r>
            <a:r>
              <a:rPr lang="en-US" altLang="zh-CN" sz="2800" dirty="0">
                <a:solidFill>
                  <a:srgbClr val="0150A2"/>
                </a:solidFill>
                <a:ea typeface="微软雅黑" panose="020B0503020204020204" pitchFamily="34" charset="-122"/>
                <a:cs typeface="Times New Roman" panose="02020603050405020304" pitchFamily="18" charset="0"/>
                <a:sym typeface="+mn-ea"/>
              </a:rPr>
              <a:t>-</a:t>
            </a:r>
            <a:r>
              <a:rPr lang="zh-CN" altLang="en-US" sz="2800" dirty="0">
                <a:solidFill>
                  <a:srgbClr val="0150A2"/>
                </a:solidFill>
                <a:ea typeface="微软雅黑" panose="020B0503020204020204" pitchFamily="34" charset="-122"/>
                <a:cs typeface="Times New Roman" panose="02020603050405020304" pitchFamily="18" charset="0"/>
                <a:sym typeface="+mn-ea"/>
              </a:rPr>
              <a:t>公司联系</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3656707"/>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由于数据库中的 </a:t>
            </a:r>
            <a:r>
              <a:rPr lang="en-US" altLang="zh-CN" sz="2000" b="0" dirty="0" err="1">
                <a:ea typeface="微软雅黑" panose="020B0503020204020204" pitchFamily="34" charset="-122"/>
                <a:cs typeface="Times New Roman" panose="02020603050405020304" pitchFamily="18" charset="0"/>
              </a:rPr>
              <a:t>gyy_company</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表中没有对应的公司主营业务，所以使用 </a:t>
            </a:r>
            <a:r>
              <a:rPr lang="en-US" altLang="zh-CN" sz="2000" b="0" dirty="0">
                <a:ea typeface="微软雅黑" panose="020B0503020204020204" pitchFamily="34" charset="-122"/>
                <a:cs typeface="Times New Roman" panose="02020603050405020304" pitchFamily="18" charset="0"/>
              </a:rPr>
              <a:t>business </a:t>
            </a:r>
            <a:r>
              <a:rPr lang="zh-CN" altLang="en-US" sz="2000" b="0" dirty="0">
                <a:ea typeface="微软雅黑" panose="020B0503020204020204" pitchFamily="34" charset="-122"/>
                <a:cs typeface="Times New Roman" panose="02020603050405020304" pitchFamily="18" charset="0"/>
              </a:rPr>
              <a:t>属性中对应的内容作为公司的主营业务。</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对公司表  </a:t>
            </a:r>
            <a:r>
              <a:rPr lang="en-US" altLang="zh-CN" sz="2000" b="0" dirty="0" err="1">
                <a:ea typeface="微软雅黑" panose="020B0503020204020204" pitchFamily="34" charset="-122"/>
                <a:cs typeface="Times New Roman" panose="02020603050405020304" pitchFamily="18" charset="0"/>
              </a:rPr>
              <a:t>gyy_company</a:t>
            </a:r>
            <a:r>
              <a:rPr lang="zh-CN" altLang="en-US" sz="2000" b="0" dirty="0">
                <a:ea typeface="微软雅黑" panose="020B0503020204020204" pitchFamily="34" charset="-122"/>
                <a:cs typeface="Times New Roman" panose="02020603050405020304" pitchFamily="18" charset="0"/>
              </a:rPr>
              <a:t>，将其中所需的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company</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business </a:t>
            </a:r>
            <a:r>
              <a:rPr lang="zh-CN" altLang="en-US" sz="2000" b="0" dirty="0">
                <a:ea typeface="微软雅黑" panose="020B0503020204020204" pitchFamily="34" charset="-122"/>
                <a:cs typeface="Times New Roman" panose="02020603050405020304" pitchFamily="18" charset="0"/>
              </a:rPr>
              <a:t>属性存放到核心 </a:t>
            </a:r>
            <a:r>
              <a:rPr lang="en-US" altLang="zh-CN" sz="2000" b="0" dirty="0" err="1">
                <a:ea typeface="微软雅黑" panose="020B0503020204020204" pitchFamily="34" charset="-122"/>
                <a:cs typeface="Times New Roman" panose="02020603050405020304" pitchFamily="18" charset="0"/>
              </a:rPr>
              <a:t>core_company</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中，设置对应的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company</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business </a:t>
            </a:r>
            <a:r>
              <a:rPr lang="zh-CN" altLang="en-US" sz="2000" b="0" dirty="0">
                <a:ea typeface="微软雅黑" panose="020B0503020204020204" pitchFamily="34" charset="-122"/>
                <a:cs typeface="Times New Roman" panose="02020603050405020304" pitchFamily="18" charset="0"/>
              </a:rPr>
              <a:t>均可索引。</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对数据表 </a:t>
            </a:r>
            <a:r>
              <a:rPr lang="en-US" altLang="zh-CN" sz="2000" b="0" dirty="0" err="1">
                <a:ea typeface="微软雅黑" panose="020B0503020204020204" pitchFamily="34" charset="-122"/>
                <a:cs typeface="Times New Roman" panose="02020603050405020304" pitchFamily="18" charset="0"/>
              </a:rPr>
              <a:t>gyy_company</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中的每一条数据，取出其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company</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business</a:t>
            </a:r>
            <a:r>
              <a:rPr lang="zh-CN" altLang="en-US" sz="2000" b="0" dirty="0">
                <a:ea typeface="微软雅黑" panose="020B0503020204020204" pitchFamily="34" charset="-122"/>
                <a:cs typeface="Times New Roman" panose="02020603050405020304" pitchFamily="18" charset="0"/>
              </a:rPr>
              <a:t>，以 </a:t>
            </a:r>
            <a:r>
              <a:rPr lang="en-US" altLang="zh-CN" sz="2000" b="0" dirty="0">
                <a:ea typeface="微软雅黑" panose="020B0503020204020204" pitchFamily="34" charset="-122"/>
                <a:cs typeface="Times New Roman" panose="02020603050405020304" pitchFamily="18" charset="0"/>
              </a:rPr>
              <a:t>business </a:t>
            </a:r>
            <a:r>
              <a:rPr lang="zh-CN" altLang="en-US" sz="2000" b="0" dirty="0">
                <a:ea typeface="微软雅黑" panose="020B0503020204020204" pitchFamily="34" charset="-122"/>
                <a:cs typeface="Times New Roman" panose="02020603050405020304" pitchFamily="18" charset="0"/>
              </a:rPr>
              <a:t>作为关键字在 </a:t>
            </a:r>
            <a:r>
              <a:rPr lang="en-US" altLang="zh-CN" sz="2000" b="0" dirty="0" err="1">
                <a:ea typeface="微软雅黑" panose="020B0503020204020204" pitchFamily="34" charset="-122"/>
                <a:cs typeface="Times New Roman" panose="02020603050405020304" pitchFamily="18" charset="0"/>
              </a:rPr>
              <a:t>core_company</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中进行检索，取返回结果的前 </a:t>
            </a:r>
            <a:r>
              <a:rPr lang="en-US" altLang="zh-CN" sz="2000" b="0" dirty="0">
                <a:ea typeface="微软雅黑" panose="020B0503020204020204" pitchFamily="34" charset="-122"/>
                <a:cs typeface="Times New Roman" panose="02020603050405020304" pitchFamily="18" charset="0"/>
              </a:rPr>
              <a:t>100 </a:t>
            </a:r>
            <a:r>
              <a:rPr lang="zh-CN" altLang="en-US" sz="2000" b="0" dirty="0">
                <a:ea typeface="微软雅黑" panose="020B0503020204020204" pitchFamily="34" charset="-122"/>
                <a:cs typeface="Times New Roman" panose="02020603050405020304" pitchFamily="18" charset="0"/>
              </a:rPr>
              <a:t>个公司作为与当前公司关系最密切的公司，取出对应公司的 </a:t>
            </a:r>
            <a:r>
              <a:rPr lang="en-US" altLang="zh-CN" sz="2000" b="0" dirty="0">
                <a:ea typeface="微软雅黑" panose="020B0503020204020204" pitchFamily="34" charset="-122"/>
                <a:cs typeface="Times New Roman" panose="02020603050405020304" pitchFamily="18" charset="0"/>
              </a:rPr>
              <a:t>id </a:t>
            </a:r>
            <a:r>
              <a:rPr lang="zh-CN" altLang="en-US" sz="2000" b="0" dirty="0">
                <a:ea typeface="微软雅黑" panose="020B0503020204020204" pitchFamily="34" charset="-122"/>
                <a:cs typeface="Times New Roman" panose="02020603050405020304" pitchFamily="18" charset="0"/>
              </a:rPr>
              <a:t>组成新的属性 </a:t>
            </a:r>
            <a:r>
              <a:rPr lang="en-US" altLang="zh-CN" sz="2000" b="0" dirty="0">
                <a:ea typeface="微软雅黑" panose="020B0503020204020204" pitchFamily="34" charset="-122"/>
                <a:cs typeface="Times New Roman" panose="02020603050405020304" pitchFamily="18" charset="0"/>
              </a:rPr>
              <a:t>relative</a:t>
            </a:r>
            <a:r>
              <a:rPr lang="zh-CN" altLang="en-US" sz="2000" b="0" dirty="0">
                <a:ea typeface="微软雅黑" panose="020B0503020204020204" pitchFamily="34" charset="-122"/>
                <a:cs typeface="Times New Roman" panose="02020603050405020304" pitchFamily="18" charset="0"/>
              </a:rPr>
              <a:t>。</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将上述得到的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company</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business</a:t>
            </a:r>
            <a:r>
              <a:rPr lang="zh-CN" altLang="en-US" sz="2000" b="0" dirty="0">
                <a:ea typeface="微软雅黑" panose="020B0503020204020204" pitchFamily="34" charset="-122"/>
                <a:cs typeface="Times New Roman" panose="02020603050405020304" pitchFamily="18" charset="0"/>
              </a:rPr>
              <a:t>、</a:t>
            </a:r>
            <a:r>
              <a:rPr lang="en-US" altLang="zh-CN" sz="2000" b="0" dirty="0">
                <a:ea typeface="微软雅黑" panose="020B0503020204020204" pitchFamily="34" charset="-122"/>
                <a:cs typeface="Times New Roman" panose="02020603050405020304" pitchFamily="18" charset="0"/>
              </a:rPr>
              <a:t>relative </a:t>
            </a:r>
            <a:r>
              <a:rPr lang="zh-CN" altLang="en-US" sz="2000" b="0" dirty="0">
                <a:ea typeface="微软雅黑" panose="020B0503020204020204" pitchFamily="34" charset="-122"/>
                <a:cs typeface="Times New Roman" panose="02020603050405020304" pitchFamily="18" charset="0"/>
              </a:rPr>
              <a:t>作为新的数据表 </a:t>
            </a:r>
            <a:r>
              <a:rPr lang="en-US" altLang="zh-CN" sz="2000" b="0" dirty="0" err="1">
                <a:ea typeface="微软雅黑" panose="020B0503020204020204" pitchFamily="34" charset="-122"/>
                <a:cs typeface="Times New Roman" panose="02020603050405020304" pitchFamily="18" charset="0"/>
              </a:rPr>
              <a:t>gyy_company_reset</a:t>
            </a:r>
            <a:r>
              <a:rPr lang="zh-CN" altLang="en-US" sz="2000" b="0" dirty="0">
                <a:ea typeface="微软雅黑" panose="020B0503020204020204" pitchFamily="34" charset="-122"/>
                <a:cs typeface="Times New Roman" panose="02020603050405020304" pitchFamily="18" charset="0"/>
              </a:rPr>
              <a:t>，并将其中的值存到核心 </a:t>
            </a:r>
            <a:r>
              <a:rPr lang="en-US" altLang="zh-CN" sz="2000" b="0" dirty="0" err="1">
                <a:ea typeface="微软雅黑" panose="020B0503020204020204" pitchFamily="34" charset="-122"/>
                <a:cs typeface="Times New Roman" panose="02020603050405020304" pitchFamily="18" charset="0"/>
              </a:rPr>
              <a:t>core_company_relative</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中，完成公司联系的数据存储。</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相关数据表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pic>
        <p:nvPicPr>
          <p:cNvPr id="16" name="图片 15"/>
          <p:cNvPicPr>
            <a:picLocks noChangeAspect="1"/>
          </p:cNvPicPr>
          <p:nvPr/>
        </p:nvPicPr>
        <p:blipFill>
          <a:blip r:embed="rId3"/>
          <a:stretch>
            <a:fillRect/>
          </a:stretch>
        </p:blipFill>
        <p:spPr>
          <a:xfrm>
            <a:off x="773430" y="2095500"/>
            <a:ext cx="5760085" cy="3840480"/>
          </a:xfrm>
          <a:prstGeom prst="rect">
            <a:avLst/>
          </a:prstGeom>
        </p:spPr>
      </p:pic>
      <p:pic>
        <p:nvPicPr>
          <p:cNvPr id="17" name="图片 16"/>
          <p:cNvPicPr>
            <a:picLocks noChangeAspect="1"/>
          </p:cNvPicPr>
          <p:nvPr/>
        </p:nvPicPr>
        <p:blipFill>
          <a:blip r:embed="rId4"/>
          <a:stretch>
            <a:fillRect/>
          </a:stretch>
        </p:blipFill>
        <p:spPr>
          <a:xfrm>
            <a:off x="4918710" y="1622425"/>
            <a:ext cx="6438900" cy="47707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相关处理函数</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pic>
        <p:nvPicPr>
          <p:cNvPr id="15" name="图片 14"/>
          <p:cNvPicPr>
            <a:picLocks noChangeAspect="1"/>
          </p:cNvPicPr>
          <p:nvPr/>
        </p:nvPicPr>
        <p:blipFill>
          <a:blip r:embed="rId3"/>
          <a:stretch>
            <a:fillRect/>
          </a:stretch>
        </p:blipFill>
        <p:spPr>
          <a:xfrm>
            <a:off x="1579562" y="1514422"/>
            <a:ext cx="9032875" cy="442912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创建公司</a:t>
            </a:r>
            <a:r>
              <a:rPr lang="en-US" altLang="zh-CN" sz="2800" dirty="0">
                <a:solidFill>
                  <a:srgbClr val="0150A2"/>
                </a:solidFill>
                <a:ea typeface="微软雅黑" panose="020B0503020204020204" pitchFamily="34" charset="-122"/>
                <a:cs typeface="Times New Roman" panose="02020603050405020304" pitchFamily="18" charset="0"/>
                <a:sym typeface="+mn-ea"/>
              </a:rPr>
              <a:t>-</a:t>
            </a:r>
            <a:r>
              <a:rPr lang="zh-CN" altLang="en-US" sz="2800" dirty="0">
                <a:solidFill>
                  <a:srgbClr val="0150A2"/>
                </a:solidFill>
                <a:ea typeface="微软雅黑" panose="020B0503020204020204" pitchFamily="34" charset="-122"/>
                <a:cs typeface="Times New Roman" panose="02020603050405020304" pitchFamily="18" charset="0"/>
                <a:sym typeface="+mn-ea"/>
              </a:rPr>
              <a:t>公司联系</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4056816"/>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数据表 </a:t>
            </a:r>
            <a:r>
              <a:rPr lang="en-US" altLang="zh-CN" sz="2000" b="0" dirty="0" err="1">
                <a:ea typeface="微软雅黑" panose="020B0503020204020204" pitchFamily="34" charset="-122"/>
                <a:cs typeface="Times New Roman" panose="02020603050405020304" pitchFamily="18" charset="0"/>
              </a:rPr>
              <a:t>gyy_mall</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中包含了近 </a:t>
            </a:r>
            <a:r>
              <a:rPr lang="en-US" altLang="zh-CN" sz="2000" b="0" dirty="0">
                <a:ea typeface="微软雅黑" panose="020B0503020204020204" pitchFamily="34" charset="-122"/>
                <a:cs typeface="Times New Roman" panose="02020603050405020304" pitchFamily="18" charset="0"/>
              </a:rPr>
              <a:t>1500W </a:t>
            </a:r>
            <a:r>
              <a:rPr lang="zh-CN" altLang="en-US" sz="2000" b="0" dirty="0">
                <a:ea typeface="微软雅黑" panose="020B0503020204020204" pitchFamily="34" charset="-122"/>
                <a:cs typeface="Times New Roman" panose="02020603050405020304" pitchFamily="18" charset="0"/>
              </a:rPr>
              <a:t>条数据，但很难处理的是每一条商品数据对应的公司却是使用公司名作为所属公司的标识，而不是公司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，这为处理查询结果的重排序增加了很大的麻烦，因为数据库中对字符串类型的匹配速度较慢，并且由于数据量过于庞大，导致哪怕限制只对商品表中的前 </a:t>
            </a:r>
            <a:r>
              <a:rPr lang="en-US" altLang="zh-CN" sz="2000" b="0" dirty="0">
                <a:ea typeface="微软雅黑" panose="020B0503020204020204" pitchFamily="34" charset="-122"/>
                <a:cs typeface="Times New Roman" panose="02020603050405020304" pitchFamily="18" charset="0"/>
              </a:rPr>
              <a:t>1000 </a:t>
            </a:r>
            <a:r>
              <a:rPr lang="zh-CN" altLang="en-US" sz="2000" b="0" dirty="0">
                <a:ea typeface="微软雅黑" panose="020B0503020204020204" pitchFamily="34" charset="-122"/>
                <a:cs typeface="Times New Roman" panose="02020603050405020304" pitchFamily="18" charset="0"/>
              </a:rPr>
              <a:t>条数据根据对应的公司名称匹配相应的公司 </a:t>
            </a:r>
            <a:r>
              <a:rPr lang="en-US" altLang="zh-CN" sz="2000" b="0" dirty="0">
                <a:ea typeface="微软雅黑" panose="020B0503020204020204" pitchFamily="34" charset="-122"/>
                <a:cs typeface="Times New Roman" panose="02020603050405020304" pitchFamily="18" charset="0"/>
              </a:rPr>
              <a:t>id </a:t>
            </a:r>
            <a:r>
              <a:rPr lang="zh-CN" altLang="en-US" sz="2000" b="0" dirty="0">
                <a:ea typeface="微软雅黑" panose="020B0503020204020204" pitchFamily="34" charset="-122"/>
                <a:cs typeface="Times New Roman" panose="02020603050405020304" pitchFamily="18" charset="0"/>
              </a:rPr>
              <a:t>都需要花费近 </a:t>
            </a:r>
            <a:r>
              <a:rPr lang="en-US" altLang="zh-CN" sz="2000" b="0" dirty="0">
                <a:ea typeface="微软雅黑" panose="020B0503020204020204" pitchFamily="34" charset="-122"/>
                <a:cs typeface="Times New Roman" panose="02020603050405020304" pitchFamily="18" charset="0"/>
              </a:rPr>
              <a:t>40 </a:t>
            </a:r>
            <a:r>
              <a:rPr lang="zh-CN" altLang="en-US" sz="2000" b="0" dirty="0">
                <a:ea typeface="微软雅黑" panose="020B0503020204020204" pitchFamily="34" charset="-122"/>
                <a:cs typeface="Times New Roman" panose="02020603050405020304" pitchFamily="18" charset="0"/>
              </a:rPr>
              <a:t>分钟的时间，这显然是无法接受的。</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鉴于上述情况，只能根据数据表中现有的信息进行对商品表的重构。</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首先，根据前面创建的公司核心 </a:t>
            </a:r>
            <a:r>
              <a:rPr lang="en-US" altLang="zh-CN" sz="2000" b="0" dirty="0" err="1">
                <a:ea typeface="微软雅黑" panose="020B0503020204020204" pitchFamily="34" charset="-122"/>
                <a:cs typeface="Times New Roman" panose="02020603050405020304" pitchFamily="18" charset="0"/>
              </a:rPr>
              <a:t>core_company</a:t>
            </a:r>
            <a:r>
              <a:rPr lang="zh-CN" altLang="en-US" sz="2000" b="0" dirty="0">
                <a:ea typeface="微软雅黑" panose="020B0503020204020204" pitchFamily="34" charset="-122"/>
                <a:cs typeface="Times New Roman" panose="02020603050405020304" pitchFamily="18" charset="0"/>
              </a:rPr>
              <a:t>，使用 </a:t>
            </a:r>
            <a:r>
              <a:rPr lang="en-US" altLang="zh-CN" sz="2000" b="0" dirty="0" err="1">
                <a:ea typeface="微软雅黑" panose="020B0503020204020204" pitchFamily="34" charset="-122"/>
                <a:cs typeface="Times New Roman" panose="02020603050405020304" pitchFamily="18" charset="0"/>
              </a:rPr>
              <a:t>solrj</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对商品表中每一条数据根据公司名称在 </a:t>
            </a:r>
            <a:r>
              <a:rPr lang="en-US" altLang="zh-CN" sz="2000" b="0" dirty="0" err="1">
                <a:ea typeface="微软雅黑" panose="020B0503020204020204" pitchFamily="34" charset="-122"/>
                <a:cs typeface="Times New Roman" panose="02020603050405020304" pitchFamily="18" charset="0"/>
              </a:rPr>
              <a:t>core_company</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查询对应的公司 </a:t>
            </a:r>
            <a:r>
              <a:rPr lang="en-US" altLang="zh-CN" sz="2000" b="0" dirty="0">
                <a:ea typeface="微软雅黑" panose="020B0503020204020204" pitchFamily="34" charset="-122"/>
                <a:cs typeface="Times New Roman" panose="02020603050405020304" pitchFamily="18" charset="0"/>
              </a:rPr>
              <a:t>id </a:t>
            </a:r>
            <a:r>
              <a:rPr lang="zh-CN" altLang="en-US" sz="2000" b="0" dirty="0">
                <a:ea typeface="微软雅黑" panose="020B0503020204020204" pitchFamily="34" charset="-122"/>
                <a:cs typeface="Times New Roman" panose="02020603050405020304" pitchFamily="18" charset="0"/>
              </a:rPr>
              <a:t>并取第一条精准查询的结果作为所查询的公司。但这样做存在的弊端是，由于是根据公司名称作为关键字进行查询，如果公司表中不存在该公司，根据模糊查询也会产生返回结果，导致匹配结果不符。</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创建公司</a:t>
            </a:r>
            <a:r>
              <a:rPr lang="en-US" altLang="zh-CN" sz="2800" dirty="0">
                <a:solidFill>
                  <a:srgbClr val="0150A2"/>
                </a:solidFill>
                <a:ea typeface="微软雅黑" panose="020B0503020204020204" pitchFamily="34" charset="-122"/>
                <a:cs typeface="Times New Roman" panose="02020603050405020304" pitchFamily="18" charset="0"/>
                <a:sym typeface="+mn-ea"/>
              </a:rPr>
              <a:t>-</a:t>
            </a:r>
            <a:r>
              <a:rPr lang="zh-CN" altLang="en-US" sz="2800" dirty="0">
                <a:solidFill>
                  <a:srgbClr val="0150A2"/>
                </a:solidFill>
                <a:ea typeface="微软雅黑" panose="020B0503020204020204" pitchFamily="34" charset="-122"/>
                <a:cs typeface="Times New Roman" panose="02020603050405020304" pitchFamily="18" charset="0"/>
                <a:sym typeface="+mn-ea"/>
              </a:rPr>
              <a:t>公司联系</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1128713" y="1322722"/>
            <a:ext cx="10300278" cy="3256597"/>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 因此，在做匹配时，还需要对获取到的结果的第一条数据取出公司名与当前公司名做比较，若相同则将此商品的 </a:t>
            </a:r>
            <a:r>
              <a:rPr lang="en-US" altLang="zh-CN" sz="2000" b="0" dirty="0">
                <a:ea typeface="微软雅黑" panose="020B0503020204020204" pitchFamily="34" charset="-122"/>
                <a:cs typeface="Times New Roman" panose="02020603050405020304" pitchFamily="18" charset="0"/>
              </a:rPr>
              <a:t>id</a:t>
            </a:r>
            <a:r>
              <a:rPr lang="zh-CN" altLang="en-US" sz="2000" b="0" dirty="0">
                <a:ea typeface="微软雅黑" panose="020B0503020204020204" pitchFamily="34" charset="-122"/>
                <a:cs typeface="Times New Roman" panose="02020603050405020304" pitchFamily="18" charset="0"/>
              </a:rPr>
              <a:t>等信息与公司 </a:t>
            </a:r>
            <a:r>
              <a:rPr lang="en-US" altLang="zh-CN" sz="2000" b="0" dirty="0">
                <a:ea typeface="微软雅黑" panose="020B0503020204020204" pitchFamily="34" charset="-122"/>
                <a:cs typeface="Times New Roman" panose="02020603050405020304" pitchFamily="18" charset="0"/>
              </a:rPr>
              <a:t>id </a:t>
            </a:r>
            <a:r>
              <a:rPr lang="zh-CN" altLang="en-US" sz="2000" b="0" dirty="0">
                <a:ea typeface="微软雅黑" panose="020B0503020204020204" pitchFamily="34" charset="-122"/>
                <a:cs typeface="Times New Roman" panose="02020603050405020304" pitchFamily="18" charset="0"/>
              </a:rPr>
              <a:t>一起存到新的核心 </a:t>
            </a:r>
            <a:r>
              <a:rPr lang="en-US" altLang="zh-CN" sz="2000" b="0" dirty="0" err="1">
                <a:ea typeface="微软雅黑" panose="020B0503020204020204" pitchFamily="34" charset="-122"/>
                <a:cs typeface="Times New Roman" panose="02020603050405020304" pitchFamily="18" charset="0"/>
              </a:rPr>
              <a:t>core_product</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中，作为后续进行商品查找的新的核心。</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经过这样的处理确实可以得到相应的所需结果，但因为 </a:t>
            </a:r>
            <a:r>
              <a:rPr lang="en-US" altLang="zh-CN" sz="2000" b="0" dirty="0" err="1">
                <a:ea typeface="微软雅黑" panose="020B0503020204020204" pitchFamily="34" charset="-122"/>
                <a:cs typeface="Times New Roman" panose="02020603050405020304" pitchFamily="18" charset="0"/>
              </a:rPr>
              <a:t>solr</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存在 </a:t>
            </a:r>
            <a:r>
              <a:rPr lang="en-US" altLang="zh-CN" sz="2000" b="0" dirty="0">
                <a:ea typeface="微软雅黑" panose="020B0503020204020204" pitchFamily="34" charset="-122"/>
                <a:cs typeface="Times New Roman" panose="02020603050405020304" pitchFamily="18" charset="0"/>
              </a:rPr>
              <a:t>I/O </a:t>
            </a:r>
            <a:r>
              <a:rPr lang="zh-CN" altLang="en-US" sz="2000" b="0" dirty="0">
                <a:ea typeface="微软雅黑" panose="020B0503020204020204" pitchFamily="34" charset="-122"/>
                <a:cs typeface="Times New Roman" panose="02020603050405020304" pitchFamily="18" charset="0"/>
              </a:rPr>
              <a:t>限制，所以使得它每秒存储 </a:t>
            </a:r>
            <a:r>
              <a:rPr lang="en-US" altLang="zh-CN" sz="2000" b="0" dirty="0">
                <a:ea typeface="微软雅黑" panose="020B0503020204020204" pitchFamily="34" charset="-122"/>
                <a:cs typeface="Times New Roman" panose="02020603050405020304" pitchFamily="18" charset="0"/>
              </a:rPr>
              <a:t>20 </a:t>
            </a:r>
            <a:r>
              <a:rPr lang="zh-CN" altLang="en-US" sz="2000" b="0" dirty="0">
                <a:ea typeface="微软雅黑" panose="020B0503020204020204" pitchFamily="34" charset="-122"/>
                <a:cs typeface="Times New Roman" panose="02020603050405020304" pitchFamily="18" charset="0"/>
              </a:rPr>
              <a:t>条数据的速度在百万</a:t>
            </a:r>
            <a:r>
              <a:rPr lang="en-US" altLang="zh-CN" sz="2000" b="0" dirty="0">
                <a:ea typeface="微软雅黑" panose="020B0503020204020204" pitchFamily="34" charset="-122"/>
                <a:cs typeface="Times New Roman" panose="02020603050405020304" pitchFamily="18" charset="0"/>
              </a:rPr>
              <a:t>/</a:t>
            </a:r>
            <a:r>
              <a:rPr lang="zh-CN" altLang="en-US" sz="2000" b="0" dirty="0">
                <a:ea typeface="微软雅黑" panose="020B0503020204020204" pitchFamily="34" charset="-122"/>
                <a:cs typeface="Times New Roman" panose="02020603050405020304" pitchFamily="18" charset="0"/>
              </a:rPr>
              <a:t>千万级的数据量面前也显得不那么快。</a:t>
            </a:r>
            <a:endParaRPr lang="zh-CN" altLang="en-US"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在创建好核心 </a:t>
            </a:r>
            <a:r>
              <a:rPr lang="en-US" altLang="zh-CN" sz="2000" b="0" dirty="0" err="1">
                <a:ea typeface="微软雅黑" panose="020B0503020204020204" pitchFamily="34" charset="-122"/>
                <a:cs typeface="Times New Roman" panose="02020603050405020304" pitchFamily="18" charset="0"/>
              </a:rPr>
              <a:t>core_product</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后，用户在查询时便可以根据用户所属的公司对应的 </a:t>
            </a:r>
            <a:r>
              <a:rPr lang="en-US" altLang="zh-CN" sz="2000" b="0" dirty="0">
                <a:ea typeface="微软雅黑" panose="020B0503020204020204" pitchFamily="34" charset="-122"/>
                <a:cs typeface="Times New Roman" panose="02020603050405020304" pitchFamily="18" charset="0"/>
              </a:rPr>
              <a:t>relative </a:t>
            </a:r>
            <a:r>
              <a:rPr lang="zh-CN" altLang="en-US" sz="2000" b="0" dirty="0">
                <a:ea typeface="微软雅黑" panose="020B0503020204020204" pitchFamily="34" charset="-122"/>
                <a:cs typeface="Times New Roman" panose="02020603050405020304" pitchFamily="18" charset="0"/>
              </a:rPr>
              <a:t>属性，对查询的结果进行重排序，将查询结果中公司 </a:t>
            </a:r>
            <a:r>
              <a:rPr lang="en-US" altLang="zh-CN" sz="2000" b="0" dirty="0">
                <a:ea typeface="微软雅黑" panose="020B0503020204020204" pitchFamily="34" charset="-122"/>
                <a:cs typeface="Times New Roman" panose="02020603050405020304" pitchFamily="18" charset="0"/>
              </a:rPr>
              <a:t>id </a:t>
            </a:r>
            <a:r>
              <a:rPr lang="zh-CN" altLang="en-US" sz="2000" b="0" dirty="0">
                <a:ea typeface="微软雅黑" panose="020B0503020204020204" pitchFamily="34" charset="-122"/>
                <a:cs typeface="Times New Roman" panose="02020603050405020304" pitchFamily="18" charset="0"/>
              </a:rPr>
              <a:t>在 </a:t>
            </a:r>
            <a:r>
              <a:rPr lang="en-US" altLang="zh-CN" sz="2000" b="0" dirty="0">
                <a:ea typeface="微软雅黑" panose="020B0503020204020204" pitchFamily="34" charset="-122"/>
                <a:cs typeface="Times New Roman" panose="02020603050405020304" pitchFamily="18" charset="0"/>
              </a:rPr>
              <a:t>relative </a:t>
            </a:r>
            <a:r>
              <a:rPr lang="zh-CN" altLang="en-US" sz="2000" b="0" dirty="0">
                <a:ea typeface="微软雅黑" panose="020B0503020204020204" pitchFamily="34" charset="-122"/>
                <a:cs typeface="Times New Roman" panose="02020603050405020304" pitchFamily="18" charset="0"/>
              </a:rPr>
              <a:t>属性中的结果优先展示，从而达到根据不同的公司反馈不同的结果的目的。</a:t>
            </a:r>
            <a:endParaRPr lang="zh-CN" altLang="en-US"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相关处理函数</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pic>
        <p:nvPicPr>
          <p:cNvPr id="15" name="图片 14"/>
          <p:cNvPicPr>
            <a:picLocks noChangeAspect="1"/>
          </p:cNvPicPr>
          <p:nvPr/>
        </p:nvPicPr>
        <p:blipFill>
          <a:blip r:embed="rId3"/>
          <a:stretch>
            <a:fillRect/>
          </a:stretch>
        </p:blipFill>
        <p:spPr>
          <a:xfrm>
            <a:off x="838727" y="1414073"/>
            <a:ext cx="7707630" cy="3934460"/>
          </a:xfrm>
          <a:prstGeom prst="rect">
            <a:avLst/>
          </a:prstGeom>
        </p:spPr>
      </p:pic>
      <p:pic>
        <p:nvPicPr>
          <p:cNvPr id="16" name="图片 15"/>
          <p:cNvPicPr>
            <a:picLocks noChangeAspect="1"/>
          </p:cNvPicPr>
          <p:nvPr/>
        </p:nvPicPr>
        <p:blipFill>
          <a:blip r:embed="rId4"/>
          <a:stretch>
            <a:fillRect/>
          </a:stretch>
        </p:blipFill>
        <p:spPr>
          <a:xfrm>
            <a:off x="4476858" y="2876233"/>
            <a:ext cx="6876415" cy="35433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构建基于</a:t>
            </a:r>
            <a:r>
              <a:rPr lang="en-US" altLang="zh-CN" sz="3200" b="1" dirty="0" err="1">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Solr</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的搜索引擎</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数据表结构设计建议</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21" name="Text Box 5"/>
          <p:cNvSpPr txBox="1">
            <a:spLocks noChangeArrowheads="1"/>
          </p:cNvSpPr>
          <p:nvPr/>
        </p:nvSpPr>
        <p:spPr bwMode="auto">
          <a:xfrm>
            <a:off x="8029433" y="1600814"/>
            <a:ext cx="3399558" cy="2456378"/>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 其中，</a:t>
            </a:r>
            <a:r>
              <a:rPr lang="en-US" altLang="zh-CN" sz="2000" b="0" dirty="0">
                <a:ea typeface="微软雅黑" panose="020B0503020204020204" pitchFamily="34" charset="-122"/>
                <a:cs typeface="Times New Roman" panose="02020603050405020304" pitchFamily="18" charset="0"/>
              </a:rPr>
              <a:t>Standards </a:t>
            </a:r>
            <a:r>
              <a:rPr lang="zh-CN" altLang="en-US" sz="2000" b="0" dirty="0">
                <a:ea typeface="微软雅黑" panose="020B0503020204020204" pitchFamily="34" charset="-122"/>
                <a:cs typeface="Times New Roman" panose="02020603050405020304" pitchFamily="18" charset="0"/>
              </a:rPr>
              <a:t>代表商品的规格列表，存储格式为：规格</a:t>
            </a:r>
            <a:r>
              <a:rPr lang="en-US" altLang="zh-CN" sz="2000" b="0" dirty="0">
                <a:ea typeface="微软雅黑" panose="020B0503020204020204" pitchFamily="34" charset="-122"/>
                <a:cs typeface="Times New Roman" panose="02020603050405020304" pitchFamily="18" charset="0"/>
              </a:rPr>
              <a:t>id1: </a:t>
            </a:r>
            <a:r>
              <a:rPr lang="zh-CN" altLang="en-US" sz="2000" b="0" dirty="0">
                <a:ea typeface="微软雅黑" panose="020B0503020204020204" pitchFamily="34" charset="-122"/>
                <a:cs typeface="Times New Roman" panose="02020603050405020304" pitchFamily="18" charset="0"/>
              </a:rPr>
              <a:t>值</a:t>
            </a:r>
            <a:r>
              <a:rPr lang="en-US" altLang="zh-CN" sz="2000" b="0" dirty="0">
                <a:ea typeface="微软雅黑" panose="020B0503020204020204" pitchFamily="34" charset="-122"/>
                <a:cs typeface="Times New Roman" panose="02020603050405020304" pitchFamily="18" charset="0"/>
              </a:rPr>
              <a:t>1, </a:t>
            </a:r>
            <a:r>
              <a:rPr lang="zh-CN" altLang="en-US" sz="2000" b="0" dirty="0">
                <a:ea typeface="微软雅黑" panose="020B0503020204020204" pitchFamily="34" charset="-122"/>
                <a:cs typeface="Times New Roman" panose="02020603050405020304" pitchFamily="18" charset="0"/>
              </a:rPr>
              <a:t>规格</a:t>
            </a:r>
            <a:r>
              <a:rPr lang="en-US" altLang="zh-CN" sz="2000" b="0" dirty="0">
                <a:ea typeface="微软雅黑" panose="020B0503020204020204" pitchFamily="34" charset="-122"/>
                <a:cs typeface="Times New Roman" panose="02020603050405020304" pitchFamily="18" charset="0"/>
              </a:rPr>
              <a:t>id2: </a:t>
            </a:r>
            <a:r>
              <a:rPr lang="zh-CN" altLang="en-US" sz="2000" b="0" dirty="0">
                <a:ea typeface="微软雅黑" panose="020B0503020204020204" pitchFamily="34" charset="-122"/>
                <a:cs typeface="Times New Roman" panose="02020603050405020304" pitchFamily="18" charset="0"/>
              </a:rPr>
              <a:t>值</a:t>
            </a:r>
            <a:r>
              <a:rPr lang="en-US" altLang="zh-CN" sz="2000" b="0" dirty="0">
                <a:ea typeface="微软雅黑" panose="020B0503020204020204" pitchFamily="34" charset="-122"/>
                <a:cs typeface="Times New Roman" panose="02020603050405020304" pitchFamily="18" charset="0"/>
              </a:rPr>
              <a:t>2, ... , </a:t>
            </a:r>
            <a:r>
              <a:rPr lang="zh-CN" altLang="en-US" sz="2000" b="0" dirty="0">
                <a:ea typeface="微软雅黑" panose="020B0503020204020204" pitchFamily="34" charset="-122"/>
                <a:cs typeface="Times New Roman" panose="02020603050405020304" pitchFamily="18" charset="0"/>
              </a:rPr>
              <a:t>规格</a:t>
            </a:r>
            <a:r>
              <a:rPr lang="en-US" altLang="zh-CN" sz="2000" b="0" dirty="0" err="1">
                <a:ea typeface="微软雅黑" panose="020B0503020204020204" pitchFamily="34" charset="-122"/>
                <a:cs typeface="Times New Roman" panose="02020603050405020304" pitchFamily="18" charset="0"/>
              </a:rPr>
              <a:t>idn</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值</a:t>
            </a:r>
            <a:r>
              <a:rPr lang="en-US" altLang="zh-CN" sz="2000" b="0" dirty="0">
                <a:ea typeface="微软雅黑" panose="020B0503020204020204" pitchFamily="34" charset="-122"/>
                <a:cs typeface="Times New Roman" panose="02020603050405020304" pitchFamily="18" charset="0"/>
              </a:rPr>
              <a:t>n</a:t>
            </a:r>
            <a:r>
              <a:rPr lang="zh-CN" altLang="en-US" sz="2000" b="0" dirty="0">
                <a:ea typeface="微软雅黑" panose="020B0503020204020204" pitchFamily="34" charset="-122"/>
                <a:cs typeface="Times New Roman" panose="02020603050405020304" pitchFamily="18" charset="0"/>
              </a:rPr>
              <a:t>。</a:t>
            </a:r>
            <a:endParaRPr lang="en-US" altLang="zh-CN" sz="20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000" b="0" dirty="0">
                <a:ea typeface="微软雅黑" panose="020B0503020204020204" pitchFamily="34" charset="-122"/>
                <a:cs typeface="Times New Roman" panose="02020603050405020304" pitchFamily="18" charset="0"/>
              </a:rPr>
              <a:t>其中规格 </a:t>
            </a:r>
            <a:r>
              <a:rPr lang="en-US" altLang="zh-CN" sz="2000" b="0" dirty="0" err="1">
                <a:ea typeface="微软雅黑" panose="020B0503020204020204" pitchFamily="34" charset="-122"/>
                <a:cs typeface="Times New Roman" panose="02020603050405020304" pitchFamily="18" charset="0"/>
              </a:rPr>
              <a:t>i</a:t>
            </a:r>
            <a:r>
              <a:rPr lang="en-US" altLang="zh-CN" sz="2000" b="0" dirty="0">
                <a:ea typeface="微软雅黑" panose="020B0503020204020204" pitchFamily="34" charset="-122"/>
                <a:cs typeface="Times New Roman" panose="02020603050405020304" pitchFamily="18" charset="0"/>
              </a:rPr>
              <a:t> </a:t>
            </a:r>
            <a:r>
              <a:rPr lang="zh-CN" altLang="en-US" sz="2000" b="0" dirty="0">
                <a:ea typeface="微软雅黑" panose="020B0503020204020204" pitchFamily="34" charset="-122"/>
                <a:cs typeface="Times New Roman" panose="02020603050405020304" pitchFamily="18" charset="0"/>
              </a:rPr>
              <a:t>必须为规格表中存在的规格信息。</a:t>
            </a:r>
            <a:endParaRPr lang="zh-CN" altLang="en-US" sz="2000" b="0" dirty="0">
              <a:ea typeface="微软雅黑" panose="020B0503020204020204" pitchFamily="34" charset="-122"/>
              <a:cs typeface="Times New Roman" panose="02020603050405020304" pitchFamily="18" charset="0"/>
            </a:endParaRPr>
          </a:p>
        </p:txBody>
      </p:sp>
      <p:sp>
        <p:nvSpPr>
          <p:cNvPr id="22" name="文本框 21"/>
          <p:cNvSpPr txBox="1"/>
          <p:nvPr/>
        </p:nvSpPr>
        <p:spPr>
          <a:xfrm>
            <a:off x="838727" y="1600814"/>
            <a:ext cx="7190706" cy="2585323"/>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ProductID</a:t>
            </a:r>
            <a:r>
              <a:rPr lang="en-US" altLang="zh-CN" sz="1800" dirty="0">
                <a:solidFill>
                  <a:srgbClr val="333333"/>
                </a:solidFill>
                <a:effectLst/>
                <a:latin typeface="Lucida Console" panose="020B0609040504020204" pitchFamily="49" charset="0"/>
              </a:rPr>
              <a:t>, int, primary key, auto increase  </a:t>
            </a:r>
            <a:r>
              <a:rPr lang="zh-CN" altLang="en-US" sz="1800" dirty="0">
                <a:solidFill>
                  <a:srgbClr val="333333"/>
                </a:solidFill>
                <a:effectLst/>
                <a:latin typeface="Lucida Console" panose="020B0609040504020204" pitchFamily="49" charset="0"/>
              </a:rPr>
              <a:t>商品 </a:t>
            </a:r>
            <a:r>
              <a:rPr lang="en-US" altLang="zh-CN" sz="1800" dirty="0">
                <a:solidFill>
                  <a:srgbClr val="333333"/>
                </a:solidFill>
                <a:effectLst/>
                <a:latin typeface="Lucida Console" panose="020B0609040504020204" pitchFamily="49" charset="0"/>
              </a:rPr>
              <a:t>id </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Product, varchar(255), not null  </a:t>
            </a:r>
            <a:r>
              <a:rPr lang="zh-CN" altLang="en-US" sz="1800" dirty="0">
                <a:solidFill>
                  <a:srgbClr val="333333"/>
                </a:solidFill>
                <a:effectLst/>
                <a:latin typeface="Lucida Console" panose="020B0609040504020204" pitchFamily="49" charset="0"/>
              </a:rPr>
              <a:t>商品名称</a:t>
            </a:r>
            <a:endParaRPr lang="zh-CN" altLang="en-US"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Price, float  </a:t>
            </a:r>
            <a:r>
              <a:rPr lang="zh-CN" altLang="en-US" sz="1800" dirty="0">
                <a:solidFill>
                  <a:srgbClr val="333333"/>
                </a:solidFill>
                <a:effectLst/>
                <a:latin typeface="Lucida Console" panose="020B0609040504020204" pitchFamily="49" charset="0"/>
              </a:rPr>
              <a:t>商品价格</a:t>
            </a:r>
            <a:endParaRPr lang="zh-CN" altLang="en-US"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Picture, varchar(255)   </a:t>
            </a:r>
            <a:r>
              <a:rPr lang="zh-CN" altLang="en-US" sz="1800" dirty="0">
                <a:solidFill>
                  <a:srgbClr val="333333"/>
                </a:solidFill>
                <a:effectLst/>
                <a:latin typeface="Lucida Console" panose="020B0609040504020204" pitchFamily="49" charset="0"/>
              </a:rPr>
              <a:t>商品展示图片</a:t>
            </a:r>
            <a:endParaRPr lang="zh-CN" altLang="en-US"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CategoryID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商品类别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CompanyID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商品所属公司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AreaID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商品所属地区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Vip</a:t>
            </a:r>
            <a:r>
              <a:rPr lang="en-US" altLang="zh-CN" sz="1800" dirty="0">
                <a:solidFill>
                  <a:srgbClr val="333333"/>
                </a:solidFill>
                <a:effectLst/>
                <a:latin typeface="Lucida Console" panose="020B0609040504020204" pitchFamily="49" charset="0"/>
              </a:rPr>
              <a:t>, int  </a:t>
            </a:r>
            <a:r>
              <a:rPr lang="zh-CN" altLang="en-US" sz="1800" dirty="0">
                <a:solidFill>
                  <a:srgbClr val="333333"/>
                </a:solidFill>
                <a:effectLst/>
                <a:latin typeface="Lucida Console" panose="020B0609040504020204" pitchFamily="49" charset="0"/>
              </a:rPr>
              <a:t>是否为会员公司所有商品</a:t>
            </a:r>
            <a:endParaRPr lang="zh-CN" altLang="en-US"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Standards, varchar(1000)  </a:t>
            </a:r>
            <a:r>
              <a:rPr lang="zh-CN" altLang="en-US" sz="1800" dirty="0">
                <a:solidFill>
                  <a:srgbClr val="333333"/>
                </a:solidFill>
                <a:effectLst/>
                <a:latin typeface="Lucida Console" panose="020B0609040504020204" pitchFamily="49" charset="0"/>
              </a:rPr>
              <a:t>商品规格列表</a:t>
            </a:r>
            <a:endParaRPr lang="zh-CN" altLang="en-US" sz="1800" dirty="0">
              <a:solidFill>
                <a:srgbClr val="333333"/>
              </a:solidFill>
              <a:effectLst/>
              <a:latin typeface="Lucida Console" panose="020B06090405040202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向用户反馈</a:t>
            </a: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数据表结构设计（建议）</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公司表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5" name="Text Box 5"/>
          <p:cNvSpPr txBox="1">
            <a:spLocks noChangeArrowheads="1"/>
          </p:cNvSpPr>
          <p:nvPr/>
        </p:nvSpPr>
        <p:spPr bwMode="auto">
          <a:xfrm>
            <a:off x="763008" y="3161935"/>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类别表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7" name="文本框 16"/>
          <p:cNvSpPr txBox="1"/>
          <p:nvPr/>
        </p:nvSpPr>
        <p:spPr>
          <a:xfrm>
            <a:off x="1204432" y="1373828"/>
            <a:ext cx="9729788" cy="1754326"/>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CompanyID</a:t>
            </a:r>
            <a:r>
              <a:rPr lang="en-US" altLang="zh-CN" sz="1800" dirty="0">
                <a:solidFill>
                  <a:srgbClr val="333333"/>
                </a:solidFill>
                <a:effectLst/>
                <a:latin typeface="Lucida Console" panose="020B0609040504020204" pitchFamily="49" charset="0"/>
              </a:rPr>
              <a:t>, int, primary key, auto increase  </a:t>
            </a:r>
            <a:r>
              <a:rPr lang="zh-CN" altLang="en-US" sz="1800" dirty="0">
                <a:solidFill>
                  <a:srgbClr val="333333"/>
                </a:solidFill>
                <a:effectLst/>
                <a:latin typeface="Lucida Console" panose="020B0609040504020204" pitchFamily="49" charset="0"/>
              </a:rPr>
              <a:t>公司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Company, varchar(255), not null  </a:t>
            </a:r>
            <a:r>
              <a:rPr lang="zh-CN" altLang="en-US" sz="1800" dirty="0">
                <a:solidFill>
                  <a:srgbClr val="333333"/>
                </a:solidFill>
                <a:effectLst/>
                <a:latin typeface="Lucida Console" panose="020B0609040504020204" pitchFamily="49" charset="0"/>
              </a:rPr>
              <a:t>公司名</a:t>
            </a:r>
            <a:endParaRPr lang="zh-CN" altLang="en-US"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AreaID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公司所属地区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Address, varchar(255)   </a:t>
            </a:r>
            <a:r>
              <a:rPr lang="zh-CN" altLang="en-US" sz="1800" dirty="0">
                <a:solidFill>
                  <a:srgbClr val="333333"/>
                </a:solidFill>
                <a:effectLst/>
                <a:latin typeface="Lucida Console" panose="020B0609040504020204" pitchFamily="49" charset="0"/>
              </a:rPr>
              <a:t>公司所在地址</a:t>
            </a:r>
            <a:endParaRPr lang="zh-CN" altLang="en-US"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Bussiness</a:t>
            </a:r>
            <a:r>
              <a:rPr lang="en-US" altLang="zh-CN" sz="1800" dirty="0">
                <a:solidFill>
                  <a:srgbClr val="333333"/>
                </a:solidFill>
                <a:effectLst/>
                <a:latin typeface="Lucida Console" panose="020B0609040504020204" pitchFamily="49" charset="0"/>
              </a:rPr>
              <a:t>, varchar(255)   </a:t>
            </a:r>
            <a:r>
              <a:rPr lang="zh-CN" altLang="en-US" sz="1800" dirty="0">
                <a:solidFill>
                  <a:srgbClr val="333333"/>
                </a:solidFill>
                <a:effectLst/>
                <a:latin typeface="Lucida Console" panose="020B0609040504020204" pitchFamily="49" charset="0"/>
              </a:rPr>
              <a:t>公司主营业务</a:t>
            </a:r>
            <a:endParaRPr lang="zh-CN" altLang="en-US"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Vip</a:t>
            </a:r>
            <a:r>
              <a:rPr lang="en-US" altLang="zh-CN" sz="1800" dirty="0">
                <a:solidFill>
                  <a:srgbClr val="333333"/>
                </a:solidFill>
                <a:effectLst/>
                <a:latin typeface="Lucida Console" panose="020B0609040504020204" pitchFamily="49" charset="0"/>
              </a:rPr>
              <a:t>, int, not null, default(0)   </a:t>
            </a:r>
            <a:r>
              <a:rPr lang="zh-CN" altLang="en-US" sz="1800" dirty="0">
                <a:solidFill>
                  <a:srgbClr val="333333"/>
                </a:solidFill>
                <a:effectLst/>
                <a:latin typeface="Lucida Console" panose="020B0609040504020204" pitchFamily="49" charset="0"/>
              </a:rPr>
              <a:t>公司是否为会员</a:t>
            </a:r>
            <a:endParaRPr lang="zh-CN" altLang="en-US" sz="1800" dirty="0">
              <a:solidFill>
                <a:srgbClr val="333333"/>
              </a:solidFill>
              <a:effectLst/>
              <a:latin typeface="Lucida Console" panose="020B0609040504020204" pitchFamily="49" charset="0"/>
            </a:endParaRPr>
          </a:p>
        </p:txBody>
      </p:sp>
      <p:sp>
        <p:nvSpPr>
          <p:cNvPr id="18" name="文本框 17"/>
          <p:cNvSpPr txBox="1"/>
          <p:nvPr/>
        </p:nvSpPr>
        <p:spPr>
          <a:xfrm>
            <a:off x="1204432" y="3763003"/>
            <a:ext cx="9729788" cy="646331"/>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CategoryID</a:t>
            </a:r>
            <a:r>
              <a:rPr lang="en-US" altLang="zh-CN" sz="1800" dirty="0">
                <a:solidFill>
                  <a:srgbClr val="333333"/>
                </a:solidFill>
                <a:effectLst/>
                <a:latin typeface="Lucida Console" panose="020B0609040504020204" pitchFamily="49" charset="0"/>
              </a:rPr>
              <a:t>, int, primary key, auto increase  </a:t>
            </a:r>
            <a:r>
              <a:rPr lang="zh-CN" altLang="en-US" sz="1800" dirty="0">
                <a:solidFill>
                  <a:srgbClr val="333333"/>
                </a:solidFill>
                <a:effectLst/>
                <a:latin typeface="Lucida Console" panose="020B0609040504020204" pitchFamily="49" charset="0"/>
              </a:rPr>
              <a:t>类别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Category, varchar(255), not null  </a:t>
            </a:r>
            <a:r>
              <a:rPr lang="zh-CN" altLang="en-US" sz="1800" dirty="0">
                <a:solidFill>
                  <a:srgbClr val="333333"/>
                </a:solidFill>
                <a:effectLst/>
                <a:latin typeface="Lucida Console" panose="020B0609040504020204" pitchFamily="49" charset="0"/>
              </a:rPr>
              <a:t>类别名称</a:t>
            </a:r>
            <a:endParaRPr lang="zh-CN" altLang="en-US" sz="1800" dirty="0">
              <a:solidFill>
                <a:srgbClr val="333333"/>
              </a:solidFill>
              <a:effectLst/>
              <a:latin typeface="Lucida Console" panose="020B0609040504020204" pitchFamily="49" charset="0"/>
            </a:endParaRPr>
          </a:p>
        </p:txBody>
      </p:sp>
      <p:sp>
        <p:nvSpPr>
          <p:cNvPr id="21" name="Text Box 5"/>
          <p:cNvSpPr txBox="1">
            <a:spLocks noChangeArrowheads="1"/>
          </p:cNvSpPr>
          <p:nvPr/>
        </p:nvSpPr>
        <p:spPr bwMode="auto">
          <a:xfrm>
            <a:off x="763008" y="4409334"/>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地区表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22" name="文本框 21"/>
          <p:cNvSpPr txBox="1"/>
          <p:nvPr/>
        </p:nvSpPr>
        <p:spPr>
          <a:xfrm>
            <a:off x="1204432" y="5010402"/>
            <a:ext cx="9729788" cy="923330"/>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AreaID</a:t>
            </a:r>
            <a:r>
              <a:rPr lang="en-US" altLang="zh-CN" sz="1800" dirty="0">
                <a:solidFill>
                  <a:srgbClr val="333333"/>
                </a:solidFill>
                <a:effectLst/>
                <a:latin typeface="Lucida Console" panose="020B0609040504020204" pitchFamily="49" charset="0"/>
              </a:rPr>
              <a:t>, int, primary key, auto increase  </a:t>
            </a:r>
            <a:r>
              <a:rPr lang="zh-CN" altLang="en-US" sz="1800" dirty="0">
                <a:solidFill>
                  <a:srgbClr val="333333"/>
                </a:solidFill>
                <a:effectLst/>
                <a:latin typeface="Lucida Console" panose="020B0609040504020204" pitchFamily="49" charset="0"/>
              </a:rPr>
              <a:t>地区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Area, varchar(255), not null  </a:t>
            </a:r>
            <a:r>
              <a:rPr lang="zh-CN" altLang="en-US" sz="1800" dirty="0">
                <a:solidFill>
                  <a:srgbClr val="333333"/>
                </a:solidFill>
                <a:effectLst/>
                <a:latin typeface="Lucida Console" panose="020B0609040504020204" pitchFamily="49" charset="0"/>
              </a:rPr>
              <a:t>地区名称</a:t>
            </a:r>
            <a:endParaRPr lang="zh-CN" altLang="en-US" sz="1800" dirty="0">
              <a:solidFill>
                <a:srgbClr val="333333"/>
              </a:solidFill>
              <a:effectLst/>
              <a:latin typeface="Lucida Console" panose="020B0609040504020204" pitchFamily="49" charset="0"/>
            </a:endParaRPr>
          </a:p>
          <a:p>
            <a:r>
              <a:rPr lang="en-US" altLang="zh-CN" sz="1800" dirty="0">
                <a:solidFill>
                  <a:srgbClr val="333333"/>
                </a:solidFill>
                <a:effectLst/>
                <a:latin typeface="Lucida Console" panose="020B0609040504020204" pitchFamily="49" charset="0"/>
              </a:rPr>
              <a:t>Parent, int, not null  </a:t>
            </a:r>
            <a:r>
              <a:rPr lang="zh-CN" altLang="en-US" sz="1800" dirty="0">
                <a:solidFill>
                  <a:srgbClr val="333333"/>
                </a:solidFill>
                <a:effectLst/>
                <a:latin typeface="Lucida Console" panose="020B0609040504020204" pitchFamily="49" charset="0"/>
              </a:rPr>
              <a:t>地区所在省</a:t>
            </a:r>
            <a:r>
              <a:rPr lang="en-US" altLang="zh-CN" sz="1800" dirty="0">
                <a:solidFill>
                  <a:srgbClr val="333333"/>
                </a:solidFill>
                <a:effectLst/>
                <a:latin typeface="Lucida Console" panose="020B0609040504020204" pitchFamily="49" charset="0"/>
              </a:rPr>
              <a:t>/</a:t>
            </a:r>
            <a:r>
              <a:rPr lang="zh-CN" altLang="en-US" sz="1800" dirty="0">
                <a:solidFill>
                  <a:srgbClr val="333333"/>
                </a:solidFill>
                <a:effectLst/>
                <a:latin typeface="Lucida Console" panose="020B0609040504020204" pitchFamily="49" charset="0"/>
              </a:rPr>
              <a:t>直辖市</a:t>
            </a:r>
            <a:endParaRPr lang="zh-CN" altLang="en-US" sz="1800" dirty="0">
              <a:solidFill>
                <a:srgbClr val="333333"/>
              </a:solidFill>
              <a:effectLst/>
              <a:latin typeface="Lucida Console" panose="020B0609040504020204" pitchFamily="49"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向用户反馈</a:t>
            </a: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数据表结构设计（建议）</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用户表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7" name="文本框 16"/>
          <p:cNvSpPr txBox="1"/>
          <p:nvPr/>
        </p:nvSpPr>
        <p:spPr>
          <a:xfrm>
            <a:off x="1204432" y="1373828"/>
            <a:ext cx="9729788" cy="2585323"/>
          </a:xfrm>
          <a:prstGeom prst="rect">
            <a:avLst/>
          </a:prstGeom>
          <a:solidFill>
            <a:schemeClr val="bg2"/>
          </a:solidFill>
          <a:ln w="12700">
            <a:solidFill>
              <a:schemeClr val="tx1"/>
            </a:solidFill>
          </a:ln>
        </p:spPr>
        <p:txBody>
          <a:bodyPr wrap="square" rtlCol="0">
            <a:spAutoFit/>
          </a:bodyPr>
          <a:lstStyle/>
          <a:p>
            <a:r>
              <a:rPr lang="en-US" altLang="zh-CN" sz="1800">
                <a:solidFill>
                  <a:srgbClr val="333333"/>
                </a:solidFill>
                <a:effectLst/>
                <a:latin typeface="Lucida Console" panose="020B0609040504020204" pitchFamily="49" charset="0"/>
              </a:rPr>
              <a:t>UserID, int, primary key, auto increase  </a:t>
            </a:r>
            <a:r>
              <a:rPr lang="zh-CN" altLang="en-US" sz="1800">
                <a:solidFill>
                  <a:srgbClr val="333333"/>
                </a:solidFill>
                <a:effectLst/>
                <a:latin typeface="Lucida Console" panose="020B0609040504020204" pitchFamily="49" charset="0"/>
              </a:rPr>
              <a:t>用户 </a:t>
            </a:r>
            <a:r>
              <a:rPr lang="en-US" altLang="zh-CN" sz="1800">
                <a:solidFill>
                  <a:srgbClr val="333333"/>
                </a:solidFill>
                <a:effectLst/>
                <a:latin typeface="Lucida Console" panose="020B0609040504020204" pitchFamily="49" charset="0"/>
              </a:rPr>
              <a:t>id</a:t>
            </a:r>
            <a:endParaRPr lang="en-US" altLang="zh-CN"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Username, varchar(255), not null  </a:t>
            </a:r>
            <a:r>
              <a:rPr lang="zh-CN" altLang="en-US" sz="1800">
                <a:solidFill>
                  <a:srgbClr val="333333"/>
                </a:solidFill>
                <a:effectLst/>
                <a:latin typeface="Lucida Console" panose="020B0609040504020204" pitchFamily="49" charset="0"/>
              </a:rPr>
              <a:t>用户名</a:t>
            </a:r>
            <a:endParaRPr lang="zh-CN" altLang="en-US"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Password, varchar(255), not null  </a:t>
            </a:r>
            <a:r>
              <a:rPr lang="zh-CN" altLang="en-US" sz="1800">
                <a:solidFill>
                  <a:srgbClr val="333333"/>
                </a:solidFill>
                <a:effectLst/>
                <a:latin typeface="Lucida Console" panose="020B0609040504020204" pitchFamily="49" charset="0"/>
              </a:rPr>
              <a:t>密码</a:t>
            </a:r>
            <a:endParaRPr lang="zh-CN" altLang="en-US"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Email, varchar(255), not null  </a:t>
            </a:r>
            <a:r>
              <a:rPr lang="zh-CN" altLang="en-US" sz="1800">
                <a:solidFill>
                  <a:srgbClr val="333333"/>
                </a:solidFill>
                <a:effectLst/>
                <a:latin typeface="Lucida Console" panose="020B0609040504020204" pitchFamily="49" charset="0"/>
              </a:rPr>
              <a:t>邮箱</a:t>
            </a:r>
            <a:endParaRPr lang="zh-CN" altLang="en-US"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Gender, varchar(255), not null  </a:t>
            </a:r>
            <a:r>
              <a:rPr lang="zh-CN" altLang="en-US" sz="1800">
                <a:solidFill>
                  <a:srgbClr val="333333"/>
                </a:solidFill>
                <a:effectLst/>
                <a:latin typeface="Lucida Console" panose="020B0609040504020204" pitchFamily="49" charset="0"/>
              </a:rPr>
              <a:t>性别</a:t>
            </a:r>
            <a:endParaRPr lang="zh-CN" altLang="en-US"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UserImg, varchar(255), not null  </a:t>
            </a:r>
            <a:r>
              <a:rPr lang="zh-CN" altLang="en-US" sz="1800">
                <a:solidFill>
                  <a:srgbClr val="333333"/>
                </a:solidFill>
                <a:effectLst/>
                <a:latin typeface="Lucida Console" panose="020B0609040504020204" pitchFamily="49" charset="0"/>
              </a:rPr>
              <a:t>头像</a:t>
            </a:r>
            <a:endParaRPr lang="zh-CN" altLang="en-US"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SigninDate, Date, not null  </a:t>
            </a:r>
            <a:r>
              <a:rPr lang="zh-CN" altLang="en-US" sz="1800">
                <a:solidFill>
                  <a:srgbClr val="333333"/>
                </a:solidFill>
                <a:effectLst/>
                <a:latin typeface="Lucida Console" panose="020B0609040504020204" pitchFamily="49" charset="0"/>
              </a:rPr>
              <a:t>注册日期</a:t>
            </a:r>
            <a:endParaRPr lang="zh-CN" altLang="en-US"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CompanyID, foreign key  </a:t>
            </a:r>
            <a:r>
              <a:rPr lang="zh-CN" altLang="en-US" sz="1800">
                <a:solidFill>
                  <a:srgbClr val="333333"/>
                </a:solidFill>
                <a:effectLst/>
                <a:latin typeface="Lucida Console" panose="020B0609040504020204" pitchFamily="49" charset="0"/>
              </a:rPr>
              <a:t>所属公司 </a:t>
            </a:r>
            <a:r>
              <a:rPr lang="en-US" altLang="zh-CN" sz="1800">
                <a:solidFill>
                  <a:srgbClr val="333333"/>
                </a:solidFill>
                <a:effectLst/>
                <a:latin typeface="Lucida Console" panose="020B0609040504020204" pitchFamily="49" charset="0"/>
              </a:rPr>
              <a:t>id</a:t>
            </a:r>
            <a:endParaRPr lang="en-US" altLang="zh-CN"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KeywordList, varchar(255)</a:t>
            </a:r>
            <a:endParaRPr lang="en-US" altLang="zh-CN" sz="1800" dirty="0">
              <a:solidFill>
                <a:srgbClr val="333333"/>
              </a:solidFill>
              <a:effectLst/>
              <a:latin typeface="Lucida Console" panose="020B0609040504020204" pitchFamily="49" charset="0"/>
            </a:endParaRPr>
          </a:p>
        </p:txBody>
      </p:sp>
      <p:sp>
        <p:nvSpPr>
          <p:cNvPr id="21" name="Text Box 5"/>
          <p:cNvSpPr txBox="1">
            <a:spLocks noChangeArrowheads="1"/>
          </p:cNvSpPr>
          <p:nvPr/>
        </p:nvSpPr>
        <p:spPr bwMode="auto">
          <a:xfrm>
            <a:off x="763008" y="3972604"/>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用户搜索表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22" name="文本框 21"/>
          <p:cNvSpPr txBox="1"/>
          <p:nvPr/>
        </p:nvSpPr>
        <p:spPr>
          <a:xfrm>
            <a:off x="1204432" y="4573672"/>
            <a:ext cx="9729788" cy="923330"/>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SearchID</a:t>
            </a:r>
            <a:r>
              <a:rPr lang="en-US" altLang="zh-CN" sz="1800" dirty="0">
                <a:solidFill>
                  <a:srgbClr val="333333"/>
                </a:solidFill>
                <a:effectLst/>
                <a:latin typeface="Lucida Console" panose="020B0609040504020204" pitchFamily="49" charset="0"/>
              </a:rPr>
              <a:t>, int, primary key, auto increase  </a:t>
            </a:r>
            <a:r>
              <a:rPr lang="zh-CN" altLang="en-US" sz="1800" dirty="0">
                <a:solidFill>
                  <a:srgbClr val="333333"/>
                </a:solidFill>
                <a:effectLst/>
                <a:latin typeface="Lucida Console" panose="020B0609040504020204" pitchFamily="49" charset="0"/>
              </a:rPr>
              <a:t>搜索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UserID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用户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QueryString</a:t>
            </a:r>
            <a:r>
              <a:rPr lang="en-US" altLang="zh-CN" sz="1800" dirty="0">
                <a:solidFill>
                  <a:srgbClr val="333333"/>
                </a:solidFill>
                <a:effectLst/>
                <a:latin typeface="Lucida Console" panose="020B0609040504020204" pitchFamily="49" charset="0"/>
              </a:rPr>
              <a:t>, varchar(255), not null  </a:t>
            </a:r>
            <a:r>
              <a:rPr lang="zh-CN" altLang="en-US" sz="1800" dirty="0">
                <a:solidFill>
                  <a:srgbClr val="333333"/>
                </a:solidFill>
                <a:effectLst/>
                <a:latin typeface="Lucida Console" panose="020B0609040504020204" pitchFamily="49" charset="0"/>
              </a:rPr>
              <a:t>搜索关键字</a:t>
            </a:r>
            <a:endParaRPr lang="zh-CN" altLang="en-US" sz="1800" dirty="0">
              <a:solidFill>
                <a:srgbClr val="333333"/>
              </a:solidFill>
              <a:effectLst/>
              <a:latin typeface="Lucida Console" panose="020B0609040504020204"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向用户反馈</a:t>
            </a: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数据表结构设计（建议）</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3" name="Text Box 5"/>
          <p:cNvSpPr txBox="1">
            <a:spLocks noChangeArrowheads="1"/>
          </p:cNvSpPr>
          <p:nvPr/>
        </p:nvSpPr>
        <p:spPr bwMode="auto">
          <a:xfrm>
            <a:off x="763008" y="802993"/>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用户点击表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17" name="文本框 16"/>
          <p:cNvSpPr txBox="1"/>
          <p:nvPr/>
        </p:nvSpPr>
        <p:spPr>
          <a:xfrm>
            <a:off x="1204432" y="1373828"/>
            <a:ext cx="9729788" cy="923330"/>
          </a:xfrm>
          <a:prstGeom prst="rect">
            <a:avLst/>
          </a:prstGeom>
          <a:solidFill>
            <a:schemeClr val="bg2"/>
          </a:solidFill>
          <a:ln w="12700">
            <a:solidFill>
              <a:schemeClr val="tx1"/>
            </a:solidFill>
          </a:ln>
        </p:spPr>
        <p:txBody>
          <a:bodyPr wrap="square" rtlCol="0">
            <a:spAutoFit/>
          </a:bodyPr>
          <a:lstStyle/>
          <a:p>
            <a:r>
              <a:rPr lang="en-US" altLang="zh-CN" sz="1800" dirty="0" err="1">
                <a:solidFill>
                  <a:srgbClr val="333333"/>
                </a:solidFill>
                <a:effectLst/>
                <a:latin typeface="Lucida Console" panose="020B0609040504020204" pitchFamily="49" charset="0"/>
              </a:rPr>
              <a:t>ClickID</a:t>
            </a:r>
            <a:r>
              <a:rPr lang="en-US" altLang="zh-CN" sz="1800" dirty="0">
                <a:solidFill>
                  <a:srgbClr val="333333"/>
                </a:solidFill>
                <a:effectLst/>
                <a:latin typeface="Lucida Console" panose="020B0609040504020204" pitchFamily="49" charset="0"/>
              </a:rPr>
              <a:t>, int, primary key, auto increase  </a:t>
            </a:r>
            <a:r>
              <a:rPr lang="zh-CN" altLang="en-US" sz="1800" dirty="0">
                <a:solidFill>
                  <a:srgbClr val="333333"/>
                </a:solidFill>
                <a:effectLst/>
                <a:latin typeface="Lucida Console" panose="020B0609040504020204" pitchFamily="49" charset="0"/>
              </a:rPr>
              <a:t>点击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SearchID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搜索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a:p>
            <a:r>
              <a:rPr lang="en-US" altLang="zh-CN" sz="1800" dirty="0" err="1">
                <a:solidFill>
                  <a:srgbClr val="333333"/>
                </a:solidFill>
                <a:effectLst/>
                <a:latin typeface="Lucida Console" panose="020B0609040504020204" pitchFamily="49" charset="0"/>
              </a:rPr>
              <a:t>ProductID</a:t>
            </a:r>
            <a:r>
              <a:rPr lang="en-US" altLang="zh-CN" sz="1800" dirty="0">
                <a:solidFill>
                  <a:srgbClr val="333333"/>
                </a:solidFill>
                <a:effectLst/>
                <a:latin typeface="Lucida Console" panose="020B0609040504020204" pitchFamily="49" charset="0"/>
              </a:rPr>
              <a:t>, foreign key, not null  </a:t>
            </a:r>
            <a:r>
              <a:rPr lang="zh-CN" altLang="en-US" sz="1800" dirty="0">
                <a:solidFill>
                  <a:srgbClr val="333333"/>
                </a:solidFill>
                <a:effectLst/>
                <a:latin typeface="Lucida Console" panose="020B0609040504020204" pitchFamily="49" charset="0"/>
              </a:rPr>
              <a:t>点击产品 </a:t>
            </a:r>
            <a:r>
              <a:rPr lang="en-US" altLang="zh-CN" sz="1800" dirty="0">
                <a:solidFill>
                  <a:srgbClr val="333333"/>
                </a:solidFill>
                <a:effectLst/>
                <a:latin typeface="Lucida Console" panose="020B0609040504020204" pitchFamily="49" charset="0"/>
              </a:rPr>
              <a:t>id</a:t>
            </a:r>
            <a:endParaRPr lang="en-US" altLang="zh-CN" sz="1800" dirty="0">
              <a:solidFill>
                <a:srgbClr val="333333"/>
              </a:solidFill>
              <a:effectLst/>
              <a:latin typeface="Lucida Console" panose="020B0609040504020204" pitchFamily="49" charset="0"/>
            </a:endParaRPr>
          </a:p>
        </p:txBody>
      </p:sp>
      <p:sp>
        <p:nvSpPr>
          <p:cNvPr id="21" name="Text Box 5"/>
          <p:cNvSpPr txBox="1">
            <a:spLocks noChangeArrowheads="1"/>
          </p:cNvSpPr>
          <p:nvPr/>
        </p:nvSpPr>
        <p:spPr bwMode="auto">
          <a:xfrm>
            <a:off x="763008" y="2312117"/>
            <a:ext cx="6777541" cy="567912"/>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0" lvl="3" indent="-252095" algn="just" fontAlgn="auto">
              <a:lnSpc>
                <a:spcPct val="120000"/>
              </a:lnSpc>
              <a:buClr>
                <a:srgbClr val="002060"/>
              </a:buClr>
              <a:buSzPct val="100000"/>
              <a:buBlip>
                <a:blip r:embed="rId2"/>
              </a:buBlip>
            </a:pPr>
            <a:r>
              <a:rPr lang="zh-CN" altLang="en-US" sz="2800" dirty="0">
                <a:solidFill>
                  <a:srgbClr val="0150A2"/>
                </a:solidFill>
                <a:ea typeface="微软雅黑" panose="020B0503020204020204" pitchFamily="34" charset="-122"/>
                <a:cs typeface="Times New Roman" panose="02020603050405020304" pitchFamily="18" charset="0"/>
                <a:sym typeface="+mn-ea"/>
              </a:rPr>
              <a:t>用户搜索表</a:t>
            </a:r>
            <a:endParaRPr lang="zh-CN" altLang="en-US" sz="2800" dirty="0">
              <a:solidFill>
                <a:srgbClr val="0150A2"/>
              </a:solidFill>
              <a:ea typeface="微软雅黑" panose="020B0503020204020204" pitchFamily="34" charset="-122"/>
              <a:cs typeface="Times New Roman" panose="02020603050405020304" pitchFamily="18" charset="0"/>
              <a:sym typeface="+mn-ea"/>
            </a:endParaRPr>
          </a:p>
        </p:txBody>
      </p:sp>
      <p:sp>
        <p:nvSpPr>
          <p:cNvPr id="22" name="文本框 21"/>
          <p:cNvSpPr txBox="1"/>
          <p:nvPr/>
        </p:nvSpPr>
        <p:spPr>
          <a:xfrm>
            <a:off x="1204432" y="2913185"/>
            <a:ext cx="9729788" cy="646331"/>
          </a:xfrm>
          <a:prstGeom prst="rect">
            <a:avLst/>
          </a:prstGeom>
          <a:solidFill>
            <a:schemeClr val="bg2"/>
          </a:solidFill>
          <a:ln w="12700">
            <a:solidFill>
              <a:schemeClr val="tx1"/>
            </a:solidFill>
          </a:ln>
        </p:spPr>
        <p:txBody>
          <a:bodyPr wrap="square" rtlCol="0">
            <a:spAutoFit/>
          </a:bodyPr>
          <a:lstStyle/>
          <a:p>
            <a:r>
              <a:rPr lang="en-US" altLang="zh-CN" sz="1800">
                <a:solidFill>
                  <a:srgbClr val="333333"/>
                </a:solidFill>
                <a:effectLst/>
                <a:latin typeface="Lucida Console" panose="020B0609040504020204" pitchFamily="49" charset="0"/>
              </a:rPr>
              <a:t>StandardID, int, primary key, auto increase  </a:t>
            </a:r>
            <a:r>
              <a:rPr lang="zh-CN" altLang="en-US" sz="1800">
                <a:solidFill>
                  <a:srgbClr val="333333"/>
                </a:solidFill>
                <a:effectLst/>
                <a:latin typeface="Lucida Console" panose="020B0609040504020204" pitchFamily="49" charset="0"/>
              </a:rPr>
              <a:t>规格 </a:t>
            </a:r>
            <a:r>
              <a:rPr lang="en-US" altLang="zh-CN" sz="1800">
                <a:solidFill>
                  <a:srgbClr val="333333"/>
                </a:solidFill>
                <a:effectLst/>
                <a:latin typeface="Lucida Console" panose="020B0609040504020204" pitchFamily="49" charset="0"/>
              </a:rPr>
              <a:t>id</a:t>
            </a:r>
            <a:endParaRPr lang="en-US" altLang="zh-CN" sz="1800">
              <a:solidFill>
                <a:srgbClr val="333333"/>
              </a:solidFill>
              <a:effectLst/>
              <a:latin typeface="Lucida Console" panose="020B0609040504020204" pitchFamily="49" charset="0"/>
            </a:endParaRPr>
          </a:p>
          <a:p>
            <a:r>
              <a:rPr lang="en-US" altLang="zh-CN" sz="1800">
                <a:solidFill>
                  <a:srgbClr val="333333"/>
                </a:solidFill>
                <a:effectLst/>
                <a:latin typeface="Lucida Console" panose="020B0609040504020204" pitchFamily="49" charset="0"/>
              </a:rPr>
              <a:t>Standard, not null  </a:t>
            </a:r>
            <a:r>
              <a:rPr lang="zh-CN" altLang="en-US" sz="1800">
                <a:solidFill>
                  <a:srgbClr val="333333"/>
                </a:solidFill>
                <a:effectLst/>
                <a:latin typeface="Lucida Console" panose="020B0609040504020204" pitchFamily="49" charset="0"/>
              </a:rPr>
              <a:t>规格名称</a:t>
            </a:r>
            <a:endParaRPr lang="zh-CN" altLang="en-US" sz="1800" dirty="0">
              <a:solidFill>
                <a:srgbClr val="333333"/>
              </a:solidFill>
              <a:effectLst/>
              <a:latin typeface="Lucida Console" panose="020B06090405040202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本周任务</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5" name="Text Box 5"/>
          <p:cNvSpPr txBox="1">
            <a:spLocks noChangeArrowheads="1"/>
          </p:cNvSpPr>
          <p:nvPr/>
        </p:nvSpPr>
        <p:spPr bwMode="auto">
          <a:xfrm>
            <a:off x="1128713" y="1322722"/>
            <a:ext cx="10300278" cy="5016310"/>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对给数据库表数据进行导入、预处理。</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选用</a:t>
            </a:r>
            <a:r>
              <a:rPr lang="en-US" altLang="zh-CN" sz="2400" b="0" dirty="0">
                <a:ea typeface="微软雅黑" panose="020B0503020204020204" pitchFamily="34" charset="-122"/>
                <a:cs typeface="Times New Roman" panose="02020603050405020304" pitchFamily="18" charset="0"/>
              </a:rPr>
              <a:t>ES</a:t>
            </a:r>
            <a:r>
              <a:rPr lang="zh-CN" altLang="en-US" sz="2400" b="0" dirty="0">
                <a:ea typeface="微软雅黑" panose="020B0503020204020204" pitchFamily="34" charset="-122"/>
                <a:cs typeface="Times New Roman" panose="02020603050405020304" pitchFamily="18" charset="0"/>
              </a:rPr>
              <a:t>或者</a:t>
            </a:r>
            <a:r>
              <a:rPr lang="en-US" altLang="zh-CN" sz="2400" b="0" dirty="0" err="1">
                <a:ea typeface="微软雅黑" panose="020B0503020204020204" pitchFamily="34" charset="-122"/>
                <a:cs typeface="Times New Roman" panose="02020603050405020304" pitchFamily="18" charset="0"/>
              </a:rPr>
              <a:t>Solr</a:t>
            </a:r>
            <a:r>
              <a:rPr lang="zh-CN" altLang="en-US" sz="2400" b="0" dirty="0">
                <a:ea typeface="微软雅黑" panose="020B0503020204020204" pitchFamily="34" charset="-122"/>
                <a:cs typeface="Times New Roman" panose="02020603050405020304" pitchFamily="18" charset="0"/>
              </a:rPr>
              <a:t>搜索引擎框架搭建一个简单的搜索引擎。</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做一个简单的页面，用来展示搜索结果。</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作业按组的形式提交，包括报告、代码，打包后发给助教同学。</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作业提交截止时间为：</a:t>
            </a:r>
            <a:r>
              <a:rPr lang="en-US" altLang="zh-CN" sz="2400" b="0" dirty="0">
                <a:ea typeface="微软雅黑" panose="020B0503020204020204" pitchFamily="34" charset="-122"/>
                <a:cs typeface="Times New Roman" panose="02020603050405020304" pitchFamily="18" charset="0"/>
              </a:rPr>
              <a:t>2024.12.22</a:t>
            </a: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zh-CN" altLang="en-US" sz="2400" b="0" dirty="0">
                <a:ea typeface="微软雅黑" panose="020B0503020204020204" pitchFamily="34" charset="-122"/>
                <a:cs typeface="Times New Roman" panose="02020603050405020304" pitchFamily="18" charset="0"/>
              </a:rPr>
              <a:t>参考资料：</a:t>
            </a: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000" b="0" dirty="0">
                <a:ea typeface="微软雅黑" panose="020B0503020204020204" pitchFamily="34" charset="-122"/>
                <a:cs typeface="Times New Roman" panose="02020603050405020304" pitchFamily="18" charset="0"/>
              </a:rPr>
              <a:t>https://lucene.apache.org/</a:t>
            </a:r>
            <a:endParaRPr lang="en-US" altLang="zh-CN" sz="20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000" b="0" dirty="0">
                <a:ea typeface="微软雅黑" panose="020B0503020204020204" pitchFamily="34" charset="-122"/>
                <a:cs typeface="Times New Roman" panose="02020603050405020304" pitchFamily="18" charset="0"/>
              </a:rPr>
              <a:t>https://solr.apache.org/</a:t>
            </a:r>
            <a:endParaRPr lang="en-US" altLang="zh-CN" sz="20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000" b="0" dirty="0">
                <a:ea typeface="微软雅黑" panose="020B0503020204020204" pitchFamily="34" charset="-122"/>
                <a:cs typeface="Times New Roman" panose="02020603050405020304" pitchFamily="18" charset="0"/>
              </a:rPr>
              <a:t>https://www.elastic.co/guide/index.html</a:t>
            </a:r>
            <a:endParaRPr lang="en-US" altLang="zh-CN" sz="20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000" b="0" dirty="0">
                <a:ea typeface="微软雅黑" panose="020B0503020204020204" pitchFamily="34" charset="-122"/>
                <a:cs typeface="Times New Roman" panose="02020603050405020304" pitchFamily="18" charset="0"/>
              </a:rPr>
              <a:t>https://www.w3cschool.cn/solr_doc/solr_doc-xcdq2fly.html</a:t>
            </a:r>
            <a:endParaRPr lang="en-US" altLang="zh-CN" sz="2000" b="0" dirty="0">
              <a:ea typeface="微软雅黑" panose="020B0503020204020204" pitchFamily="34" charset="-122"/>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1594"/>
            <a:ext cx="12192000" cy="584775"/>
          </a:xfrm>
          <a:prstGeom prst="rect">
            <a:avLst/>
          </a:prstGeom>
          <a:noFill/>
        </p:spPr>
        <p:txBody>
          <a:bodyPr wrap="square" rtlCol="0">
            <a:spAutoFit/>
          </a:bodyPr>
          <a:lstStyle/>
          <a:p>
            <a:pPr algn="ct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本节课任务</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38727" y="756744"/>
            <a:ext cx="11353274" cy="45749"/>
          </a:xfrm>
          <a:prstGeom prst="rect">
            <a:avLst/>
          </a:prstGeom>
          <a:solidFill>
            <a:srgbClr val="0F5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0" y="6495393"/>
            <a:ext cx="8556878" cy="3626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295079" y="6508626"/>
            <a:ext cx="2919649" cy="338554"/>
          </a:xfrm>
          <a:prstGeom prst="rect">
            <a:avLst/>
          </a:prstGeom>
          <a:noFill/>
        </p:spPr>
        <p:txBody>
          <a:bodyPr wrap="square" rtlCol="0">
            <a:spAutoFit/>
          </a:bodyPr>
          <a:lstStyle/>
          <a:p>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重庆大学大数据与软件学院</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8556878" y="6495393"/>
            <a:ext cx="3635122" cy="36260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日期占位符 10"/>
          <p:cNvSpPr>
            <a:spLocks noGrp="1"/>
          </p:cNvSpPr>
          <p:nvPr>
            <p:ph type="dt" sz="half" idx="10"/>
          </p:nvPr>
        </p:nvSpPr>
        <p:spPr>
          <a:xfrm>
            <a:off x="3142603" y="6502320"/>
            <a:ext cx="2743200" cy="365125"/>
          </a:xfrm>
        </p:spPr>
        <p:txBody>
          <a:bodyPr/>
          <a:lstStyle/>
          <a:p>
            <a:fld id="{3D5B8699-57E0-4E34-997C-2D0723D73E15}" type="datetime1">
              <a:rPr lang="zh-CN" altLang="en-US" smtClean="0">
                <a:solidFill>
                  <a:schemeClr val="bg1"/>
                </a:solidFill>
                <a:latin typeface="Times New Roman" panose="02020603050405020304" pitchFamily="18" charset="0"/>
                <a:cs typeface="Times New Roman" panose="02020603050405020304" pitchFamily="18" charset="0"/>
              </a:rPr>
            </a:fld>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a:xfrm>
            <a:off x="9153721" y="6496768"/>
            <a:ext cx="2743200" cy="369331"/>
          </a:xfrm>
        </p:spPr>
        <p:txBody>
          <a:bodyPr/>
          <a:lstStyle/>
          <a:p>
            <a:fld id="{D6F14848-739B-40CE-B726-4A60A1E419EA}" type="slidenum">
              <a:rPr lang="zh-CN" altLang="en-US" smtClean="0">
                <a:solidFill>
                  <a:schemeClr val="tx1"/>
                </a:solidFill>
                <a:latin typeface="Times New Roman" panose="02020603050405020304" pitchFamily="18" charset="0"/>
                <a:cs typeface="Times New Roman" panose="02020603050405020304" pitchFamily="18" charset="0"/>
              </a:rPr>
            </a:fld>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15" name="Text Box 5"/>
          <p:cNvSpPr txBox="1">
            <a:spLocks noChangeArrowheads="1"/>
          </p:cNvSpPr>
          <p:nvPr/>
        </p:nvSpPr>
        <p:spPr bwMode="auto">
          <a:xfrm>
            <a:off x="1128713" y="1322722"/>
            <a:ext cx="10300278" cy="4848315"/>
          </a:xfrm>
          <a:prstGeom prst="rect">
            <a:avLst/>
          </a:prstGeom>
          <a:noFill/>
          <a:ln>
            <a:noFill/>
          </a:ln>
        </p:spPr>
        <p:txBody>
          <a:bodyPr wrap="square" lIns="90170" tIns="46990" rIns="90170" bIns="46990">
            <a:spAutoFit/>
          </a:bodyPr>
          <a:lstStyle>
            <a:lvl1pPr marL="342900" indent="-342900">
              <a:defRPr sz="1500" b="1">
                <a:solidFill>
                  <a:schemeClr val="tx1"/>
                </a:solidFill>
                <a:latin typeface="Times New Roman" panose="02020603050405020304" pitchFamily="18" charset="0"/>
                <a:ea typeface="宋体" panose="02010600030101010101" pitchFamily="2" charset="-122"/>
              </a:defRPr>
            </a:lvl1pPr>
            <a:lvl2pPr marL="742950" indent="-285750">
              <a:defRPr sz="1500" b="1">
                <a:solidFill>
                  <a:schemeClr val="tx1"/>
                </a:solidFill>
                <a:latin typeface="Times New Roman" panose="02020603050405020304" pitchFamily="18" charset="0"/>
                <a:ea typeface="宋体" panose="02010600030101010101" pitchFamily="2" charset="-122"/>
              </a:defRPr>
            </a:lvl2pPr>
            <a:lvl3pPr marL="1143000" indent="-228600">
              <a:defRPr sz="1500" b="1">
                <a:solidFill>
                  <a:schemeClr val="tx1"/>
                </a:solidFill>
                <a:latin typeface="Times New Roman" panose="02020603050405020304" pitchFamily="18" charset="0"/>
                <a:ea typeface="宋体" panose="02010600030101010101" pitchFamily="2" charset="-122"/>
              </a:defRPr>
            </a:lvl3pPr>
            <a:lvl4pPr marL="1600200" indent="-228600">
              <a:defRPr sz="1500" b="1">
                <a:solidFill>
                  <a:schemeClr val="tx1"/>
                </a:solidFill>
                <a:latin typeface="Times New Roman" panose="02020603050405020304" pitchFamily="18" charset="0"/>
                <a:ea typeface="宋体" panose="02010600030101010101" pitchFamily="2" charset="-122"/>
              </a:defRPr>
            </a:lvl4pPr>
            <a:lvl5pPr marL="2057400" indent="-228600">
              <a:defRPr sz="15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500" b="1">
                <a:solidFill>
                  <a:schemeClr val="tx1"/>
                </a:solidFill>
                <a:latin typeface="Times New Roman" panose="02020603050405020304" pitchFamily="18" charset="0"/>
                <a:ea typeface="宋体" panose="02010600030101010101" pitchFamily="2" charset="-122"/>
              </a:defRPr>
            </a:lvl9pPr>
          </a:lstStyle>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在本地安装</a:t>
            </a:r>
            <a:r>
              <a:rPr lang="en-US" altLang="zh-CN" sz="2400" b="0" dirty="0" err="1">
                <a:ea typeface="微软雅黑" panose="020B0503020204020204" pitchFamily="34" charset="-122"/>
                <a:cs typeface="Times New Roman" panose="02020603050405020304" pitchFamily="18" charset="0"/>
              </a:rPr>
              <a:t>MySql</a:t>
            </a:r>
            <a:r>
              <a:rPr lang="zh-CN" altLang="en-US" sz="2400" b="0" dirty="0">
                <a:ea typeface="微软雅黑" panose="020B0503020204020204" pitchFamily="34" charset="-122"/>
                <a:cs typeface="Times New Roman" panose="02020603050405020304" pitchFamily="18" charset="0"/>
              </a:rPr>
              <a:t>数据库，可视化工具</a:t>
            </a:r>
            <a:r>
              <a:rPr lang="en-US" altLang="zh-CN" sz="2400" b="0" dirty="0">
                <a:ea typeface="微软雅黑" panose="020B0503020204020204" pitchFamily="34" charset="-122"/>
                <a:cs typeface="Times New Roman" panose="02020603050405020304" pitchFamily="18" charset="0"/>
              </a:rPr>
              <a:t>Workbench</a:t>
            </a:r>
            <a:r>
              <a:rPr lang="zh-CN" altLang="en-US" sz="2400" b="0" dirty="0">
                <a:ea typeface="微软雅黑" panose="020B0503020204020204" pitchFamily="34" charset="-122"/>
                <a:cs typeface="Times New Roman" panose="02020603050405020304" pitchFamily="18" charset="0"/>
              </a:rPr>
              <a:t>或者</a:t>
            </a:r>
            <a:r>
              <a:rPr lang="en-US" altLang="zh-CN" sz="2400" b="0" dirty="0" err="1">
                <a:ea typeface="微软雅黑" panose="020B0503020204020204" pitchFamily="34" charset="-122"/>
                <a:cs typeface="Times New Roman" panose="02020603050405020304" pitchFamily="18" charset="0"/>
              </a:rPr>
              <a:t>Navicat</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对给定数据库表数据进行导入、预处理</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了解</a:t>
            </a:r>
            <a:r>
              <a:rPr lang="en-US" altLang="zh-CN" sz="2400" b="0" dirty="0" err="1">
                <a:ea typeface="微软雅黑" panose="020B0503020204020204" pitchFamily="34" charset="-122"/>
                <a:cs typeface="Times New Roman" panose="02020603050405020304" pitchFamily="18" charset="0"/>
              </a:rPr>
              <a:t>Springboot</a:t>
            </a:r>
            <a:r>
              <a:rPr lang="zh-CN" altLang="en-US" sz="2400" b="0" dirty="0">
                <a:ea typeface="微软雅黑" panose="020B0503020204020204" pitchFamily="34" charset="-122"/>
                <a:cs typeface="Times New Roman" panose="02020603050405020304" pitchFamily="18" charset="0"/>
              </a:rPr>
              <a:t>和</a:t>
            </a:r>
            <a:r>
              <a:rPr lang="en-US" altLang="zh-CN" sz="2400" b="0" dirty="0" err="1">
                <a:ea typeface="微软雅黑" panose="020B0503020204020204" pitchFamily="34" charset="-122"/>
                <a:cs typeface="Times New Roman" panose="02020603050405020304" pitchFamily="18" charset="0"/>
              </a:rPr>
              <a:t>vue</a:t>
            </a:r>
            <a:r>
              <a:rPr lang="zh-CN" altLang="en-US" sz="2400" b="0" dirty="0">
                <a:ea typeface="微软雅黑" panose="020B0503020204020204" pitchFamily="34" charset="-122"/>
                <a:cs typeface="Times New Roman" panose="02020603050405020304" pitchFamily="18" charset="0"/>
              </a:rPr>
              <a:t>框架</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了解</a:t>
            </a:r>
            <a:r>
              <a:rPr lang="en-US" altLang="zh-CN" sz="2400" b="0" i="0" dirty="0">
                <a:solidFill>
                  <a:srgbClr val="1F2328"/>
                </a:solidFill>
                <a:effectLst/>
                <a:latin typeface="-apple-system"/>
              </a:rPr>
              <a:t>IK analyzer</a:t>
            </a:r>
            <a:r>
              <a:rPr lang="zh-CN" altLang="en-US" sz="2400" b="0" i="0" dirty="0">
                <a:solidFill>
                  <a:srgbClr val="1F2328"/>
                </a:solidFill>
                <a:effectLst/>
                <a:latin typeface="-apple-system"/>
              </a:rPr>
              <a:t>（</a:t>
            </a:r>
            <a:r>
              <a:rPr lang="en-US" altLang="zh-CN" sz="2400" b="0" i="0" dirty="0">
                <a:solidFill>
                  <a:srgbClr val="1F2328"/>
                </a:solidFill>
                <a:effectLst/>
                <a:latin typeface="-apple-system"/>
              </a:rPr>
              <a:t>IK </a:t>
            </a:r>
            <a:r>
              <a:rPr lang="zh-CN" altLang="en-US" sz="2400" b="0" dirty="0">
                <a:ea typeface="微软雅黑" panose="020B0503020204020204" pitchFamily="34" charset="-122"/>
                <a:cs typeface="Times New Roman" panose="02020603050405020304" pitchFamily="18" charset="0"/>
              </a:rPr>
              <a:t>分词器</a:t>
            </a:r>
            <a:r>
              <a:rPr lang="zh-CN" altLang="en-US" sz="2400" b="0" i="0" dirty="0">
                <a:solidFill>
                  <a:srgbClr val="1F2328"/>
                </a:solidFill>
                <a:effectLst/>
                <a:latin typeface="-apple-system"/>
              </a:rPr>
              <a:t>）</a:t>
            </a:r>
            <a:endParaRPr lang="en-US" altLang="zh-CN" sz="2400" b="0" dirty="0">
              <a:ea typeface="微软雅黑" panose="020B0503020204020204" pitchFamily="34" charset="-122"/>
              <a:cs typeface="Times New Roman" panose="02020603050405020304" pitchFamily="18" charset="0"/>
            </a:endParaRPr>
          </a:p>
          <a:p>
            <a:pPr marL="360045" lvl="3" indent="-360045" algn="just">
              <a:lnSpc>
                <a:spcPct val="130000"/>
              </a:lnSpc>
              <a:buSzPct val="100000"/>
              <a:buFont typeface="Wingdings" panose="05000000000000000000" pitchFamily="2" charset="2"/>
              <a:buChar char="u"/>
            </a:pPr>
            <a:r>
              <a:rPr lang="zh-CN" altLang="en-US" sz="2400" b="0" dirty="0">
                <a:ea typeface="微软雅黑" panose="020B0503020204020204" pitchFamily="34" charset="-122"/>
                <a:cs typeface="Times New Roman" panose="02020603050405020304" pitchFamily="18" charset="0"/>
              </a:rPr>
              <a:t>选用</a:t>
            </a:r>
            <a:r>
              <a:rPr lang="en-US" altLang="zh-CN" sz="2400" b="0" dirty="0">
                <a:ea typeface="微软雅黑" panose="020B0503020204020204" pitchFamily="34" charset="-122"/>
                <a:cs typeface="Times New Roman" panose="02020603050405020304" pitchFamily="18" charset="0"/>
              </a:rPr>
              <a:t>ES</a:t>
            </a:r>
            <a:r>
              <a:rPr lang="zh-CN" altLang="en-US" sz="2400" b="0" dirty="0">
                <a:ea typeface="微软雅黑" panose="020B0503020204020204" pitchFamily="34" charset="-122"/>
                <a:cs typeface="Times New Roman" panose="02020603050405020304" pitchFamily="18" charset="0"/>
              </a:rPr>
              <a:t>或者</a:t>
            </a:r>
            <a:r>
              <a:rPr lang="en-US" altLang="zh-CN" sz="2400" b="0" dirty="0" err="1">
                <a:ea typeface="微软雅黑" panose="020B0503020204020204" pitchFamily="34" charset="-122"/>
                <a:cs typeface="Times New Roman" panose="02020603050405020304" pitchFamily="18" charset="0"/>
              </a:rPr>
              <a:t>Solr</a:t>
            </a:r>
            <a:r>
              <a:rPr lang="zh-CN" altLang="en-US" sz="2400" b="0" dirty="0">
                <a:ea typeface="微软雅黑" panose="020B0503020204020204" pitchFamily="34" charset="-122"/>
                <a:cs typeface="Times New Roman" panose="02020603050405020304" pitchFamily="18" charset="0"/>
              </a:rPr>
              <a:t>搜索引擎框架</a:t>
            </a: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zh-CN" altLang="en-US" sz="2400" dirty="0">
                <a:ea typeface="微软雅黑" panose="020B0503020204020204" pitchFamily="34" charset="-122"/>
                <a:cs typeface="Times New Roman" panose="02020603050405020304" pitchFamily="18" charset="0"/>
              </a:rPr>
              <a:t>参考现有的工程应用：</a:t>
            </a:r>
            <a:endParaRPr lang="en-US" altLang="zh-CN" sz="240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400" b="0" dirty="0">
                <a:ea typeface="微软雅黑" panose="020B0503020204020204" pitchFamily="34" charset="-122"/>
                <a:cs typeface="Times New Roman" panose="02020603050405020304" pitchFamily="18" charset="0"/>
                <a:hlinkClick r:id="rId2"/>
              </a:rPr>
              <a:t>A web front end for an elastic search cluster</a:t>
            </a: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400" b="0" dirty="0">
                <a:ea typeface="微软雅黑" panose="020B0503020204020204" pitchFamily="34" charset="-122"/>
                <a:cs typeface="Times New Roman" panose="02020603050405020304" pitchFamily="18" charset="0"/>
                <a:hlinkClick r:id="rId3"/>
              </a:rPr>
              <a:t>IK Analysis for Elasticsearch</a:t>
            </a: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en-US" altLang="zh-CN" sz="2400" b="0" dirty="0">
                <a:ea typeface="微软雅黑" panose="020B0503020204020204" pitchFamily="34" charset="-122"/>
                <a:cs typeface="Times New Roman" panose="02020603050405020304" pitchFamily="18" charset="0"/>
                <a:hlinkClick r:id="rId4"/>
              </a:rPr>
              <a:t>Use SQL to query Elasticsearch</a:t>
            </a:r>
            <a:endParaRPr lang="en-US" altLang="zh-CN" sz="2400" b="0" dirty="0">
              <a:ea typeface="微软雅黑" panose="020B0503020204020204" pitchFamily="34" charset="-122"/>
              <a:cs typeface="Times New Roman" panose="02020603050405020304" pitchFamily="18" charset="0"/>
            </a:endParaRPr>
          </a:p>
          <a:p>
            <a:pPr marL="0" lvl="3" indent="0" algn="just">
              <a:lnSpc>
                <a:spcPct val="130000"/>
              </a:lnSpc>
              <a:buSzPct val="100000"/>
            </a:pPr>
            <a:r>
              <a:rPr lang="zh-CN" altLang="en-US" sz="2400" dirty="0">
                <a:ea typeface="微软雅黑" panose="020B0503020204020204" pitchFamily="34" charset="-122"/>
                <a:cs typeface="Times New Roman" panose="02020603050405020304" pitchFamily="18" charset="0"/>
              </a:rPr>
              <a:t>接下来请各组通过查询资料，做出自己的可行方案。</a:t>
            </a:r>
            <a:endParaRPr lang="en-US" altLang="zh-CN" sz="2400" dirty="0">
              <a:ea typeface="微软雅黑" panose="020B0503020204020204" pitchFamily="34"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3949700"/>
            <a:ext cx="12192000" cy="787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97D"/>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2695" r="20764" b="31018"/>
          <a:stretch>
            <a:fillRect/>
          </a:stretch>
        </p:blipFill>
        <p:spPr>
          <a:xfrm>
            <a:off x="5147607" y="1295400"/>
            <a:ext cx="7044036" cy="3314700"/>
          </a:xfrm>
          <a:prstGeom prst="rect">
            <a:avLst/>
          </a:prstGeom>
        </p:spPr>
      </p:pic>
      <p:sp>
        <p:nvSpPr>
          <p:cNvPr id="6" name="矩形 5"/>
          <p:cNvSpPr/>
          <p:nvPr/>
        </p:nvSpPr>
        <p:spPr>
          <a:xfrm>
            <a:off x="1" y="1295400"/>
            <a:ext cx="12191999" cy="3441700"/>
          </a:xfrm>
          <a:prstGeom prst="rect">
            <a:avLst/>
          </a:prstGeom>
          <a:gradFill>
            <a:gsLst>
              <a:gs pos="67000">
                <a:srgbClr val="0F5097"/>
              </a:gs>
              <a:gs pos="0">
                <a:srgbClr val="0F5097"/>
              </a:gs>
              <a:gs pos="38000">
                <a:srgbClr val="0F5097"/>
              </a:gs>
              <a:gs pos="100000">
                <a:srgbClr val="0F5097">
                  <a:alpha val="6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F497D"/>
              </a:solidFill>
              <a:latin typeface="Times New Roman" panose="02020603050405020304" pitchFamily="18" charset="0"/>
              <a:cs typeface="Times New Roman" panose="02020603050405020304" pitchFamily="18" charset="0"/>
            </a:endParaRPr>
          </a:p>
        </p:txBody>
      </p:sp>
      <p:sp>
        <p:nvSpPr>
          <p:cNvPr id="14" name="矩形 7"/>
          <p:cNvSpPr>
            <a:spLocks noChangeArrowheads="1"/>
          </p:cNvSpPr>
          <p:nvPr/>
        </p:nvSpPr>
        <p:spPr bwMode="auto">
          <a:xfrm>
            <a:off x="7165" y="2914264"/>
            <a:ext cx="12192000" cy="1160061"/>
          </a:xfrm>
          <a:prstGeom prst="rect">
            <a:avLst/>
          </a:prstGeom>
          <a:noFill/>
          <a:ln>
            <a:noFill/>
          </a:ln>
          <a:effectLst>
            <a:outerShdw blurRad="50800" dist="38100" dir="2700000" algn="tl" rotWithShape="0">
              <a:prstClr val="black">
                <a:alpha val="2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lnSpc>
                <a:spcPct val="110000"/>
              </a:lnSpc>
              <a:spcBef>
                <a:spcPct val="0"/>
              </a:spcBef>
              <a:spcAft>
                <a:spcPct val="0"/>
              </a:spcAft>
              <a:defRPr/>
            </a:pPr>
            <a:r>
              <a:rPr lang="en-US" altLang="zh-CN" sz="68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Q&amp;A</a:t>
            </a:r>
            <a:endParaRPr lang="zh-CN" altLang="en-US" sz="68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TextBox 11"/>
          <p:cNvSpPr txBox="1"/>
          <p:nvPr/>
        </p:nvSpPr>
        <p:spPr>
          <a:xfrm>
            <a:off x="7165" y="6211300"/>
            <a:ext cx="12192000" cy="570865"/>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155700" marR="12700" indent="-1143635" algn="ctr">
              <a:lnSpc>
                <a:spcPct val="130000"/>
              </a:lnSpc>
              <a:spcAft>
                <a:spcPts val="600"/>
              </a:spcAft>
            </a:pPr>
            <a:r>
              <a:rPr lang="en-US" altLang="zh-CN" sz="2400"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sym typeface="+mn-ea"/>
              </a:rPr>
              <a:t>2026</a:t>
            </a:r>
            <a:r>
              <a:rPr lang="zh-CN" altLang="en-US" sz="2400"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sym typeface="+mn-ea"/>
              </a:rPr>
              <a:t>年春季</a:t>
            </a:r>
            <a:endParaRPr lang="zh-CN" altLang="en-US" sz="2400"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TextBox 11"/>
          <p:cNvSpPr txBox="1"/>
          <p:nvPr/>
        </p:nvSpPr>
        <p:spPr>
          <a:xfrm>
            <a:off x="0" y="4944514"/>
            <a:ext cx="12192000" cy="6701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155700" marR="12700" indent="-1143635" algn="ctr">
              <a:lnSpc>
                <a:spcPct val="130000"/>
              </a:lnSpc>
              <a:spcAft>
                <a:spcPts val="600"/>
              </a:spcAft>
            </a:pPr>
            <a:r>
              <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周  魏</a:t>
            </a:r>
            <a:endPar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10025" t="18919" r="14844" b="30881"/>
          <a:stretch>
            <a:fillRect/>
          </a:stretch>
        </p:blipFill>
        <p:spPr>
          <a:xfrm>
            <a:off x="0" y="0"/>
            <a:ext cx="2179827" cy="819059"/>
          </a:xfrm>
          <a:prstGeom prst="rect">
            <a:avLst/>
          </a:prstGeom>
        </p:spPr>
      </p:pic>
      <p:sp>
        <p:nvSpPr>
          <p:cNvPr id="3" name="文本框 2"/>
          <p:cNvSpPr txBox="1"/>
          <p:nvPr/>
        </p:nvSpPr>
        <p:spPr>
          <a:xfrm>
            <a:off x="7165" y="5624943"/>
            <a:ext cx="12177670" cy="584775"/>
          </a:xfrm>
          <a:prstGeom prst="rect">
            <a:avLst/>
          </a:prstGeom>
          <a:noFill/>
        </p:spPr>
        <p:txBody>
          <a:bodyPr wrap="square" rtlCol="0">
            <a:spAutoFit/>
          </a:bodyPr>
          <a:lstStyle/>
          <a:p>
            <a:pPr algn="ctr"/>
            <a:r>
              <a:rPr lang="en-US" altLang="zh-CN"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rPr>
              <a:t>zhouwei@cqu.edu.cn</a:t>
            </a:r>
            <a:endParaRPr lang="zh-CN" altLang="en-US" sz="3200" b="1" dirty="0">
              <a:solidFill>
                <a:srgbClr val="0F5097"/>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7"/>
          <p:cNvSpPr>
            <a:spLocks noChangeArrowheads="1"/>
          </p:cNvSpPr>
          <p:nvPr/>
        </p:nvSpPr>
        <p:spPr bwMode="auto">
          <a:xfrm>
            <a:off x="7165" y="1341152"/>
            <a:ext cx="12192000" cy="879215"/>
          </a:xfrm>
          <a:prstGeom prst="rect">
            <a:avLst/>
          </a:prstGeom>
          <a:noFill/>
          <a:ln>
            <a:noFill/>
          </a:ln>
          <a:effectLst>
            <a:outerShdw blurRad="50800" dist="38100" dir="2700000" algn="tl" rotWithShape="0">
              <a:prstClr val="black">
                <a:alpha val="2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lnSpc>
                <a:spcPct val="110000"/>
              </a:lnSpc>
              <a:spcBef>
                <a:spcPct val="0"/>
              </a:spcBef>
              <a:spcAft>
                <a:spcPct val="0"/>
              </a:spcAft>
              <a:defRPr/>
            </a:pPr>
            <a:r>
              <a:rPr lang="zh-CN" altLang="en-US" sz="50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数据挖掘</a:t>
            </a:r>
            <a:r>
              <a:rPr lang="en-US" altLang="zh-CN" sz="50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50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rPr>
              <a:t>架构一个搜索引擎</a:t>
            </a:r>
            <a:endParaRPr lang="zh-CN" altLang="en-US" sz="4200" b="1" dirty="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13065</Words>
  <Application>WPS 演示</Application>
  <PresentationFormat>宽屏</PresentationFormat>
  <Paragraphs>918</Paragraphs>
  <Slides>53</Slides>
  <Notes>53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53</vt:i4>
      </vt:variant>
    </vt:vector>
  </HeadingPairs>
  <TitlesOfParts>
    <vt:vector size="65" baseType="lpstr">
      <vt:lpstr>Arial</vt:lpstr>
      <vt:lpstr>宋体</vt:lpstr>
      <vt:lpstr>Wingdings</vt:lpstr>
      <vt:lpstr>Times New Roman</vt:lpstr>
      <vt:lpstr>微软雅黑</vt:lpstr>
      <vt:lpstr>Arial Unicode MS</vt:lpstr>
      <vt:lpstr>等线 Light</vt:lpstr>
      <vt:lpstr>等线</vt:lpstr>
      <vt:lpstr>Lucida Console</vt:lpstr>
      <vt:lpstr>-apple-system</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清 张</dc:creator>
  <cp:lastModifiedBy>Administrator</cp:lastModifiedBy>
  <cp:revision>110</cp:revision>
  <dcterms:created xsi:type="dcterms:W3CDTF">2023-08-17T06:56:00Z</dcterms:created>
  <dcterms:modified xsi:type="dcterms:W3CDTF">2026-05-25T05:56:14Z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3F94D0B23CD74FA4AB54D46A1AE472B3_12</vt:lpwstr>
  </property>
  <property fmtid="{D5CDD505-2E9C-101B-9397-08002B2CF9AE}" pid="3" name="KSOProductBuildVer">
    <vt:lpwstr>2052-12.1.0.26375</vt:lpwstr>
  </property>
</Properties>
</file>